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56"/>
  </p:notesMasterIdLst>
  <p:sldIdLst>
    <p:sldId id="256" r:id="rId2"/>
    <p:sldId id="257" r:id="rId3"/>
    <p:sldId id="263" r:id="rId4"/>
    <p:sldId id="308" r:id="rId5"/>
    <p:sldId id="268" r:id="rId6"/>
    <p:sldId id="262" r:id="rId7"/>
    <p:sldId id="264" r:id="rId8"/>
    <p:sldId id="294" r:id="rId9"/>
    <p:sldId id="269" r:id="rId10"/>
    <p:sldId id="296" r:id="rId11"/>
    <p:sldId id="297" r:id="rId12"/>
    <p:sldId id="298" r:id="rId13"/>
    <p:sldId id="279" r:id="rId14"/>
    <p:sldId id="299" r:id="rId15"/>
    <p:sldId id="301" r:id="rId16"/>
    <p:sldId id="302" r:id="rId17"/>
    <p:sldId id="303" r:id="rId18"/>
    <p:sldId id="304" r:id="rId19"/>
    <p:sldId id="306" r:id="rId20"/>
    <p:sldId id="305" r:id="rId21"/>
    <p:sldId id="275" r:id="rId22"/>
    <p:sldId id="282" r:id="rId23"/>
    <p:sldId id="283" r:id="rId24"/>
    <p:sldId id="284" r:id="rId25"/>
    <p:sldId id="276" r:id="rId26"/>
    <p:sldId id="277" r:id="rId27"/>
    <p:sldId id="309" r:id="rId28"/>
    <p:sldId id="310" r:id="rId29"/>
    <p:sldId id="311" r:id="rId30"/>
    <p:sldId id="312" r:id="rId31"/>
    <p:sldId id="313" r:id="rId32"/>
    <p:sldId id="314" r:id="rId33"/>
    <p:sldId id="315" r:id="rId34"/>
    <p:sldId id="316" r:id="rId35"/>
    <p:sldId id="317" r:id="rId36"/>
    <p:sldId id="318" r:id="rId37"/>
    <p:sldId id="319" r:id="rId38"/>
    <p:sldId id="321" r:id="rId39"/>
    <p:sldId id="320" r:id="rId40"/>
    <p:sldId id="322" r:id="rId41"/>
    <p:sldId id="323" r:id="rId42"/>
    <p:sldId id="324" r:id="rId43"/>
    <p:sldId id="325" r:id="rId44"/>
    <p:sldId id="326" r:id="rId45"/>
    <p:sldId id="327" r:id="rId46"/>
    <p:sldId id="328" r:id="rId47"/>
    <p:sldId id="329" r:id="rId48"/>
    <p:sldId id="330" r:id="rId49"/>
    <p:sldId id="331" r:id="rId50"/>
    <p:sldId id="335" r:id="rId51"/>
    <p:sldId id="337" r:id="rId52"/>
    <p:sldId id="336" r:id="rId53"/>
    <p:sldId id="260" r:id="rId54"/>
    <p:sldId id="261" r:id="rId55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57"/>
    </p:embeddedFont>
    <p:embeddedFont>
      <p:font typeface="Montserrat" panose="00000500000000000000" pitchFamily="2" charset="0"/>
      <p:regular r:id="rId58"/>
      <p:bold r:id="rId59"/>
      <p:italic r:id="rId60"/>
      <p:boldItalic r:id="rId61"/>
    </p:embeddedFont>
    <p:embeddedFont>
      <p:font typeface="Poppins" panose="00000500000000000000" pitchFamily="2" charset="0"/>
      <p:regular r:id="rId62"/>
      <p:bold r:id="rId63"/>
      <p:italic r:id="rId64"/>
      <p:boldItalic r:id="rId65"/>
    </p:embeddedFont>
    <p:embeddedFont>
      <p:font typeface="Poppins Medium" panose="00000600000000000000" pitchFamily="2" charset="0"/>
      <p:regular r:id="rId66"/>
      <p:bold r:id="rId67"/>
      <p:italic r:id="rId68"/>
      <p:boldItalic r:id="rId69"/>
    </p:embeddedFont>
    <p:embeddedFont>
      <p:font typeface="Poppins SemiBold" panose="00000700000000000000" pitchFamily="2" charset="0"/>
      <p:regular r:id="rId70"/>
      <p:bold r:id="rId71"/>
      <p:italic r:id="rId72"/>
      <p:boldItalic r:id="rId7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964">
          <p15:clr>
            <a:srgbClr val="747775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980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963" y="43"/>
      </p:cViewPr>
      <p:guideLst>
        <p:guide orient="horz" pos="96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7.fntdata"/><Relationship Id="rId68" Type="http://schemas.openxmlformats.org/officeDocument/2006/relationships/font" Target="fonts/font12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2.fntdata"/><Relationship Id="rId66" Type="http://schemas.openxmlformats.org/officeDocument/2006/relationships/font" Target="fonts/font10.fntdata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font" Target="fonts/font5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64" Type="http://schemas.openxmlformats.org/officeDocument/2006/relationships/font" Target="fonts/font8.fntdata"/><Relationship Id="rId69" Type="http://schemas.openxmlformats.org/officeDocument/2006/relationships/font" Target="fonts/font13.fntdata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3.fntdata"/><Relationship Id="rId67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6.fntdata"/><Relationship Id="rId70" Type="http://schemas.openxmlformats.org/officeDocument/2006/relationships/font" Target="fonts/font14.fntdata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4.fntdata"/><Relationship Id="rId65" Type="http://schemas.openxmlformats.org/officeDocument/2006/relationships/font" Target="fonts/font9.fntdata"/><Relationship Id="rId73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font" Target="fonts/font15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80accf7e7a_3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280accf7e7a_3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80accf7e7a_3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g280accf7e7a_3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13660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1A379B6-C126-B7E9-DD61-8B804CEF0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>
            <a:extLst>
              <a:ext uri="{FF2B5EF4-FFF2-40B4-BE49-F238E27FC236}">
                <a16:creationId xmlns:a16="http://schemas.microsoft.com/office/drawing/2014/main" id="{74BE62CE-9DDB-9492-5D20-2172DB034E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2" name="Google Shape;172;g282f0d4ab8a_2_2:notes">
            <a:extLst>
              <a:ext uri="{FF2B5EF4-FFF2-40B4-BE49-F238E27FC236}">
                <a16:creationId xmlns:a16="http://schemas.microsoft.com/office/drawing/2014/main" id="{02225B42-8AB7-2BAE-1113-A689FCEC8D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20192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47142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911681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28479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3DCCD3B8-3FBF-957A-DB34-B2F647DF5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>
            <a:extLst>
              <a:ext uri="{FF2B5EF4-FFF2-40B4-BE49-F238E27FC236}">
                <a16:creationId xmlns:a16="http://schemas.microsoft.com/office/drawing/2014/main" id="{72EA9B49-71EA-F274-5904-3AC049382B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>
            <a:extLst>
              <a:ext uri="{FF2B5EF4-FFF2-40B4-BE49-F238E27FC236}">
                <a16:creationId xmlns:a16="http://schemas.microsoft.com/office/drawing/2014/main" id="{1B421FAA-1E6F-896F-88EB-AC8C6A51EE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920890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07878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3EA07745-EAE6-2B6A-27C6-11FD2CB94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>
            <a:extLst>
              <a:ext uri="{FF2B5EF4-FFF2-40B4-BE49-F238E27FC236}">
                <a16:creationId xmlns:a16="http://schemas.microsoft.com/office/drawing/2014/main" id="{8353AF31-E416-C0AD-F8D5-329B7FC324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>
            <a:extLst>
              <a:ext uri="{FF2B5EF4-FFF2-40B4-BE49-F238E27FC236}">
                <a16:creationId xmlns:a16="http://schemas.microsoft.com/office/drawing/2014/main" id="{69B3659B-A90B-795C-08A1-F7F01D5C7F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948725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EF41898A-561C-78DF-2592-679C6419A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>
            <a:extLst>
              <a:ext uri="{FF2B5EF4-FFF2-40B4-BE49-F238E27FC236}">
                <a16:creationId xmlns:a16="http://schemas.microsoft.com/office/drawing/2014/main" id="{4FC2F12E-F2BE-8B54-F6DF-D3D7073D2C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>
            <a:extLst>
              <a:ext uri="{FF2B5EF4-FFF2-40B4-BE49-F238E27FC236}">
                <a16:creationId xmlns:a16="http://schemas.microsoft.com/office/drawing/2014/main" id="{62282AFD-491F-0991-DAC7-43455996D2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83648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66ECD477-848D-9F34-44FC-BFCAEA26E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>
            <a:extLst>
              <a:ext uri="{FF2B5EF4-FFF2-40B4-BE49-F238E27FC236}">
                <a16:creationId xmlns:a16="http://schemas.microsoft.com/office/drawing/2014/main" id="{95D0DEC6-AE81-3F6C-599D-0D75A3D283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>
            <a:extLst>
              <a:ext uri="{FF2B5EF4-FFF2-40B4-BE49-F238E27FC236}">
                <a16:creationId xmlns:a16="http://schemas.microsoft.com/office/drawing/2014/main" id="{3146757B-5EC9-B917-4F04-AAB561D2A4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85909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215166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D8685BCE-CEF8-86EA-B6AB-6E98BFE48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>
            <a:extLst>
              <a:ext uri="{FF2B5EF4-FFF2-40B4-BE49-F238E27FC236}">
                <a16:creationId xmlns:a16="http://schemas.microsoft.com/office/drawing/2014/main" id="{843B6609-3229-2C1A-EBEE-59CC23A225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>
            <a:extLst>
              <a:ext uri="{FF2B5EF4-FFF2-40B4-BE49-F238E27FC236}">
                <a16:creationId xmlns:a16="http://schemas.microsoft.com/office/drawing/2014/main" id="{F1CA9DBA-7F4B-A4CD-541B-6A9DFFDBB3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777196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A4234B8C-B483-C288-2A58-6D432FAA1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>
            <a:extLst>
              <a:ext uri="{FF2B5EF4-FFF2-40B4-BE49-F238E27FC236}">
                <a16:creationId xmlns:a16="http://schemas.microsoft.com/office/drawing/2014/main" id="{212285A9-BDD4-E33B-3C0A-8C06321AB9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>
            <a:extLst>
              <a:ext uri="{FF2B5EF4-FFF2-40B4-BE49-F238E27FC236}">
                <a16:creationId xmlns:a16="http://schemas.microsoft.com/office/drawing/2014/main" id="{59E6B2A7-83FD-4308-9F9E-EF9383A08B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26865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4CFDDD38-3834-3341-A3D8-6D5BAF8D6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>
            <a:extLst>
              <a:ext uri="{FF2B5EF4-FFF2-40B4-BE49-F238E27FC236}">
                <a16:creationId xmlns:a16="http://schemas.microsoft.com/office/drawing/2014/main" id="{A034356D-8BF9-9AC0-6821-6252E70EC2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>
            <a:extLst>
              <a:ext uri="{FF2B5EF4-FFF2-40B4-BE49-F238E27FC236}">
                <a16:creationId xmlns:a16="http://schemas.microsoft.com/office/drawing/2014/main" id="{6A981FA8-8FD3-6EA7-95F0-309D811272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52345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A06676EC-1050-15C7-67BC-98CC09BF3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>
            <a:extLst>
              <a:ext uri="{FF2B5EF4-FFF2-40B4-BE49-F238E27FC236}">
                <a16:creationId xmlns:a16="http://schemas.microsoft.com/office/drawing/2014/main" id="{E21721E6-D5B4-0031-7E0D-9A00B83353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>
            <a:extLst>
              <a:ext uri="{FF2B5EF4-FFF2-40B4-BE49-F238E27FC236}">
                <a16:creationId xmlns:a16="http://schemas.microsoft.com/office/drawing/2014/main" id="{F9982C4C-D305-1C24-E3E6-772598DD13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071079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E32706E1-3B96-0FC6-816B-664717DF1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>
            <a:extLst>
              <a:ext uri="{FF2B5EF4-FFF2-40B4-BE49-F238E27FC236}">
                <a16:creationId xmlns:a16="http://schemas.microsoft.com/office/drawing/2014/main" id="{5374767F-68C6-BA24-79F0-077B2C564B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>
            <a:extLst>
              <a:ext uri="{FF2B5EF4-FFF2-40B4-BE49-F238E27FC236}">
                <a16:creationId xmlns:a16="http://schemas.microsoft.com/office/drawing/2014/main" id="{C17874E7-612E-A9CC-020B-A1A007006B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315204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52379B9B-16FB-7FB9-BB30-A27D87067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>
            <a:extLst>
              <a:ext uri="{FF2B5EF4-FFF2-40B4-BE49-F238E27FC236}">
                <a16:creationId xmlns:a16="http://schemas.microsoft.com/office/drawing/2014/main" id="{E78378A5-1C02-AA9A-DC40-2FD582010D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>
            <a:extLst>
              <a:ext uri="{FF2B5EF4-FFF2-40B4-BE49-F238E27FC236}">
                <a16:creationId xmlns:a16="http://schemas.microsoft.com/office/drawing/2014/main" id="{E1DBAD39-E828-4138-82E0-801884A870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67292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1E4E9EF-B227-9BB3-3E57-C14BC7439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>
            <a:extLst>
              <a:ext uri="{FF2B5EF4-FFF2-40B4-BE49-F238E27FC236}">
                <a16:creationId xmlns:a16="http://schemas.microsoft.com/office/drawing/2014/main" id="{BAEE960A-1F86-F2B9-A4B9-6043EE508F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>
            <a:extLst>
              <a:ext uri="{FF2B5EF4-FFF2-40B4-BE49-F238E27FC236}">
                <a16:creationId xmlns:a16="http://schemas.microsoft.com/office/drawing/2014/main" id="{C31F9083-997C-B6C0-C363-8B030AD53C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343575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615695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91423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34015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935665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9166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9941069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3C54DFDE-0BED-CD7D-BA7F-4E43D1FFC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>
            <a:extLst>
              <a:ext uri="{FF2B5EF4-FFF2-40B4-BE49-F238E27FC236}">
                <a16:creationId xmlns:a16="http://schemas.microsoft.com/office/drawing/2014/main" id="{F062C0A7-A4E4-6032-6EDF-867EA34D5B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>
            <a:extLst>
              <a:ext uri="{FF2B5EF4-FFF2-40B4-BE49-F238E27FC236}">
                <a16:creationId xmlns:a16="http://schemas.microsoft.com/office/drawing/2014/main" id="{B45B7D53-3110-EE5A-D308-7B5B223670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9731755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490FAFEA-855D-A071-1DB1-AE3D270E7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>
            <a:extLst>
              <a:ext uri="{FF2B5EF4-FFF2-40B4-BE49-F238E27FC236}">
                <a16:creationId xmlns:a16="http://schemas.microsoft.com/office/drawing/2014/main" id="{1E6AB0B8-ACE4-BF40-171B-2FFD83F538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>
            <a:extLst>
              <a:ext uri="{FF2B5EF4-FFF2-40B4-BE49-F238E27FC236}">
                <a16:creationId xmlns:a16="http://schemas.microsoft.com/office/drawing/2014/main" id="{622AFFA7-0BDB-FE64-3C0D-B98C6D769E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36341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455A07D0-2F5A-C5BE-AD59-EA4E443F0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>
            <a:extLst>
              <a:ext uri="{FF2B5EF4-FFF2-40B4-BE49-F238E27FC236}">
                <a16:creationId xmlns:a16="http://schemas.microsoft.com/office/drawing/2014/main" id="{E1F6D0B8-2E70-684E-B871-C1E084DF46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>
            <a:extLst>
              <a:ext uri="{FF2B5EF4-FFF2-40B4-BE49-F238E27FC236}">
                <a16:creationId xmlns:a16="http://schemas.microsoft.com/office/drawing/2014/main" id="{786B4A05-5A4F-7255-8C94-F26D49C0DD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47206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5C26314F-EA98-4C69-D663-687F4C399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>
            <a:extLst>
              <a:ext uri="{FF2B5EF4-FFF2-40B4-BE49-F238E27FC236}">
                <a16:creationId xmlns:a16="http://schemas.microsoft.com/office/drawing/2014/main" id="{772EE5D1-0EBC-7C98-090D-FCCB919088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>
            <a:extLst>
              <a:ext uri="{FF2B5EF4-FFF2-40B4-BE49-F238E27FC236}">
                <a16:creationId xmlns:a16="http://schemas.microsoft.com/office/drawing/2014/main" id="{EC4A554B-3301-DF1E-889C-F102FE296F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768860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CE892C8-4302-BDF6-A71C-92C48C7A7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>
            <a:extLst>
              <a:ext uri="{FF2B5EF4-FFF2-40B4-BE49-F238E27FC236}">
                <a16:creationId xmlns:a16="http://schemas.microsoft.com/office/drawing/2014/main" id="{EC96B0BD-487E-1504-602A-D61CC009B3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>
            <a:extLst>
              <a:ext uri="{FF2B5EF4-FFF2-40B4-BE49-F238E27FC236}">
                <a16:creationId xmlns:a16="http://schemas.microsoft.com/office/drawing/2014/main" id="{5FA33F72-3815-1379-6ED1-8BF2809FEC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273127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92AD0A7-79AE-7B3B-840F-59CA08289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>
            <a:extLst>
              <a:ext uri="{FF2B5EF4-FFF2-40B4-BE49-F238E27FC236}">
                <a16:creationId xmlns:a16="http://schemas.microsoft.com/office/drawing/2014/main" id="{956F94EF-DBDD-C063-CE1E-F6F35D7823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>
            <a:extLst>
              <a:ext uri="{FF2B5EF4-FFF2-40B4-BE49-F238E27FC236}">
                <a16:creationId xmlns:a16="http://schemas.microsoft.com/office/drawing/2014/main" id="{7F3662AD-7C2D-DC35-06C4-126A89E7A4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364537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E21BE3AF-BF58-E452-EDD2-0602B6D5D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>
            <a:extLst>
              <a:ext uri="{FF2B5EF4-FFF2-40B4-BE49-F238E27FC236}">
                <a16:creationId xmlns:a16="http://schemas.microsoft.com/office/drawing/2014/main" id="{E006729C-5C0D-1270-F6C0-B0B50B6F16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>
            <a:extLst>
              <a:ext uri="{FF2B5EF4-FFF2-40B4-BE49-F238E27FC236}">
                <a16:creationId xmlns:a16="http://schemas.microsoft.com/office/drawing/2014/main" id="{6FB6B476-C497-5687-BB47-29BE56155E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5327833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57C70F24-2230-B8D0-2158-03C00DCE6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>
            <a:extLst>
              <a:ext uri="{FF2B5EF4-FFF2-40B4-BE49-F238E27FC236}">
                <a16:creationId xmlns:a16="http://schemas.microsoft.com/office/drawing/2014/main" id="{3138F914-F3BC-54BB-3D91-BA747D6452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>
            <a:extLst>
              <a:ext uri="{FF2B5EF4-FFF2-40B4-BE49-F238E27FC236}">
                <a16:creationId xmlns:a16="http://schemas.microsoft.com/office/drawing/2014/main" id="{94D02BDD-4833-5CA1-51CC-CF6DC3F234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9915605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471053AF-C702-6740-AF12-9876A3B06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>
            <a:extLst>
              <a:ext uri="{FF2B5EF4-FFF2-40B4-BE49-F238E27FC236}">
                <a16:creationId xmlns:a16="http://schemas.microsoft.com/office/drawing/2014/main" id="{C4E845CB-5DBA-0214-FFA2-9441473EF0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>
            <a:extLst>
              <a:ext uri="{FF2B5EF4-FFF2-40B4-BE49-F238E27FC236}">
                <a16:creationId xmlns:a16="http://schemas.microsoft.com/office/drawing/2014/main" id="{10E55FF3-9199-3438-72BE-4D15334545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785379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C322B663-6344-965E-B316-5CC06BF84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>
            <a:extLst>
              <a:ext uri="{FF2B5EF4-FFF2-40B4-BE49-F238E27FC236}">
                <a16:creationId xmlns:a16="http://schemas.microsoft.com/office/drawing/2014/main" id="{E616B75D-DE2F-2B97-453F-2EAAD8ABA0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>
            <a:extLst>
              <a:ext uri="{FF2B5EF4-FFF2-40B4-BE49-F238E27FC236}">
                <a16:creationId xmlns:a16="http://schemas.microsoft.com/office/drawing/2014/main" id="{A5441791-0A24-BDD0-A6D4-8F09C05192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9704528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26084A7-54B2-1B24-7A14-266C79CF0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>
            <a:extLst>
              <a:ext uri="{FF2B5EF4-FFF2-40B4-BE49-F238E27FC236}">
                <a16:creationId xmlns:a16="http://schemas.microsoft.com/office/drawing/2014/main" id="{6843C3F9-3425-28CD-1F9D-A7AB4A2730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>
            <a:extLst>
              <a:ext uri="{FF2B5EF4-FFF2-40B4-BE49-F238E27FC236}">
                <a16:creationId xmlns:a16="http://schemas.microsoft.com/office/drawing/2014/main" id="{E8766C8A-2DA9-57BF-4FF6-7F4E1EF6CC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9871004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08FCD53-C1CD-28D9-F054-834BBA209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>
            <a:extLst>
              <a:ext uri="{FF2B5EF4-FFF2-40B4-BE49-F238E27FC236}">
                <a16:creationId xmlns:a16="http://schemas.microsoft.com/office/drawing/2014/main" id="{4429A76E-5006-F1CE-D848-EBC1F73824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>
            <a:extLst>
              <a:ext uri="{FF2B5EF4-FFF2-40B4-BE49-F238E27FC236}">
                <a16:creationId xmlns:a16="http://schemas.microsoft.com/office/drawing/2014/main" id="{7608F37B-319A-2A6A-F5E5-079DEB3CAF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5255494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3B9D33F7-0168-F3EC-03D7-08D32AC5A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>
            <a:extLst>
              <a:ext uri="{FF2B5EF4-FFF2-40B4-BE49-F238E27FC236}">
                <a16:creationId xmlns:a16="http://schemas.microsoft.com/office/drawing/2014/main" id="{493C14D0-5416-EDD7-B527-8728BC3282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>
            <a:extLst>
              <a:ext uri="{FF2B5EF4-FFF2-40B4-BE49-F238E27FC236}">
                <a16:creationId xmlns:a16="http://schemas.microsoft.com/office/drawing/2014/main" id="{4CE97C70-8CFD-CE02-3D58-D81CA6B4CF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184512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97FA9494-F0B5-83DA-D688-8DD0A6AE3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>
            <a:extLst>
              <a:ext uri="{FF2B5EF4-FFF2-40B4-BE49-F238E27FC236}">
                <a16:creationId xmlns:a16="http://schemas.microsoft.com/office/drawing/2014/main" id="{F493E3F7-6DEB-14E2-24F0-9D8BBABAC3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2" name="Google Shape;172;g282f0d4ab8a_2_2:notes">
            <a:extLst>
              <a:ext uri="{FF2B5EF4-FFF2-40B4-BE49-F238E27FC236}">
                <a16:creationId xmlns:a16="http://schemas.microsoft.com/office/drawing/2014/main" id="{0F6B7538-F816-B6CE-D814-1E108E8D3A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9229376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60102913-1B32-0D09-996E-5C9F0F7A9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>
            <a:extLst>
              <a:ext uri="{FF2B5EF4-FFF2-40B4-BE49-F238E27FC236}">
                <a16:creationId xmlns:a16="http://schemas.microsoft.com/office/drawing/2014/main" id="{59A294E6-F447-C051-4558-3417FA1D34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>
            <a:extLst>
              <a:ext uri="{FF2B5EF4-FFF2-40B4-BE49-F238E27FC236}">
                <a16:creationId xmlns:a16="http://schemas.microsoft.com/office/drawing/2014/main" id="{1368F97F-A6E2-CF7C-7FD2-E1493C9A56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548466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02532D79-682C-FBBC-A208-E6CAD6D31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>
            <a:extLst>
              <a:ext uri="{FF2B5EF4-FFF2-40B4-BE49-F238E27FC236}">
                <a16:creationId xmlns:a16="http://schemas.microsoft.com/office/drawing/2014/main" id="{8DB1577B-6610-3E1D-34E0-23DA59E16B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>
            <a:extLst>
              <a:ext uri="{FF2B5EF4-FFF2-40B4-BE49-F238E27FC236}">
                <a16:creationId xmlns:a16="http://schemas.microsoft.com/office/drawing/2014/main" id="{E873B1E0-4761-2D3E-7956-11A307F623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40881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349E26BB-7EDE-DB85-1081-808B75A03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>
            <a:extLst>
              <a:ext uri="{FF2B5EF4-FFF2-40B4-BE49-F238E27FC236}">
                <a16:creationId xmlns:a16="http://schemas.microsoft.com/office/drawing/2014/main" id="{13C9682A-DD14-64E1-3C4B-CF87F17F5E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>
            <a:extLst>
              <a:ext uri="{FF2B5EF4-FFF2-40B4-BE49-F238E27FC236}">
                <a16:creationId xmlns:a16="http://schemas.microsoft.com/office/drawing/2014/main" id="{B0A28B6B-1D71-C58F-C9D5-C2D06D0CB2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237704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4F87BCA0-DBE1-8167-1E7E-6F608B799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>
            <a:extLst>
              <a:ext uri="{FF2B5EF4-FFF2-40B4-BE49-F238E27FC236}">
                <a16:creationId xmlns:a16="http://schemas.microsoft.com/office/drawing/2014/main" id="{38A09E52-58F3-45B1-575B-71036EB27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>
            <a:extLst>
              <a:ext uri="{FF2B5EF4-FFF2-40B4-BE49-F238E27FC236}">
                <a16:creationId xmlns:a16="http://schemas.microsoft.com/office/drawing/2014/main" id="{7879C4AA-79C1-E019-BE18-15E9ADDD57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2724207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3698ADE7-C6FF-5E73-55B5-286688531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>
            <a:extLst>
              <a:ext uri="{FF2B5EF4-FFF2-40B4-BE49-F238E27FC236}">
                <a16:creationId xmlns:a16="http://schemas.microsoft.com/office/drawing/2014/main" id="{EAB1BE60-17E3-7036-2318-5D00635039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>
            <a:extLst>
              <a:ext uri="{FF2B5EF4-FFF2-40B4-BE49-F238E27FC236}">
                <a16:creationId xmlns:a16="http://schemas.microsoft.com/office/drawing/2014/main" id="{89F53727-F9CD-F72C-8D2D-C7F1DD1AB0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112681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ECD672F-5018-AD09-B2F0-85CA8B94C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>
            <a:extLst>
              <a:ext uri="{FF2B5EF4-FFF2-40B4-BE49-F238E27FC236}">
                <a16:creationId xmlns:a16="http://schemas.microsoft.com/office/drawing/2014/main" id="{46DBEF83-74EF-980E-AEE9-F765548CCE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>
            <a:extLst>
              <a:ext uri="{FF2B5EF4-FFF2-40B4-BE49-F238E27FC236}">
                <a16:creationId xmlns:a16="http://schemas.microsoft.com/office/drawing/2014/main" id="{94C0031E-791F-AB22-4A54-4EB504E477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5578087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E68C6BD8-9FE5-DDC6-169B-593872A6C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>
            <a:extLst>
              <a:ext uri="{FF2B5EF4-FFF2-40B4-BE49-F238E27FC236}">
                <a16:creationId xmlns:a16="http://schemas.microsoft.com/office/drawing/2014/main" id="{56B23DAC-8AFF-BBC0-8FEE-099E52752B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>
            <a:extLst>
              <a:ext uri="{FF2B5EF4-FFF2-40B4-BE49-F238E27FC236}">
                <a16:creationId xmlns:a16="http://schemas.microsoft.com/office/drawing/2014/main" id="{87C90084-B2AF-ED2B-374D-DA316F5BBA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972150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0023C1BC-87AF-03A7-35F9-108B94478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>
            <a:extLst>
              <a:ext uri="{FF2B5EF4-FFF2-40B4-BE49-F238E27FC236}">
                <a16:creationId xmlns:a16="http://schemas.microsoft.com/office/drawing/2014/main" id="{906D29AF-CDD5-0921-EA4B-D63985C1C7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>
            <a:extLst>
              <a:ext uri="{FF2B5EF4-FFF2-40B4-BE49-F238E27FC236}">
                <a16:creationId xmlns:a16="http://schemas.microsoft.com/office/drawing/2014/main" id="{0332D12E-49D9-DE1C-58EA-021F137533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130648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1CE68DF0-AFF3-7924-D046-06F3E00A3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>
            <a:extLst>
              <a:ext uri="{FF2B5EF4-FFF2-40B4-BE49-F238E27FC236}">
                <a16:creationId xmlns:a16="http://schemas.microsoft.com/office/drawing/2014/main" id="{D8915F56-6A7B-FE72-3301-5E9470EB33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>
            <a:extLst>
              <a:ext uri="{FF2B5EF4-FFF2-40B4-BE49-F238E27FC236}">
                <a16:creationId xmlns:a16="http://schemas.microsoft.com/office/drawing/2014/main" id="{BA6E57EC-0180-E175-11A0-1957CAAB7E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76419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35CF349E-64CE-F289-A252-E4D631E48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>
            <a:extLst>
              <a:ext uri="{FF2B5EF4-FFF2-40B4-BE49-F238E27FC236}">
                <a16:creationId xmlns:a16="http://schemas.microsoft.com/office/drawing/2014/main" id="{F4F3962F-5C88-15FB-0004-F32F23FA54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>
            <a:extLst>
              <a:ext uri="{FF2B5EF4-FFF2-40B4-BE49-F238E27FC236}">
                <a16:creationId xmlns:a16="http://schemas.microsoft.com/office/drawing/2014/main" id="{AC14C8F8-396B-8C81-8BB4-A912C38918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1521171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BD6D1F49-F59F-D4B0-D224-AB38A341D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>
            <a:extLst>
              <a:ext uri="{FF2B5EF4-FFF2-40B4-BE49-F238E27FC236}">
                <a16:creationId xmlns:a16="http://schemas.microsoft.com/office/drawing/2014/main" id="{1803E8A3-41EE-69A4-81A3-B716E7C5BB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>
            <a:extLst>
              <a:ext uri="{FF2B5EF4-FFF2-40B4-BE49-F238E27FC236}">
                <a16:creationId xmlns:a16="http://schemas.microsoft.com/office/drawing/2014/main" id="{CB7C1327-3F30-DA8F-7E95-B5EF9EEAEF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459188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6E2B353-BA3A-1566-181B-3AF27D680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f0d4ab8a_2_2:notes">
            <a:extLst>
              <a:ext uri="{FF2B5EF4-FFF2-40B4-BE49-F238E27FC236}">
                <a16:creationId xmlns:a16="http://schemas.microsoft.com/office/drawing/2014/main" id="{3BB91B1E-BE8E-55EC-98BE-047AFE43D3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82f0d4ab8a_2_2:notes">
            <a:extLst>
              <a:ext uri="{FF2B5EF4-FFF2-40B4-BE49-F238E27FC236}">
                <a16:creationId xmlns:a16="http://schemas.microsoft.com/office/drawing/2014/main" id="{CE92E599-B948-A6FE-50B7-8ECA6F7857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282367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479510b1fe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479510b1fe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82be26d465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g282be26d465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0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13.png"/><Relationship Id="rId9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2.png"/><Relationship Id="rId5" Type="http://schemas.openxmlformats.org/officeDocument/2006/relationships/image" Target="../media/image280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0.png"/><Relationship Id="rId5" Type="http://schemas.openxmlformats.org/officeDocument/2006/relationships/image" Target="../media/image131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0.pn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0.png"/><Relationship Id="rId5" Type="http://schemas.openxmlformats.org/officeDocument/2006/relationships/image" Target="../media/image39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0.png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1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0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0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0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0.pn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52.png"/><Relationship Id="rId4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png"/><Relationship Id="rId4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png"/><Relationship Id="rId4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6.png"/><Relationship Id="rId4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png"/><Relationship Id="rId4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7.png"/><Relationship Id="rId4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8.png"/><Relationship Id="rId4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1.png"/><Relationship Id="rId4" Type="http://schemas.openxmlformats.org/officeDocument/2006/relationships/image" Target="../media/image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2.png"/><Relationship Id="rId4" Type="http://schemas.openxmlformats.org/officeDocument/2006/relationships/image" Target="../media/image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3.png"/><Relationship Id="rId4" Type="http://schemas.openxmlformats.org/officeDocument/2006/relationships/image" Target="../media/image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/>
        </p:nvSpPr>
        <p:spPr>
          <a:xfrm>
            <a:off x="594391" y="1119354"/>
            <a:ext cx="7955217" cy="13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lnSpc>
                <a:spcPct val="90000"/>
              </a:lnSpc>
              <a:buClr>
                <a:schemeClr val="dk1"/>
              </a:buClr>
              <a:buSzPts val="2325"/>
            </a:pPr>
            <a:r>
              <a:rPr lang="en-US" sz="24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KONVERGENSI SKEMA ITERASI SABRI UNTUK KELAS PEMETAAN NONEKSPANSIF DIPERUMUM DI RUANG GEODESIK BESERTA APLIKASINYA</a:t>
            </a:r>
          </a:p>
        </p:txBody>
      </p:sp>
      <p:sp>
        <p:nvSpPr>
          <p:cNvPr id="130" name="Google Shape;130;p25"/>
          <p:cNvSpPr txBox="1"/>
          <p:nvPr/>
        </p:nvSpPr>
        <p:spPr>
          <a:xfrm>
            <a:off x="2983381" y="3025771"/>
            <a:ext cx="3177067" cy="268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Sidang</a:t>
            </a:r>
            <a:r>
              <a:rPr lang="en-US" sz="15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Tesis</a:t>
            </a:r>
            <a:endParaRPr sz="1500" b="1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3207257" y="3293929"/>
            <a:ext cx="2729400" cy="500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Poppins Medium"/>
                <a:cs typeface="Poppins Medium"/>
                <a:sym typeface="Poppins Medium"/>
              </a:rPr>
              <a:t>Ahmad </a:t>
            </a:r>
            <a:r>
              <a:rPr lang="en-US" dirty="0" err="1">
                <a:solidFill>
                  <a:schemeClr val="dk1"/>
                </a:solidFill>
                <a:latin typeface="Poppins Medium"/>
                <a:cs typeface="Poppins Medium"/>
                <a:sym typeface="Poppins Medium"/>
              </a:rPr>
              <a:t>Hisbu</a:t>
            </a:r>
            <a:r>
              <a:rPr lang="en-US" dirty="0">
                <a:solidFill>
                  <a:schemeClr val="dk1"/>
                </a:solidFill>
                <a:latin typeface="Poppins Medium"/>
                <a:cs typeface="Poppins Medium"/>
                <a:sym typeface="Poppins Medium"/>
              </a:rPr>
              <a:t> </a:t>
            </a:r>
            <a:r>
              <a:rPr lang="en-US" b="1" dirty="0" err="1">
                <a:solidFill>
                  <a:schemeClr val="dk1"/>
                </a:solidFill>
                <a:latin typeface="Poppins Medium"/>
                <a:cs typeface="Poppins Medium"/>
                <a:sym typeface="Poppins Medium"/>
              </a:rPr>
              <a:t>Zaki</a:t>
            </a:r>
            <a:r>
              <a:rPr lang="en-US" dirty="0" err="1">
                <a:solidFill>
                  <a:schemeClr val="dk1"/>
                </a:solidFill>
                <a:latin typeface="Poppins Medium"/>
                <a:cs typeface="Poppins Medium"/>
                <a:sym typeface="Poppins Medium"/>
              </a:rPr>
              <a:t>yudin</a:t>
            </a:r>
            <a:endParaRPr lang="en-US" dirty="0">
              <a:sym typeface="Poppins Medium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(</a:t>
            </a:r>
            <a:r>
              <a:rPr lang="en-US" dirty="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6002241016</a:t>
            </a:r>
            <a:r>
              <a:rPr lang="en-US" sz="1400" dirty="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)</a:t>
            </a:r>
            <a:endParaRPr sz="1400" dirty="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32" name="Google Shape;132;p25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1291" y="141924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5" descr="A picture containing 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8414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5"/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30;p25">
            <a:extLst>
              <a:ext uri="{FF2B5EF4-FFF2-40B4-BE49-F238E27FC236}">
                <a16:creationId xmlns:a16="http://schemas.microsoft.com/office/drawing/2014/main" id="{F8790A6E-7C1B-85FD-ACB9-8DB37154F291}"/>
              </a:ext>
            </a:extLst>
          </p:cNvPr>
          <p:cNvSpPr txBox="1"/>
          <p:nvPr/>
        </p:nvSpPr>
        <p:spPr>
          <a:xfrm>
            <a:off x="3207257" y="3833546"/>
            <a:ext cx="272948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Dosen </a:t>
            </a:r>
            <a:r>
              <a:rPr lang="en-US" sz="15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Pembimbing</a:t>
            </a:r>
            <a:endParaRPr sz="1500" b="1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131;p25">
            <a:extLst>
              <a:ext uri="{FF2B5EF4-FFF2-40B4-BE49-F238E27FC236}">
                <a16:creationId xmlns:a16="http://schemas.microsoft.com/office/drawing/2014/main" id="{E1A9CB33-44DA-9B66-6667-E06E35F18767}"/>
              </a:ext>
            </a:extLst>
          </p:cNvPr>
          <p:cNvSpPr txBox="1"/>
          <p:nvPr/>
        </p:nvSpPr>
        <p:spPr>
          <a:xfrm>
            <a:off x="2983381" y="4110545"/>
            <a:ext cx="317706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Dr. Mont. </a:t>
            </a:r>
            <a:r>
              <a:rPr lang="en-US" dirty="0" err="1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Kistosil</a:t>
            </a:r>
            <a:r>
              <a:rPr lang="en-US" dirty="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Fahim, </a:t>
            </a:r>
            <a:r>
              <a:rPr lang="en-US" dirty="0" err="1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S.Si</a:t>
            </a:r>
            <a:r>
              <a:rPr lang="en-US" dirty="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., </a:t>
            </a:r>
            <a:r>
              <a:rPr lang="en-US" dirty="0" err="1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M.Si</a:t>
            </a:r>
            <a:r>
              <a:rPr lang="en-US" dirty="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.</a:t>
            </a:r>
            <a:endParaRPr sz="1400" dirty="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/>
      <p:bldP spid="131" grpId="0"/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6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6" descr="A picture containing 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6"/>
          <p:cNvSpPr/>
          <p:nvPr/>
        </p:nvSpPr>
        <p:spPr>
          <a:xfrm>
            <a:off x="0" y="839261"/>
            <a:ext cx="257611" cy="31672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6"/>
          <p:cNvSpPr txBox="1"/>
          <p:nvPr/>
        </p:nvSpPr>
        <p:spPr>
          <a:xfrm>
            <a:off x="297745" y="676199"/>
            <a:ext cx="2020260" cy="582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id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Outlines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44" name="Google Shape;144;p26"/>
          <p:cNvGrpSpPr/>
          <p:nvPr/>
        </p:nvGrpSpPr>
        <p:grpSpPr>
          <a:xfrm>
            <a:off x="718955" y="1653119"/>
            <a:ext cx="2506756" cy="460510"/>
            <a:chOff x="3929476" y="1275400"/>
            <a:chExt cx="3121738" cy="614014"/>
          </a:xfrm>
        </p:grpSpPr>
        <p:sp>
          <p:nvSpPr>
            <p:cNvPr id="145" name="Google Shape;145;p26"/>
            <p:cNvSpPr/>
            <p:nvPr/>
          </p:nvSpPr>
          <p:spPr>
            <a:xfrm>
              <a:off x="3929476" y="1283466"/>
              <a:ext cx="605948" cy="605948"/>
            </a:xfrm>
            <a:prstGeom prst="ellipse">
              <a:avLst/>
            </a:prstGeom>
            <a:solidFill>
              <a:srgbClr val="F5AA2D"/>
            </a:solidFill>
            <a:ln w="12700" cap="flat" cmpd="sng">
              <a:solidFill>
                <a:srgbClr val="F5AA2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26"/>
            <p:cNvSpPr txBox="1"/>
            <p:nvPr/>
          </p:nvSpPr>
          <p:spPr>
            <a:xfrm>
              <a:off x="4048348" y="1275400"/>
              <a:ext cx="605948" cy="528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b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B5C"/>
                </a:buClr>
                <a:buSzPts val="1800"/>
                <a:buFont typeface="Arial"/>
                <a:buNone/>
              </a:pPr>
              <a:r>
                <a:rPr lang="id" sz="1800" b="1" dirty="0">
                  <a:solidFill>
                    <a:srgbClr val="001B5C"/>
                  </a:solidFill>
                  <a:latin typeface="Poppins"/>
                  <a:ea typeface="Poppins"/>
                  <a:cs typeface="Poppins"/>
                  <a:sym typeface="Poppins"/>
                </a:rPr>
                <a:t>1.</a:t>
              </a:r>
              <a:endParaRPr sz="1800" b="1" dirty="0">
                <a:solidFill>
                  <a:srgbClr val="001B5C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7" name="Google Shape;147;p26"/>
            <p:cNvSpPr txBox="1"/>
            <p:nvPr/>
          </p:nvSpPr>
          <p:spPr>
            <a:xfrm>
              <a:off x="4535414" y="1279708"/>
              <a:ext cx="2515800" cy="5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b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B5C"/>
                </a:buClr>
                <a:buSzPts val="1800"/>
                <a:buFont typeface="Arial"/>
                <a:buNone/>
              </a:pPr>
              <a:r>
                <a:rPr lang="en-US" sz="1800" dirty="0" err="1">
                  <a:solidFill>
                    <a:srgbClr val="001B5C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Latar</a:t>
              </a:r>
              <a:r>
                <a:rPr lang="en-US" sz="1800" dirty="0">
                  <a:solidFill>
                    <a:srgbClr val="001B5C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 </a:t>
              </a:r>
              <a:r>
                <a:rPr lang="en-US" sz="1800" dirty="0" err="1">
                  <a:solidFill>
                    <a:srgbClr val="001B5C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Belakang</a:t>
              </a:r>
              <a:endParaRPr sz="1800" dirty="0">
                <a:solidFill>
                  <a:srgbClr val="001B5C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148" name="Google Shape;148;p26"/>
          <p:cNvGrpSpPr/>
          <p:nvPr/>
        </p:nvGrpSpPr>
        <p:grpSpPr>
          <a:xfrm>
            <a:off x="729390" y="2436610"/>
            <a:ext cx="2823457" cy="460510"/>
            <a:chOff x="3929476" y="1275400"/>
            <a:chExt cx="3764609" cy="614014"/>
          </a:xfrm>
        </p:grpSpPr>
        <p:sp>
          <p:nvSpPr>
            <p:cNvPr id="149" name="Google Shape;149;p26"/>
            <p:cNvSpPr/>
            <p:nvPr/>
          </p:nvSpPr>
          <p:spPr>
            <a:xfrm>
              <a:off x="3929476" y="1283466"/>
              <a:ext cx="605948" cy="605948"/>
            </a:xfrm>
            <a:prstGeom prst="ellipse">
              <a:avLst/>
            </a:prstGeom>
            <a:solidFill>
              <a:srgbClr val="F5AA2D"/>
            </a:solidFill>
            <a:ln w="12700" cap="flat" cmpd="sng">
              <a:solidFill>
                <a:srgbClr val="F5AA2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26"/>
            <p:cNvSpPr txBox="1"/>
            <p:nvPr/>
          </p:nvSpPr>
          <p:spPr>
            <a:xfrm>
              <a:off x="4048348" y="1275400"/>
              <a:ext cx="605948" cy="528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b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B5C"/>
                </a:buClr>
                <a:buSzPts val="1800"/>
                <a:buFont typeface="Arial"/>
                <a:buNone/>
              </a:pPr>
              <a:r>
                <a:rPr lang="id" sz="1800" b="1" dirty="0">
                  <a:solidFill>
                    <a:srgbClr val="001B5C"/>
                  </a:solidFill>
                  <a:latin typeface="Poppins"/>
                  <a:ea typeface="Poppins"/>
                  <a:cs typeface="Poppins"/>
                  <a:sym typeface="Poppins"/>
                </a:rPr>
                <a:t>2.</a:t>
              </a:r>
              <a:endParaRPr sz="1800" b="1" dirty="0">
                <a:solidFill>
                  <a:srgbClr val="001B5C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1" name="Google Shape;151;p26"/>
            <p:cNvSpPr txBox="1"/>
            <p:nvPr/>
          </p:nvSpPr>
          <p:spPr>
            <a:xfrm>
              <a:off x="4578228" y="1276745"/>
              <a:ext cx="3115857" cy="5286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b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B5C"/>
                </a:buClr>
                <a:buSzPts val="1800"/>
                <a:buFont typeface="Arial"/>
                <a:buNone/>
              </a:pPr>
              <a:r>
                <a:rPr lang="en-US" sz="1800" dirty="0" err="1">
                  <a:solidFill>
                    <a:srgbClr val="001B5C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Rumusan</a:t>
              </a:r>
              <a:r>
                <a:rPr lang="en-US" sz="1800" dirty="0">
                  <a:solidFill>
                    <a:srgbClr val="001B5C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 </a:t>
              </a:r>
              <a:r>
                <a:rPr lang="en-US" sz="1800" dirty="0" err="1">
                  <a:solidFill>
                    <a:srgbClr val="001B5C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Masalah</a:t>
              </a:r>
              <a:endParaRPr sz="1800" dirty="0">
                <a:solidFill>
                  <a:srgbClr val="001B5C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152" name="Google Shape;152;p26"/>
          <p:cNvGrpSpPr/>
          <p:nvPr/>
        </p:nvGrpSpPr>
        <p:grpSpPr>
          <a:xfrm>
            <a:off x="729390" y="3190689"/>
            <a:ext cx="3163266" cy="460510"/>
            <a:chOff x="3929476" y="1275400"/>
            <a:chExt cx="3939310" cy="614014"/>
          </a:xfrm>
        </p:grpSpPr>
        <p:sp>
          <p:nvSpPr>
            <p:cNvPr id="153" name="Google Shape;153;p26"/>
            <p:cNvSpPr/>
            <p:nvPr/>
          </p:nvSpPr>
          <p:spPr>
            <a:xfrm>
              <a:off x="3929476" y="1283466"/>
              <a:ext cx="605948" cy="605948"/>
            </a:xfrm>
            <a:prstGeom prst="ellipse">
              <a:avLst/>
            </a:prstGeom>
            <a:solidFill>
              <a:srgbClr val="F5AA2D"/>
            </a:solidFill>
            <a:ln w="12700" cap="flat" cmpd="sng">
              <a:solidFill>
                <a:srgbClr val="F5AA2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26"/>
            <p:cNvSpPr txBox="1"/>
            <p:nvPr/>
          </p:nvSpPr>
          <p:spPr>
            <a:xfrm>
              <a:off x="4048348" y="1275400"/>
              <a:ext cx="605948" cy="528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b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B5C"/>
                </a:buClr>
                <a:buSzPts val="1800"/>
                <a:buFont typeface="Arial"/>
                <a:buNone/>
              </a:pPr>
              <a:r>
                <a:rPr lang="id" sz="1800" b="1">
                  <a:solidFill>
                    <a:srgbClr val="001B5C"/>
                  </a:solidFill>
                  <a:latin typeface="Poppins"/>
                  <a:ea typeface="Poppins"/>
                  <a:cs typeface="Poppins"/>
                  <a:sym typeface="Poppins"/>
                </a:rPr>
                <a:t>3.</a:t>
              </a:r>
              <a:endParaRPr sz="1800" b="1">
                <a:solidFill>
                  <a:srgbClr val="001B5C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5" name="Google Shape;155;p26"/>
            <p:cNvSpPr txBox="1"/>
            <p:nvPr/>
          </p:nvSpPr>
          <p:spPr>
            <a:xfrm>
              <a:off x="4518034" y="1306488"/>
              <a:ext cx="3350752" cy="528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b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B5C"/>
                </a:buClr>
                <a:buSzPts val="1800"/>
                <a:buFont typeface="Arial"/>
                <a:buNone/>
              </a:pPr>
              <a:r>
                <a:rPr lang="en-US" sz="1800" dirty="0">
                  <a:solidFill>
                    <a:srgbClr val="001B5C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Batasan </a:t>
              </a:r>
              <a:r>
                <a:rPr lang="en-US" sz="1800" dirty="0" err="1">
                  <a:solidFill>
                    <a:srgbClr val="001B5C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Masalah</a:t>
              </a:r>
              <a:endParaRPr sz="1800" dirty="0">
                <a:solidFill>
                  <a:srgbClr val="001B5C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156" name="Google Shape;156;p26"/>
          <p:cNvGrpSpPr/>
          <p:nvPr/>
        </p:nvGrpSpPr>
        <p:grpSpPr>
          <a:xfrm>
            <a:off x="729390" y="3987352"/>
            <a:ext cx="3053848" cy="460511"/>
            <a:chOff x="3929476" y="1275400"/>
            <a:chExt cx="3803048" cy="614014"/>
          </a:xfrm>
        </p:grpSpPr>
        <p:sp>
          <p:nvSpPr>
            <p:cNvPr id="157" name="Google Shape;157;p26"/>
            <p:cNvSpPr/>
            <p:nvPr/>
          </p:nvSpPr>
          <p:spPr>
            <a:xfrm>
              <a:off x="3929476" y="1283466"/>
              <a:ext cx="605948" cy="605948"/>
            </a:xfrm>
            <a:prstGeom prst="ellipse">
              <a:avLst/>
            </a:prstGeom>
            <a:solidFill>
              <a:srgbClr val="F5AA2D"/>
            </a:solidFill>
            <a:ln w="12700" cap="flat" cmpd="sng">
              <a:solidFill>
                <a:srgbClr val="F5AA2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26"/>
            <p:cNvSpPr txBox="1"/>
            <p:nvPr/>
          </p:nvSpPr>
          <p:spPr>
            <a:xfrm>
              <a:off x="4048348" y="1275400"/>
              <a:ext cx="605948" cy="528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b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B5C"/>
                </a:buClr>
                <a:buSzPts val="1800"/>
                <a:buFont typeface="Arial"/>
                <a:buNone/>
              </a:pPr>
              <a:r>
                <a:rPr lang="id" sz="1800" b="1">
                  <a:solidFill>
                    <a:srgbClr val="001B5C"/>
                  </a:solidFill>
                  <a:latin typeface="Poppins"/>
                  <a:ea typeface="Poppins"/>
                  <a:cs typeface="Poppins"/>
                  <a:sym typeface="Poppins"/>
                </a:rPr>
                <a:t>4.</a:t>
              </a:r>
              <a:endParaRPr sz="1800" b="1">
                <a:solidFill>
                  <a:srgbClr val="001B5C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9" name="Google Shape;159;p26"/>
            <p:cNvSpPr txBox="1"/>
            <p:nvPr/>
          </p:nvSpPr>
          <p:spPr>
            <a:xfrm>
              <a:off x="4535424" y="1283466"/>
              <a:ext cx="3197100" cy="5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b" anchorCtr="0">
              <a:noAutofit/>
            </a:bodyPr>
            <a:lstStyle/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B5C"/>
                </a:buClr>
                <a:buSzPts val="1800"/>
                <a:buFont typeface="Arial"/>
                <a:buNone/>
              </a:pPr>
              <a:r>
                <a:rPr lang="en-US" sz="1800" dirty="0" err="1">
                  <a:solidFill>
                    <a:srgbClr val="001B5C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Tujuan</a:t>
              </a:r>
              <a:endParaRPr sz="1800" dirty="0">
                <a:solidFill>
                  <a:srgbClr val="001B5C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160" name="Google Shape;160;p26"/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6"/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6"/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6"/>
          <p:cNvSpPr txBox="1"/>
          <p:nvPr/>
        </p:nvSpPr>
        <p:spPr>
          <a:xfrm>
            <a:off x="8730234" y="4871371"/>
            <a:ext cx="2775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6"/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  <p:grpSp>
        <p:nvGrpSpPr>
          <p:cNvPr id="2" name="Google Shape;144;p26">
            <a:extLst>
              <a:ext uri="{FF2B5EF4-FFF2-40B4-BE49-F238E27FC236}">
                <a16:creationId xmlns:a16="http://schemas.microsoft.com/office/drawing/2014/main" id="{8F9E36B0-260F-27D5-63DB-1CA84EAA79F2}"/>
              </a:ext>
            </a:extLst>
          </p:cNvPr>
          <p:cNvGrpSpPr/>
          <p:nvPr/>
        </p:nvGrpSpPr>
        <p:grpSpPr>
          <a:xfrm>
            <a:off x="4973859" y="1624724"/>
            <a:ext cx="2736759" cy="460510"/>
            <a:chOff x="3929476" y="1275400"/>
            <a:chExt cx="3408167" cy="614014"/>
          </a:xfrm>
        </p:grpSpPr>
        <p:sp>
          <p:nvSpPr>
            <p:cNvPr id="3" name="Google Shape;145;p26">
              <a:extLst>
                <a:ext uri="{FF2B5EF4-FFF2-40B4-BE49-F238E27FC236}">
                  <a16:creationId xmlns:a16="http://schemas.microsoft.com/office/drawing/2014/main" id="{7CA06C7B-39B9-8CBA-4FB1-AEB9337BF295}"/>
                </a:ext>
              </a:extLst>
            </p:cNvPr>
            <p:cNvSpPr/>
            <p:nvPr/>
          </p:nvSpPr>
          <p:spPr>
            <a:xfrm>
              <a:off x="3929476" y="1283466"/>
              <a:ext cx="605948" cy="605948"/>
            </a:xfrm>
            <a:prstGeom prst="ellipse">
              <a:avLst/>
            </a:prstGeom>
            <a:solidFill>
              <a:srgbClr val="F5AA2D"/>
            </a:solidFill>
            <a:ln w="12700" cap="flat" cmpd="sng">
              <a:solidFill>
                <a:srgbClr val="F5AA2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146;p26">
              <a:extLst>
                <a:ext uri="{FF2B5EF4-FFF2-40B4-BE49-F238E27FC236}">
                  <a16:creationId xmlns:a16="http://schemas.microsoft.com/office/drawing/2014/main" id="{EF3B9986-0368-C592-32D5-93CF0EC3F1A6}"/>
                </a:ext>
              </a:extLst>
            </p:cNvPr>
            <p:cNvSpPr txBox="1"/>
            <p:nvPr/>
          </p:nvSpPr>
          <p:spPr>
            <a:xfrm>
              <a:off x="4048348" y="1275400"/>
              <a:ext cx="605948" cy="528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b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B5C"/>
                </a:buClr>
                <a:buSzPts val="1800"/>
                <a:buFont typeface="Arial"/>
                <a:buNone/>
              </a:pPr>
              <a:r>
                <a:rPr lang="en-US" sz="1800" b="1" dirty="0">
                  <a:solidFill>
                    <a:srgbClr val="001B5C"/>
                  </a:solidFill>
                  <a:latin typeface="Poppins"/>
                  <a:ea typeface="Poppins"/>
                  <a:cs typeface="Poppins"/>
                  <a:sym typeface="Poppins"/>
                </a:rPr>
                <a:t>5</a:t>
              </a:r>
              <a:r>
                <a:rPr lang="id" sz="1800" b="1" dirty="0">
                  <a:solidFill>
                    <a:srgbClr val="001B5C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  <a:endParaRPr sz="1800" b="1" dirty="0">
                <a:solidFill>
                  <a:srgbClr val="001B5C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" name="Google Shape;147;p26">
              <a:extLst>
                <a:ext uri="{FF2B5EF4-FFF2-40B4-BE49-F238E27FC236}">
                  <a16:creationId xmlns:a16="http://schemas.microsoft.com/office/drawing/2014/main" id="{F23889EE-1F61-07F9-4C78-323F1A1163E3}"/>
                </a:ext>
              </a:extLst>
            </p:cNvPr>
            <p:cNvSpPr txBox="1"/>
            <p:nvPr/>
          </p:nvSpPr>
          <p:spPr>
            <a:xfrm>
              <a:off x="4535414" y="1279708"/>
              <a:ext cx="2802229" cy="5286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b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B5C"/>
                </a:buClr>
                <a:buSzPts val="1800"/>
                <a:buFont typeface="Arial"/>
                <a:buNone/>
              </a:pPr>
              <a:r>
                <a:rPr lang="en-US" sz="1800" dirty="0" err="1">
                  <a:solidFill>
                    <a:srgbClr val="001B5C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Manfaat</a:t>
              </a:r>
              <a:endParaRPr sz="1800" dirty="0">
                <a:solidFill>
                  <a:srgbClr val="001B5C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6" name="Google Shape;148;p26">
            <a:extLst>
              <a:ext uri="{FF2B5EF4-FFF2-40B4-BE49-F238E27FC236}">
                <a16:creationId xmlns:a16="http://schemas.microsoft.com/office/drawing/2014/main" id="{7D9C2E2C-99C1-E0DA-AD4E-D9FF99BF4BF5}"/>
              </a:ext>
            </a:extLst>
          </p:cNvPr>
          <p:cNvGrpSpPr/>
          <p:nvPr/>
        </p:nvGrpSpPr>
        <p:grpSpPr>
          <a:xfrm>
            <a:off x="4973716" y="2437996"/>
            <a:ext cx="2823457" cy="460510"/>
            <a:chOff x="3929476" y="1275400"/>
            <a:chExt cx="3764609" cy="614014"/>
          </a:xfrm>
        </p:grpSpPr>
        <p:sp>
          <p:nvSpPr>
            <p:cNvPr id="7" name="Google Shape;149;p26">
              <a:extLst>
                <a:ext uri="{FF2B5EF4-FFF2-40B4-BE49-F238E27FC236}">
                  <a16:creationId xmlns:a16="http://schemas.microsoft.com/office/drawing/2014/main" id="{247399AA-CD99-3FAE-96E1-E70B37C5C6F6}"/>
                </a:ext>
              </a:extLst>
            </p:cNvPr>
            <p:cNvSpPr/>
            <p:nvPr/>
          </p:nvSpPr>
          <p:spPr>
            <a:xfrm>
              <a:off x="3929476" y="1283466"/>
              <a:ext cx="605948" cy="605948"/>
            </a:xfrm>
            <a:prstGeom prst="ellipse">
              <a:avLst/>
            </a:prstGeom>
            <a:solidFill>
              <a:srgbClr val="F5AA2D"/>
            </a:solidFill>
            <a:ln w="12700" cap="flat" cmpd="sng">
              <a:solidFill>
                <a:srgbClr val="F5AA2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150;p26">
              <a:extLst>
                <a:ext uri="{FF2B5EF4-FFF2-40B4-BE49-F238E27FC236}">
                  <a16:creationId xmlns:a16="http://schemas.microsoft.com/office/drawing/2014/main" id="{766B11BB-BC76-7D06-7BE4-124E1CEED345}"/>
                </a:ext>
              </a:extLst>
            </p:cNvPr>
            <p:cNvSpPr txBox="1"/>
            <p:nvPr/>
          </p:nvSpPr>
          <p:spPr>
            <a:xfrm>
              <a:off x="4048348" y="1275400"/>
              <a:ext cx="605948" cy="528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b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B5C"/>
                </a:buClr>
                <a:buSzPts val="1800"/>
                <a:buFont typeface="Arial"/>
                <a:buNone/>
              </a:pPr>
              <a:r>
                <a:rPr lang="en-US" sz="1800" b="1" dirty="0">
                  <a:solidFill>
                    <a:srgbClr val="001B5C"/>
                  </a:solidFill>
                  <a:latin typeface="Poppins"/>
                  <a:ea typeface="Poppins"/>
                  <a:cs typeface="Poppins"/>
                  <a:sym typeface="Poppins"/>
                </a:rPr>
                <a:t>6</a:t>
              </a:r>
              <a:r>
                <a:rPr lang="id" sz="1800" b="1" dirty="0">
                  <a:solidFill>
                    <a:srgbClr val="001B5C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  <a:endParaRPr sz="1800" b="1" dirty="0">
                <a:solidFill>
                  <a:srgbClr val="001B5C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" name="Google Shape;151;p26">
              <a:extLst>
                <a:ext uri="{FF2B5EF4-FFF2-40B4-BE49-F238E27FC236}">
                  <a16:creationId xmlns:a16="http://schemas.microsoft.com/office/drawing/2014/main" id="{5966E077-F029-FFDA-EBBB-4700148B8000}"/>
                </a:ext>
              </a:extLst>
            </p:cNvPr>
            <p:cNvSpPr txBox="1"/>
            <p:nvPr/>
          </p:nvSpPr>
          <p:spPr>
            <a:xfrm>
              <a:off x="4578228" y="1276745"/>
              <a:ext cx="3115857" cy="5286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b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B5C"/>
                </a:buClr>
                <a:buSzPts val="1800"/>
                <a:buFont typeface="Arial"/>
                <a:buNone/>
              </a:pPr>
              <a:r>
                <a:rPr lang="en-US" sz="1800" dirty="0" err="1">
                  <a:solidFill>
                    <a:srgbClr val="001B5C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Metodologi</a:t>
              </a:r>
              <a:endParaRPr sz="1800" dirty="0">
                <a:solidFill>
                  <a:srgbClr val="001B5C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10" name="Google Shape;152;p26">
            <a:extLst>
              <a:ext uri="{FF2B5EF4-FFF2-40B4-BE49-F238E27FC236}">
                <a16:creationId xmlns:a16="http://schemas.microsoft.com/office/drawing/2014/main" id="{98583E3B-5219-69CD-45C6-872A610876C7}"/>
              </a:ext>
            </a:extLst>
          </p:cNvPr>
          <p:cNvGrpSpPr/>
          <p:nvPr/>
        </p:nvGrpSpPr>
        <p:grpSpPr>
          <a:xfrm>
            <a:off x="4973716" y="3185234"/>
            <a:ext cx="3345440" cy="460510"/>
            <a:chOff x="3929476" y="1275400"/>
            <a:chExt cx="4166177" cy="614014"/>
          </a:xfrm>
        </p:grpSpPr>
        <p:sp>
          <p:nvSpPr>
            <p:cNvPr id="11" name="Google Shape;153;p26">
              <a:extLst>
                <a:ext uri="{FF2B5EF4-FFF2-40B4-BE49-F238E27FC236}">
                  <a16:creationId xmlns:a16="http://schemas.microsoft.com/office/drawing/2014/main" id="{53B9BDE8-9475-7841-5A06-60720B9940ED}"/>
                </a:ext>
              </a:extLst>
            </p:cNvPr>
            <p:cNvSpPr/>
            <p:nvPr/>
          </p:nvSpPr>
          <p:spPr>
            <a:xfrm>
              <a:off x="3929476" y="1283466"/>
              <a:ext cx="605948" cy="605948"/>
            </a:xfrm>
            <a:prstGeom prst="ellipse">
              <a:avLst/>
            </a:prstGeom>
            <a:solidFill>
              <a:srgbClr val="F5AA2D"/>
            </a:solidFill>
            <a:ln w="12700" cap="flat" cmpd="sng">
              <a:solidFill>
                <a:srgbClr val="F5AA2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54;p26">
              <a:extLst>
                <a:ext uri="{FF2B5EF4-FFF2-40B4-BE49-F238E27FC236}">
                  <a16:creationId xmlns:a16="http://schemas.microsoft.com/office/drawing/2014/main" id="{130582D8-46CC-BADA-27A0-AC57C322409F}"/>
                </a:ext>
              </a:extLst>
            </p:cNvPr>
            <p:cNvSpPr txBox="1"/>
            <p:nvPr/>
          </p:nvSpPr>
          <p:spPr>
            <a:xfrm>
              <a:off x="4048348" y="1275400"/>
              <a:ext cx="605948" cy="528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b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B5C"/>
                </a:buClr>
                <a:buSzPts val="1800"/>
                <a:buFont typeface="Arial"/>
                <a:buNone/>
              </a:pPr>
              <a:r>
                <a:rPr lang="en-US" sz="1800" b="1" dirty="0">
                  <a:solidFill>
                    <a:srgbClr val="001B5C"/>
                  </a:solidFill>
                  <a:latin typeface="Poppins"/>
                  <a:ea typeface="Poppins"/>
                  <a:cs typeface="Poppins"/>
                  <a:sym typeface="Poppins"/>
                </a:rPr>
                <a:t>7</a:t>
              </a:r>
              <a:r>
                <a:rPr lang="id" sz="1800" b="1" dirty="0">
                  <a:solidFill>
                    <a:srgbClr val="001B5C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  <a:endParaRPr sz="1800" b="1" dirty="0">
                <a:solidFill>
                  <a:srgbClr val="001B5C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" name="Google Shape;155;p26">
              <a:extLst>
                <a:ext uri="{FF2B5EF4-FFF2-40B4-BE49-F238E27FC236}">
                  <a16:creationId xmlns:a16="http://schemas.microsoft.com/office/drawing/2014/main" id="{5A5E275A-B9C4-5116-4E2D-D47EC80F100B}"/>
                </a:ext>
              </a:extLst>
            </p:cNvPr>
            <p:cNvSpPr txBox="1"/>
            <p:nvPr/>
          </p:nvSpPr>
          <p:spPr>
            <a:xfrm>
              <a:off x="4535424" y="1283465"/>
              <a:ext cx="3560229" cy="528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b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B5C"/>
                </a:buClr>
                <a:buSzPts val="1800"/>
                <a:buFont typeface="Arial"/>
                <a:buNone/>
              </a:pPr>
              <a:r>
                <a:rPr lang="en-US" sz="1800" dirty="0">
                  <a:solidFill>
                    <a:srgbClr val="001B5C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Hasil dan </a:t>
              </a:r>
              <a:r>
                <a:rPr lang="en-US" sz="1800" dirty="0" err="1">
                  <a:solidFill>
                    <a:srgbClr val="001B5C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Pembahasan</a:t>
              </a:r>
              <a:endParaRPr sz="1800" dirty="0">
                <a:solidFill>
                  <a:srgbClr val="001B5C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14" name="Google Shape;156;p26">
            <a:extLst>
              <a:ext uri="{FF2B5EF4-FFF2-40B4-BE49-F238E27FC236}">
                <a16:creationId xmlns:a16="http://schemas.microsoft.com/office/drawing/2014/main" id="{B8ADE868-E256-077A-DB11-617287C7683C}"/>
              </a:ext>
            </a:extLst>
          </p:cNvPr>
          <p:cNvGrpSpPr/>
          <p:nvPr/>
        </p:nvGrpSpPr>
        <p:grpSpPr>
          <a:xfrm>
            <a:off x="4973716" y="3994061"/>
            <a:ext cx="3345441" cy="460511"/>
            <a:chOff x="3929476" y="1275400"/>
            <a:chExt cx="4166177" cy="614014"/>
          </a:xfrm>
        </p:grpSpPr>
        <p:sp>
          <p:nvSpPr>
            <p:cNvPr id="15" name="Google Shape;157;p26">
              <a:extLst>
                <a:ext uri="{FF2B5EF4-FFF2-40B4-BE49-F238E27FC236}">
                  <a16:creationId xmlns:a16="http://schemas.microsoft.com/office/drawing/2014/main" id="{2CF9AF0C-BBCC-9454-116A-12B5AF382606}"/>
                </a:ext>
              </a:extLst>
            </p:cNvPr>
            <p:cNvSpPr/>
            <p:nvPr/>
          </p:nvSpPr>
          <p:spPr>
            <a:xfrm>
              <a:off x="3929476" y="1283466"/>
              <a:ext cx="605948" cy="605948"/>
            </a:xfrm>
            <a:prstGeom prst="ellipse">
              <a:avLst/>
            </a:prstGeom>
            <a:solidFill>
              <a:srgbClr val="F5AA2D"/>
            </a:solidFill>
            <a:ln w="12700" cap="flat" cmpd="sng">
              <a:solidFill>
                <a:srgbClr val="F5AA2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58;p26">
              <a:extLst>
                <a:ext uri="{FF2B5EF4-FFF2-40B4-BE49-F238E27FC236}">
                  <a16:creationId xmlns:a16="http://schemas.microsoft.com/office/drawing/2014/main" id="{CE9FEFBE-779F-0DB1-6BE7-2F1585F75055}"/>
                </a:ext>
              </a:extLst>
            </p:cNvPr>
            <p:cNvSpPr txBox="1"/>
            <p:nvPr/>
          </p:nvSpPr>
          <p:spPr>
            <a:xfrm>
              <a:off x="4048348" y="1275400"/>
              <a:ext cx="605948" cy="528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b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B5C"/>
                </a:buClr>
                <a:buSzPts val="1800"/>
                <a:buFont typeface="Arial"/>
                <a:buNone/>
              </a:pPr>
              <a:r>
                <a:rPr lang="en-US" sz="1800" b="1" dirty="0">
                  <a:solidFill>
                    <a:srgbClr val="001B5C"/>
                  </a:solidFill>
                  <a:latin typeface="Poppins"/>
                  <a:ea typeface="Poppins"/>
                  <a:cs typeface="Poppins"/>
                  <a:sym typeface="Poppins"/>
                </a:rPr>
                <a:t>8</a:t>
              </a:r>
              <a:r>
                <a:rPr lang="id" sz="1800" b="1" dirty="0">
                  <a:solidFill>
                    <a:srgbClr val="001B5C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  <a:endParaRPr sz="1800" b="1" dirty="0">
                <a:solidFill>
                  <a:srgbClr val="001B5C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" name="Google Shape;159;p26">
              <a:extLst>
                <a:ext uri="{FF2B5EF4-FFF2-40B4-BE49-F238E27FC236}">
                  <a16:creationId xmlns:a16="http://schemas.microsoft.com/office/drawing/2014/main" id="{2EC18148-9CA1-998C-E7D2-7F611BD83BF0}"/>
                </a:ext>
              </a:extLst>
            </p:cNvPr>
            <p:cNvSpPr txBox="1"/>
            <p:nvPr/>
          </p:nvSpPr>
          <p:spPr>
            <a:xfrm>
              <a:off x="4535424" y="1283467"/>
              <a:ext cx="3560229" cy="5285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b" anchorCtr="0">
              <a:noAutofit/>
            </a:bodyPr>
            <a:lstStyle/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B5C"/>
                </a:buClr>
                <a:buSzPts val="1800"/>
                <a:buFont typeface="Arial"/>
                <a:buNone/>
              </a:pPr>
              <a:r>
                <a:rPr lang="en-US" sz="1800" dirty="0">
                  <a:solidFill>
                    <a:srgbClr val="001B5C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Kesimpulan dan Saran</a:t>
              </a:r>
              <a:endParaRPr sz="1800" dirty="0">
                <a:solidFill>
                  <a:srgbClr val="001B5C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/>
          <p:cNvSpPr/>
          <p:nvPr/>
        </p:nvSpPr>
        <p:spPr>
          <a:xfrm>
            <a:off x="8886389" y="256207"/>
            <a:ext cx="257700" cy="31680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7"/>
          <p:cNvSpPr txBox="1"/>
          <p:nvPr/>
        </p:nvSpPr>
        <p:spPr>
          <a:xfrm>
            <a:off x="4354830" y="81794"/>
            <a:ext cx="45174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Latar</a:t>
            </a: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Belakang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1" name="Google Shape;181;p27"/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/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/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/>
          <p:cNvSpPr txBox="1"/>
          <p:nvPr/>
        </p:nvSpPr>
        <p:spPr>
          <a:xfrm>
            <a:off x="8730160" y="4871371"/>
            <a:ext cx="2775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E0C180D-B8BF-BBC4-5F28-71D76D5162B5}"/>
              </a:ext>
            </a:extLst>
          </p:cNvPr>
          <p:cNvCxnSpPr>
            <a:cxnSpLocks/>
          </p:cNvCxnSpPr>
          <p:nvPr/>
        </p:nvCxnSpPr>
        <p:spPr>
          <a:xfrm>
            <a:off x="5378447" y="2526647"/>
            <a:ext cx="899348" cy="0"/>
          </a:xfrm>
          <a:prstGeom prst="straightConnector1">
            <a:avLst/>
          </a:prstGeom>
          <a:ln w="38100">
            <a:noFill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Google Shape;168;p26">
            <a:extLst>
              <a:ext uri="{FF2B5EF4-FFF2-40B4-BE49-F238E27FC236}">
                <a16:creationId xmlns:a16="http://schemas.microsoft.com/office/drawing/2014/main" id="{9DACDAF0-8C4D-7359-938D-829416827F53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9820B6-8BEE-8E11-59D0-6758A2B9EF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097" y="2052840"/>
            <a:ext cx="3582733" cy="10378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D6FA4B6-5B20-98D7-BBE9-9471C779CA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7797" y="1819173"/>
            <a:ext cx="3633144" cy="125508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0C05047-F202-1EAC-E03A-86DAAA8B8E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526" y="3265078"/>
            <a:ext cx="6293883" cy="79048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BAD014C-BF53-6222-30CB-CE0F8BF605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5555" y="3468642"/>
            <a:ext cx="1487490" cy="470811"/>
          </a:xfrm>
          <a:prstGeom prst="rect">
            <a:avLst/>
          </a:prstGeom>
        </p:spPr>
      </p:pic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6095524-06A5-DE64-F347-9E15199A7C1D}"/>
              </a:ext>
            </a:extLst>
          </p:cNvPr>
          <p:cNvSpPr txBox="1">
            <a:spLocks/>
          </p:cNvSpPr>
          <p:nvPr/>
        </p:nvSpPr>
        <p:spPr>
          <a:xfrm>
            <a:off x="846239" y="799571"/>
            <a:ext cx="7292746" cy="7712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200" dirty="0">
              <a:solidFill>
                <a:srgbClr val="002060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r>
              <a:rPr lang="en-US" sz="2200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Bagaimana</a:t>
            </a:r>
            <a:r>
              <a:rPr lang="en-US" sz="2200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cara</a:t>
            </a:r>
            <a:r>
              <a:rPr lang="en-US" sz="2200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menjamin</a:t>
            </a:r>
            <a:r>
              <a:rPr lang="en-US" sz="2200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eksistensi</a:t>
            </a:r>
            <a:r>
              <a:rPr lang="en-US" sz="2200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solusinya</a:t>
            </a:r>
            <a:r>
              <a:rPr lang="en-US" sz="2200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?</a:t>
            </a:r>
          </a:p>
          <a:p>
            <a:r>
              <a:rPr lang="en-US" sz="2200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Bagaimana</a:t>
            </a:r>
            <a:r>
              <a:rPr lang="en-US" sz="2200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cara</a:t>
            </a:r>
            <a:r>
              <a:rPr lang="en-US" sz="2200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mendapatkan</a:t>
            </a:r>
            <a:r>
              <a:rPr lang="en-US" sz="2200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solusinya</a:t>
            </a:r>
            <a:r>
              <a:rPr lang="en-US" sz="2200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477055-8C5C-DB1F-67DB-EC165304544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097" y="1570870"/>
            <a:ext cx="4997655" cy="582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649C462-EFA0-0B3F-AD86-437A985FADD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1629" y="4263954"/>
            <a:ext cx="4025777" cy="4094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FD5C9B1-3A42-C4D4-D35E-132B0BE61E1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03864" y="3719892"/>
            <a:ext cx="3177495" cy="65819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3A557FF-3B9C-AE0B-F7C9-391A9D32009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22749" y="3938652"/>
            <a:ext cx="2190296" cy="702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2715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DE6E08B-63E2-2EC7-E151-AED271B58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descr="Icon&#10;&#10;Description automatically generated">
            <a:extLst>
              <a:ext uri="{FF2B5EF4-FFF2-40B4-BE49-F238E27FC236}">
                <a16:creationId xmlns:a16="http://schemas.microsoft.com/office/drawing/2014/main" id="{EFE291B9-DC32-F991-986A-8A5C1C3D192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>
            <a:extLst>
              <a:ext uri="{FF2B5EF4-FFF2-40B4-BE49-F238E27FC236}">
                <a16:creationId xmlns:a16="http://schemas.microsoft.com/office/drawing/2014/main" id="{E2C0850B-AA1C-D244-6867-70A9E654F99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>
            <a:extLst>
              <a:ext uri="{FF2B5EF4-FFF2-40B4-BE49-F238E27FC236}">
                <a16:creationId xmlns:a16="http://schemas.microsoft.com/office/drawing/2014/main" id="{C4B1DC9B-7EFD-CBC6-19A7-72C77EBED934}"/>
              </a:ext>
            </a:extLst>
          </p:cNvPr>
          <p:cNvSpPr/>
          <p:nvPr/>
        </p:nvSpPr>
        <p:spPr>
          <a:xfrm>
            <a:off x="8886389" y="256207"/>
            <a:ext cx="257700" cy="31680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7">
            <a:extLst>
              <a:ext uri="{FF2B5EF4-FFF2-40B4-BE49-F238E27FC236}">
                <a16:creationId xmlns:a16="http://schemas.microsoft.com/office/drawing/2014/main" id="{C16B3F65-B9B3-C264-6C28-9ACBCE3D6CFE}"/>
              </a:ext>
            </a:extLst>
          </p:cNvPr>
          <p:cNvSpPr txBox="1"/>
          <p:nvPr/>
        </p:nvSpPr>
        <p:spPr>
          <a:xfrm>
            <a:off x="4354830" y="81794"/>
            <a:ext cx="45174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Latar</a:t>
            </a: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Belakang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1" name="Google Shape;181;p27">
            <a:extLst>
              <a:ext uri="{FF2B5EF4-FFF2-40B4-BE49-F238E27FC236}">
                <a16:creationId xmlns:a16="http://schemas.microsoft.com/office/drawing/2014/main" id="{296DDDC1-198D-6FAA-AD2F-5AC4A36DBD48}"/>
              </a:ext>
            </a:extLst>
          </p:cNvPr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>
            <a:extLst>
              <a:ext uri="{FF2B5EF4-FFF2-40B4-BE49-F238E27FC236}">
                <a16:creationId xmlns:a16="http://schemas.microsoft.com/office/drawing/2014/main" id="{F6A83313-A0D0-DF9C-D08E-85FE2C538A6C}"/>
              </a:ext>
            </a:extLst>
          </p:cNvPr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>
            <a:extLst>
              <a:ext uri="{FF2B5EF4-FFF2-40B4-BE49-F238E27FC236}">
                <a16:creationId xmlns:a16="http://schemas.microsoft.com/office/drawing/2014/main" id="{7BD5878A-5BE4-9A1D-6376-2D45155313A5}"/>
              </a:ext>
            </a:extLst>
          </p:cNvPr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>
            <a:extLst>
              <a:ext uri="{FF2B5EF4-FFF2-40B4-BE49-F238E27FC236}">
                <a16:creationId xmlns:a16="http://schemas.microsoft.com/office/drawing/2014/main" id="{D12B4196-F5E7-F67C-9617-E3B2C4E27BD9}"/>
              </a:ext>
            </a:extLst>
          </p:cNvPr>
          <p:cNvSpPr txBox="1"/>
          <p:nvPr/>
        </p:nvSpPr>
        <p:spPr>
          <a:xfrm>
            <a:off x="8730160" y="4871371"/>
            <a:ext cx="2775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5A5A5"/>
                </a:solidFill>
              </a:rPr>
              <a:t>4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7">
            <a:extLst>
              <a:ext uri="{FF2B5EF4-FFF2-40B4-BE49-F238E27FC236}">
                <a16:creationId xmlns:a16="http://schemas.microsoft.com/office/drawing/2014/main" id="{CC9168AD-D609-289D-2B92-676000DC045E}"/>
              </a:ext>
            </a:extLst>
          </p:cNvPr>
          <p:cNvSpPr txBox="1"/>
          <p:nvPr/>
        </p:nvSpPr>
        <p:spPr>
          <a:xfrm>
            <a:off x="3331213" y="1983757"/>
            <a:ext cx="2047234" cy="1085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22222"/>
              </a:lnSpc>
              <a:spcBef>
                <a:spcPts val="0"/>
              </a:spcBef>
              <a:buNone/>
            </a:pPr>
            <a:r>
              <a:rPr lang="en-US" sz="2400" b="1" i="1" dirty="0" err="1">
                <a:solidFill>
                  <a:srgbClr val="00206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Teorema</a:t>
            </a:r>
            <a:r>
              <a:rPr lang="en-US" sz="2400" b="1" i="1" dirty="0">
                <a:solidFill>
                  <a:srgbClr val="00206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b="1" i="1" dirty="0" err="1">
                <a:solidFill>
                  <a:srgbClr val="00206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Titik</a:t>
            </a:r>
            <a:r>
              <a:rPr lang="en-US" sz="2400" b="1" i="1" dirty="0">
                <a:solidFill>
                  <a:srgbClr val="00206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Tetap</a:t>
            </a:r>
            <a:endParaRPr sz="2400" b="1" i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F65CD032-7AB0-8D37-EF3E-FE73D1AC1011}"/>
              </a:ext>
            </a:extLst>
          </p:cNvPr>
          <p:cNvSpPr txBox="1">
            <a:spLocks/>
          </p:cNvSpPr>
          <p:nvPr/>
        </p:nvSpPr>
        <p:spPr>
          <a:xfrm>
            <a:off x="6253387" y="2295432"/>
            <a:ext cx="2403720" cy="4447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Ruang</a:t>
            </a:r>
            <a:r>
              <a:rPr lang="en-US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+mj-lt"/>
              </a:rPr>
              <a:t>Metrik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BBABDB0-1D31-37E7-618A-33FEDBB6D8EB}"/>
              </a:ext>
            </a:extLst>
          </p:cNvPr>
          <p:cNvCxnSpPr>
            <a:cxnSpLocks/>
            <a:stCxn id="186" idx="3"/>
          </p:cNvCxnSpPr>
          <p:nvPr/>
        </p:nvCxnSpPr>
        <p:spPr>
          <a:xfrm>
            <a:off x="5378447" y="2526647"/>
            <a:ext cx="899348" cy="0"/>
          </a:xfrm>
          <a:prstGeom prst="straightConnector1">
            <a:avLst/>
          </a:prstGeom>
          <a:ln w="38100">
            <a:noFill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7F060F6-0BB7-743E-756D-62C823549E64}"/>
              </a:ext>
            </a:extLst>
          </p:cNvPr>
          <p:cNvSpPr txBox="1"/>
          <p:nvPr/>
        </p:nvSpPr>
        <p:spPr>
          <a:xfrm>
            <a:off x="5367681" y="2303586"/>
            <a:ext cx="11288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membahas</a:t>
            </a:r>
            <a:endParaRPr lang="en-ID" sz="1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Google Shape;168;p26">
            <a:extLst>
              <a:ext uri="{FF2B5EF4-FFF2-40B4-BE49-F238E27FC236}">
                <a16:creationId xmlns:a16="http://schemas.microsoft.com/office/drawing/2014/main" id="{55EDD40F-3A57-15AE-3845-2B571FF66EF6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90114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/>
          <p:cNvSpPr/>
          <p:nvPr/>
        </p:nvSpPr>
        <p:spPr>
          <a:xfrm>
            <a:off x="8886389" y="256207"/>
            <a:ext cx="257700" cy="31680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7"/>
          <p:cNvSpPr txBox="1"/>
          <p:nvPr/>
        </p:nvSpPr>
        <p:spPr>
          <a:xfrm>
            <a:off x="4354830" y="81794"/>
            <a:ext cx="45174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Latar</a:t>
            </a: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Belakang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1" name="Google Shape;181;p27"/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/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/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/>
          <p:cNvSpPr txBox="1"/>
          <p:nvPr/>
        </p:nvSpPr>
        <p:spPr>
          <a:xfrm>
            <a:off x="8730234" y="4871371"/>
            <a:ext cx="2775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5A5A5"/>
                </a:solidFill>
              </a:rPr>
              <a:t>5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7"/>
          <p:cNvSpPr txBox="1"/>
          <p:nvPr/>
        </p:nvSpPr>
        <p:spPr>
          <a:xfrm>
            <a:off x="1894992" y="2028860"/>
            <a:ext cx="2047234" cy="1085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22222"/>
              </a:lnSpc>
              <a:spcBef>
                <a:spcPts val="0"/>
              </a:spcBef>
              <a:buNone/>
            </a:pPr>
            <a:r>
              <a:rPr lang="en-US" sz="2400" b="1" i="1" dirty="0" err="1">
                <a:solidFill>
                  <a:srgbClr val="00206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Teorema</a:t>
            </a:r>
            <a:r>
              <a:rPr lang="en-US" sz="2400" b="1" i="1" dirty="0">
                <a:solidFill>
                  <a:srgbClr val="00206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b="1" i="1" dirty="0" err="1">
                <a:solidFill>
                  <a:srgbClr val="00206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Titik</a:t>
            </a:r>
            <a:r>
              <a:rPr lang="en-US" sz="2400" b="1" i="1" dirty="0">
                <a:solidFill>
                  <a:srgbClr val="00206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Tetap</a:t>
            </a:r>
            <a:endParaRPr sz="2400" b="1" i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DEA9A433-A29D-23F8-E1DB-1218BBCAAA3C}"/>
              </a:ext>
            </a:extLst>
          </p:cNvPr>
          <p:cNvSpPr txBox="1">
            <a:spLocks/>
          </p:cNvSpPr>
          <p:nvPr/>
        </p:nvSpPr>
        <p:spPr>
          <a:xfrm>
            <a:off x="5120392" y="2189115"/>
            <a:ext cx="3344087" cy="76526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i="1" dirty="0" err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Pemetaan</a:t>
            </a:r>
            <a:r>
              <a:rPr lang="en-US" i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i="1" dirty="0" err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Kontraksi</a:t>
            </a:r>
            <a:r>
              <a:rPr lang="en-US" i="1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Banach</a:t>
            </a:r>
            <a:endParaRPr lang="en-US" dirty="0">
              <a:solidFill>
                <a:srgbClr val="00206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E0C180D-B8BF-BBC4-5F28-71D76D5162B5}"/>
              </a:ext>
            </a:extLst>
          </p:cNvPr>
          <p:cNvCxnSpPr>
            <a:cxnSpLocks/>
            <a:stCxn id="186" idx="3"/>
            <a:endCxn id="2" idx="1"/>
          </p:cNvCxnSpPr>
          <p:nvPr/>
        </p:nvCxnSpPr>
        <p:spPr>
          <a:xfrm>
            <a:off x="3942226" y="2571750"/>
            <a:ext cx="1178166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E6F2E78-A4DA-0DF4-8BA8-0FF1C690B3F9}"/>
              </a:ext>
            </a:extLst>
          </p:cNvPr>
          <p:cNvSpPr txBox="1"/>
          <p:nvPr/>
        </p:nvSpPr>
        <p:spPr>
          <a:xfrm>
            <a:off x="4161656" y="2304682"/>
            <a:ext cx="7393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diawali</a:t>
            </a:r>
            <a:endParaRPr lang="en-ID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45CD1FE-AE32-E262-FC11-DEBB582EF43D}"/>
                  </a:ext>
                </a:extLst>
              </p:cNvPr>
              <p:cNvSpPr txBox="1"/>
              <p:nvPr/>
            </p:nvSpPr>
            <p:spPr>
              <a:xfrm>
                <a:off x="655986" y="5649153"/>
                <a:ext cx="7999126" cy="2585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SzPct val="100000"/>
                </a:pP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Diberikan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himpunan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tak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kosong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adalah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metrik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yang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didefinisikan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pada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sebagai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fungsi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sehingga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untuk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setiap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memenuhi</a:t>
                </a:r>
              </a:p>
              <a:p>
                <a:pPr>
                  <a:buSzPct val="100000"/>
                </a:pP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(M1) 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 </a:t>
                </a:r>
              </a:p>
              <a:p>
                <a:pPr>
                  <a:buSzPct val="100000"/>
                </a:pP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(M2)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jika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dan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hanya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jika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sz="18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>
                  <a:buSzPct val="100000"/>
                </a:pP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(M3)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(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sifat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simetri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)</a:t>
                </a:r>
              </a:p>
              <a:p>
                <a:pPr>
                  <a:buSzPct val="100000"/>
                </a:pP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(M4)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(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ketaksamaan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segitiga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)</a:t>
                </a:r>
              </a:p>
              <a:p>
                <a:pPr>
                  <a:buSzPct val="100000"/>
                </a:pPr>
                <a:endParaRPr lang="en-US" sz="18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>
                  <a:buSzPct val="100000"/>
                </a:pP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Pasangan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(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𝑋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𝑑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)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disebut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sebagai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metrik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45CD1FE-AE32-E262-FC11-DEBB582EF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86" y="5649153"/>
                <a:ext cx="7999126" cy="2585323"/>
              </a:xfrm>
              <a:prstGeom prst="rect">
                <a:avLst/>
              </a:prstGeom>
              <a:blipFill>
                <a:blip r:embed="rId5"/>
                <a:stretch>
                  <a:fillRect l="-686" t="-1415" r="-610" b="-283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Google Shape;168;p26">
            <a:extLst>
              <a:ext uri="{FF2B5EF4-FFF2-40B4-BE49-F238E27FC236}">
                <a16:creationId xmlns:a16="http://schemas.microsoft.com/office/drawing/2014/main" id="{AB87CCE1-33B4-9F7B-608D-4A6A5415DFD3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82905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/>
          <p:cNvSpPr/>
          <p:nvPr/>
        </p:nvSpPr>
        <p:spPr>
          <a:xfrm>
            <a:off x="8886389" y="256207"/>
            <a:ext cx="257700" cy="31680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7"/>
          <p:cNvSpPr txBox="1"/>
          <p:nvPr/>
        </p:nvSpPr>
        <p:spPr>
          <a:xfrm>
            <a:off x="4354830" y="81794"/>
            <a:ext cx="45174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Latar</a:t>
            </a: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Belakang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1" name="Google Shape;181;p27"/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/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/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/>
          <p:cNvSpPr txBox="1"/>
          <p:nvPr/>
        </p:nvSpPr>
        <p:spPr>
          <a:xfrm>
            <a:off x="8730234" y="4871371"/>
            <a:ext cx="2775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7"/>
          <p:cNvSpPr txBox="1"/>
          <p:nvPr/>
        </p:nvSpPr>
        <p:spPr>
          <a:xfrm>
            <a:off x="716981" y="892267"/>
            <a:ext cx="2047234" cy="1085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22222"/>
              </a:lnSpc>
              <a:spcBef>
                <a:spcPts val="0"/>
              </a:spcBef>
              <a:buNone/>
            </a:pPr>
            <a:r>
              <a:rPr lang="en-US" sz="2400" b="1" i="1" dirty="0" err="1">
                <a:solidFill>
                  <a:srgbClr val="002060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Teorema</a:t>
            </a:r>
            <a:r>
              <a:rPr lang="en-US" sz="2400" b="1" i="1" dirty="0">
                <a:solidFill>
                  <a:srgbClr val="002060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 </a:t>
            </a:r>
            <a:r>
              <a:rPr lang="en-US" sz="2400" b="1" i="1" dirty="0" err="1">
                <a:solidFill>
                  <a:srgbClr val="002060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Titik</a:t>
            </a:r>
            <a:r>
              <a:rPr lang="en-US" sz="2400" b="1" i="1" dirty="0">
                <a:solidFill>
                  <a:srgbClr val="002060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 Tetap</a:t>
            </a:r>
            <a:endParaRPr sz="2400" b="1" i="1" dirty="0">
              <a:solidFill>
                <a:srgbClr val="002060"/>
              </a:solidFill>
              <a:latin typeface="Poppins SemiBold" panose="00000700000000000000" pitchFamily="2" charset="0"/>
              <a:ea typeface="Poppins"/>
              <a:cs typeface="Poppins SemiBold" panose="00000700000000000000" pitchFamily="2" charset="0"/>
              <a:sym typeface="Poppins"/>
            </a:endParaRP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DEA9A433-A29D-23F8-E1DB-1218BBCAAA3C}"/>
              </a:ext>
            </a:extLst>
          </p:cNvPr>
          <p:cNvSpPr txBox="1">
            <a:spLocks/>
          </p:cNvSpPr>
          <p:nvPr/>
        </p:nvSpPr>
        <p:spPr>
          <a:xfrm>
            <a:off x="3844235" y="1051893"/>
            <a:ext cx="2993170" cy="76526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i="1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Pemetaan</a:t>
            </a:r>
            <a:r>
              <a:rPr lang="en-US" i="1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i="1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kontraksi</a:t>
            </a:r>
            <a:r>
              <a:rPr lang="en-US" i="1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Banach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E0C180D-B8BF-BBC4-5F28-71D76D5162B5}"/>
              </a:ext>
            </a:extLst>
          </p:cNvPr>
          <p:cNvCxnSpPr>
            <a:cxnSpLocks/>
            <a:stCxn id="186" idx="3"/>
            <a:endCxn id="2" idx="1"/>
          </p:cNvCxnSpPr>
          <p:nvPr/>
        </p:nvCxnSpPr>
        <p:spPr>
          <a:xfrm flipV="1">
            <a:off x="2764215" y="1434528"/>
            <a:ext cx="1080020" cy="629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E6F2E78-A4DA-0DF4-8BA8-0FF1C690B3F9}"/>
              </a:ext>
            </a:extLst>
          </p:cNvPr>
          <p:cNvSpPr txBox="1"/>
          <p:nvPr/>
        </p:nvSpPr>
        <p:spPr>
          <a:xfrm>
            <a:off x="2934572" y="1157528"/>
            <a:ext cx="7393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diawali</a:t>
            </a:r>
            <a:endParaRPr lang="en-ID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68F11A1-14FA-E012-A0C5-C84662996E52}"/>
              </a:ext>
            </a:extLst>
          </p:cNvPr>
          <p:cNvCxnSpPr>
            <a:cxnSpLocks/>
            <a:stCxn id="2" idx="2"/>
            <a:endCxn id="23" idx="0"/>
          </p:cNvCxnSpPr>
          <p:nvPr/>
        </p:nvCxnSpPr>
        <p:spPr>
          <a:xfrm>
            <a:off x="5340820" y="1817162"/>
            <a:ext cx="0" cy="983957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8D0D928-3DBE-C99F-DCFC-44B8365B3D9C}"/>
              </a:ext>
            </a:extLst>
          </p:cNvPr>
          <p:cNvSpPr txBox="1">
            <a:spLocks/>
          </p:cNvSpPr>
          <p:nvPr/>
        </p:nvSpPr>
        <p:spPr>
          <a:xfrm>
            <a:off x="4138960" y="2801119"/>
            <a:ext cx="2403720" cy="8245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i="1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Pemetaan</a:t>
            </a:r>
            <a:r>
              <a:rPr lang="en-US" i="1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i="1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Nonekspansif</a:t>
            </a:r>
            <a:endParaRPr lang="en-US" i="1" dirty="0">
              <a:solidFill>
                <a:srgbClr val="002060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6C3495-6C5D-C9BE-BBEE-780CDA984BF1}"/>
              </a:ext>
            </a:extLst>
          </p:cNvPr>
          <p:cNvSpPr txBox="1"/>
          <p:nvPr/>
        </p:nvSpPr>
        <p:spPr>
          <a:xfrm>
            <a:off x="5340820" y="2029692"/>
            <a:ext cx="13977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mengalami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perkembangan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Google Shape;168;p26">
            <a:extLst>
              <a:ext uri="{FF2B5EF4-FFF2-40B4-BE49-F238E27FC236}">
                <a16:creationId xmlns:a16="http://schemas.microsoft.com/office/drawing/2014/main" id="{FE146A09-935C-7D33-F7DB-5CF650523B62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428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FB0FAC2-85EA-E7E0-0390-CEBE68DE6861}"/>
              </a:ext>
            </a:extLst>
          </p:cNvPr>
          <p:cNvCxnSpPr>
            <a:cxnSpLocks/>
          </p:cNvCxnSpPr>
          <p:nvPr/>
        </p:nvCxnSpPr>
        <p:spPr>
          <a:xfrm>
            <a:off x="5046095" y="4016177"/>
            <a:ext cx="0" cy="1074663"/>
          </a:xfrm>
          <a:prstGeom prst="straightConnector1">
            <a:avLst/>
          </a:prstGeom>
          <a:ln w="38100">
            <a:noFill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74" name="Google Shape;174;p27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/>
          <p:cNvSpPr/>
          <p:nvPr/>
        </p:nvSpPr>
        <p:spPr>
          <a:xfrm>
            <a:off x="8886389" y="256207"/>
            <a:ext cx="257700" cy="31680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7"/>
          <p:cNvSpPr txBox="1"/>
          <p:nvPr/>
        </p:nvSpPr>
        <p:spPr>
          <a:xfrm>
            <a:off x="4354830" y="81794"/>
            <a:ext cx="45174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Latar</a:t>
            </a: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Belakang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1" name="Google Shape;181;p27"/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/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/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/>
          <p:cNvSpPr txBox="1"/>
          <p:nvPr/>
        </p:nvSpPr>
        <p:spPr>
          <a:xfrm>
            <a:off x="8730234" y="4871371"/>
            <a:ext cx="2775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FD5B971-B3AD-3766-24C9-DCF349174624}"/>
                  </a:ext>
                </a:extLst>
              </p:cNvPr>
              <p:cNvSpPr txBox="1"/>
              <p:nvPr/>
            </p:nvSpPr>
            <p:spPr>
              <a:xfrm>
                <a:off x="655986" y="1858451"/>
                <a:ext cx="7999126" cy="2585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SzPct val="100000"/>
                </a:pP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Diberikan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𝐵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,‖⋅‖</m:t>
                        </m:r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adalah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Banach dan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𝑊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adalah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himpunan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bagian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tak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kosong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dari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𝐵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.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Pemetaan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𝑇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: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𝑊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→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𝑊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disebut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pemetaan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nonekspansif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jika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untuk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setiap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𝑦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∈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𝑊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berlaku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</a:p>
              <a:p>
                <a:pPr algn="just">
                  <a:buSzPct val="100000"/>
                </a:pPr>
                <a:endParaRPr lang="en-US" sz="18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algn="just"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𝑇𝑥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−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𝑇𝑦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≤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𝑥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−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𝑦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.</m:t>
                      </m:r>
                    </m:oMath>
                  </m:oMathPara>
                </a14:m>
                <a:endParaRPr lang="en-US" sz="18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algn="just">
                  <a:buSzPct val="100000"/>
                </a:pPr>
                <a:endParaRPr lang="en-US" sz="18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algn="just">
                  <a:buSzPct val="100000"/>
                </a:pP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Pemetaan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nonekspansif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dijamin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memiliki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titik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tetap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jika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𝑊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adalah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himpunan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bagian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tertutup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dan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terbatas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dari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Banach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konveks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seragam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FD5B971-B3AD-3766-24C9-DCF349174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86" y="1858451"/>
                <a:ext cx="7999126" cy="2585323"/>
              </a:xfrm>
              <a:prstGeom prst="rect">
                <a:avLst/>
              </a:prstGeom>
              <a:blipFill>
                <a:blip r:embed="rId5"/>
                <a:stretch>
                  <a:fillRect l="-686" t="-1415" r="-610" b="-283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oogle Shape;204;p28">
            <a:extLst>
              <a:ext uri="{FF2B5EF4-FFF2-40B4-BE49-F238E27FC236}">
                <a16:creationId xmlns:a16="http://schemas.microsoft.com/office/drawing/2014/main" id="{000B6FC4-F9A7-E922-B43B-681E3AE93736}"/>
              </a:ext>
            </a:extLst>
          </p:cNvPr>
          <p:cNvGrpSpPr/>
          <p:nvPr/>
        </p:nvGrpSpPr>
        <p:grpSpPr>
          <a:xfrm>
            <a:off x="0" y="1385166"/>
            <a:ext cx="6320839" cy="396861"/>
            <a:chOff x="0" y="1294124"/>
            <a:chExt cx="5320356" cy="529148"/>
          </a:xfrm>
        </p:grpSpPr>
        <p:sp>
          <p:nvSpPr>
            <p:cNvPr id="4" name="Google Shape;205;p28">
              <a:extLst>
                <a:ext uri="{FF2B5EF4-FFF2-40B4-BE49-F238E27FC236}">
                  <a16:creationId xmlns:a16="http://schemas.microsoft.com/office/drawing/2014/main" id="{FD1B7970-0FE7-13DE-E5B7-430983C3B048}"/>
                </a:ext>
              </a:extLst>
            </p:cNvPr>
            <p:cNvSpPr/>
            <p:nvPr/>
          </p:nvSpPr>
          <p:spPr>
            <a:xfrm>
              <a:off x="0" y="1359772"/>
              <a:ext cx="4649100" cy="463500"/>
            </a:xfrm>
            <a:prstGeom prst="rect">
              <a:avLst/>
            </a:prstGeom>
            <a:gradFill>
              <a:gsLst>
                <a:gs pos="0">
                  <a:srgbClr val="F5F7FC">
                    <a:alpha val="0"/>
                  </a:srgbClr>
                </a:gs>
                <a:gs pos="73000">
                  <a:srgbClr val="F5AA2D"/>
                </a:gs>
                <a:gs pos="100000">
                  <a:srgbClr val="F5AA2D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206;p28">
              <a:extLst>
                <a:ext uri="{FF2B5EF4-FFF2-40B4-BE49-F238E27FC236}">
                  <a16:creationId xmlns:a16="http://schemas.microsoft.com/office/drawing/2014/main" id="{3EF0CF6F-6751-C5C4-5767-2C497FC50CC3}"/>
                </a:ext>
              </a:extLst>
            </p:cNvPr>
            <p:cNvSpPr txBox="1"/>
            <p:nvPr/>
          </p:nvSpPr>
          <p:spPr>
            <a:xfrm>
              <a:off x="552155" y="1294124"/>
              <a:ext cx="4768201" cy="5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b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(Browder, 1965)</a:t>
              </a:r>
              <a:endParaRPr sz="1800" dirty="0">
                <a:solidFill>
                  <a:schemeClr val="dk1"/>
                </a:solidFill>
                <a:latin typeface="Poppins SemiBold" panose="00000700000000000000" pitchFamily="2" charset="0"/>
                <a:ea typeface="Poppins SemiBold"/>
                <a:cs typeface="Poppins SemiBold" panose="00000700000000000000" pitchFamily="2" charset="0"/>
                <a:sym typeface="Poppins SemiBold"/>
              </a:endParaRPr>
            </a:p>
          </p:txBody>
        </p:sp>
      </p:grpSp>
      <p:sp>
        <p:nvSpPr>
          <p:cNvPr id="9" name="Google Shape;186;p27">
            <a:extLst>
              <a:ext uri="{FF2B5EF4-FFF2-40B4-BE49-F238E27FC236}">
                <a16:creationId xmlns:a16="http://schemas.microsoft.com/office/drawing/2014/main" id="{0A945FB4-EEC5-255B-53D9-47E828E060FE}"/>
              </a:ext>
            </a:extLst>
          </p:cNvPr>
          <p:cNvSpPr txBox="1"/>
          <p:nvPr/>
        </p:nvSpPr>
        <p:spPr>
          <a:xfrm>
            <a:off x="596429" y="519920"/>
            <a:ext cx="3415398" cy="635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22222"/>
              </a:lnSpc>
              <a:spcBef>
                <a:spcPts val="0"/>
              </a:spcBef>
              <a:buNone/>
            </a:pPr>
            <a:r>
              <a:rPr lang="en-US" sz="2400" b="1" dirty="0" err="1">
                <a:solidFill>
                  <a:srgbClr val="002060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Teorema</a:t>
            </a:r>
            <a:r>
              <a:rPr lang="en-US" sz="2400" b="1" dirty="0">
                <a:solidFill>
                  <a:srgbClr val="002060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Titik</a:t>
            </a:r>
            <a:r>
              <a:rPr lang="en-US" sz="2400" b="1" dirty="0">
                <a:solidFill>
                  <a:srgbClr val="002060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 Tetap</a:t>
            </a:r>
            <a:endParaRPr sz="2400" b="1" dirty="0">
              <a:solidFill>
                <a:srgbClr val="002060"/>
              </a:solidFill>
              <a:latin typeface="Poppins SemiBold" panose="00000700000000000000" pitchFamily="2" charset="0"/>
              <a:ea typeface="Poppins"/>
              <a:cs typeface="Poppins SemiBold" panose="00000700000000000000" pitchFamily="2" charset="0"/>
              <a:sym typeface="Poppins"/>
            </a:endParaRP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1BC0701-CEF3-C63D-F1E8-4ABEF5EE0313}"/>
              </a:ext>
            </a:extLst>
          </p:cNvPr>
          <p:cNvSpPr txBox="1">
            <a:spLocks/>
          </p:cNvSpPr>
          <p:nvPr/>
        </p:nvSpPr>
        <p:spPr>
          <a:xfrm>
            <a:off x="596429" y="1017976"/>
            <a:ext cx="4138436" cy="4192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Pemetaan</a:t>
            </a:r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Nonekspansif</a:t>
            </a:r>
            <a:endParaRPr lang="en-US" dirty="0">
              <a:solidFill>
                <a:srgbClr val="002060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2" name="Google Shape;186;p27">
            <a:extLst>
              <a:ext uri="{FF2B5EF4-FFF2-40B4-BE49-F238E27FC236}">
                <a16:creationId xmlns:a16="http://schemas.microsoft.com/office/drawing/2014/main" id="{635A51CE-11A4-964A-2006-5C5622877AE4}"/>
              </a:ext>
            </a:extLst>
          </p:cNvPr>
          <p:cNvSpPr txBox="1"/>
          <p:nvPr/>
        </p:nvSpPr>
        <p:spPr>
          <a:xfrm>
            <a:off x="3821176" y="525575"/>
            <a:ext cx="1113289" cy="635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22222"/>
              </a:lnSpc>
              <a:spcBef>
                <a:spcPts val="0"/>
              </a:spcBef>
              <a:buNone/>
            </a:pPr>
            <a:r>
              <a:rPr lang="en-US" sz="2400" b="1" dirty="0" err="1">
                <a:solidFill>
                  <a:srgbClr val="002060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untuk</a:t>
            </a:r>
            <a:endParaRPr sz="2400" b="1" dirty="0">
              <a:solidFill>
                <a:srgbClr val="002060"/>
              </a:solidFill>
              <a:latin typeface="Poppins SemiBold" panose="00000700000000000000" pitchFamily="2" charset="0"/>
              <a:ea typeface="Poppins"/>
              <a:cs typeface="Poppins SemiBold" panose="00000700000000000000" pitchFamily="2" charset="0"/>
              <a:sym typeface="Poppins"/>
            </a:endParaRPr>
          </a:p>
        </p:txBody>
      </p:sp>
      <p:sp>
        <p:nvSpPr>
          <p:cNvPr id="2" name="Google Shape;168;p26">
            <a:extLst>
              <a:ext uri="{FF2B5EF4-FFF2-40B4-BE49-F238E27FC236}">
                <a16:creationId xmlns:a16="http://schemas.microsoft.com/office/drawing/2014/main" id="{8D5D4378-CED1-3ADB-4EA1-CD3A9A94DA2B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28815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E8463BE5-CF24-163D-C497-6D10ADF52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AD65DD0-3EF3-2093-E6B0-1C28971BC040}"/>
                  </a:ext>
                </a:extLst>
              </p:cNvPr>
              <p:cNvSpPr txBox="1"/>
              <p:nvPr/>
            </p:nvSpPr>
            <p:spPr>
              <a:xfrm>
                <a:off x="655986" y="4171180"/>
                <a:ext cx="8158500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SzPct val="100000"/>
                </a:pP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Diberikan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𝐵</m:t>
                        </m:r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en-US" sz="1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⋅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adalah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Banach dan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𝑇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: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𝐵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→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𝐵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adalah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suatu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pemetaan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,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serta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∈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𝐵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.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Untuk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setiap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𝑛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bilangan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asli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,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skema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iterasi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Picard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diberikan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oleh </a:t>
                </a:r>
              </a:p>
              <a:p>
                <a:pPr algn="just"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𝑛</m:t>
                          </m:r>
                          <m: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+1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𝑇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.</m:t>
                      </m:r>
                    </m:oMath>
                  </m:oMathPara>
                </a14:m>
                <a:endParaRPr lang="en-US" sz="18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algn="just">
                  <a:buSzPct val="100000"/>
                </a:pPr>
                <a:endParaRPr lang="en-US" sz="18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algn="just">
                  <a:buSzPct val="100000"/>
                </a:pP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Skema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ini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konvergen</a:t>
                </a:r>
                <a:r>
                  <a:rPr lang="en-US" sz="1800" b="1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ke</a:t>
                </a:r>
                <a:r>
                  <a:rPr lang="en-US" sz="1800" b="1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titik</a:t>
                </a:r>
                <a:r>
                  <a:rPr lang="en-US" sz="1800" b="1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tetap</a:t>
                </a:r>
                <a:r>
                  <a:rPr lang="en-US" sz="1800" b="1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dari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𝑇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jika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𝑇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adalah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pemetaan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kontraktif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,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tetapi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tidak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selalu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konvergen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untuk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pemetaan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nonekspansif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AD65DD0-3EF3-2093-E6B0-1C28971BC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86" y="4171180"/>
                <a:ext cx="8158500" cy="2308324"/>
              </a:xfrm>
              <a:prstGeom prst="rect">
                <a:avLst/>
              </a:prstGeom>
              <a:blipFill>
                <a:blip r:embed="rId3"/>
                <a:stretch>
                  <a:fillRect l="-673" t="-1319" r="-598" b="-316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4" name="Google Shape;174;p27" descr="Icon&#10;&#10;Description automatically generated">
            <a:extLst>
              <a:ext uri="{FF2B5EF4-FFF2-40B4-BE49-F238E27FC236}">
                <a16:creationId xmlns:a16="http://schemas.microsoft.com/office/drawing/2014/main" id="{07541A18-B5D3-A443-E611-C7F9ECF4931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>
            <a:extLst>
              <a:ext uri="{FF2B5EF4-FFF2-40B4-BE49-F238E27FC236}">
                <a16:creationId xmlns:a16="http://schemas.microsoft.com/office/drawing/2014/main" id="{DA9DC558-B5FE-7B08-068F-21D417CBA0A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>
            <a:extLst>
              <a:ext uri="{FF2B5EF4-FFF2-40B4-BE49-F238E27FC236}">
                <a16:creationId xmlns:a16="http://schemas.microsoft.com/office/drawing/2014/main" id="{3865AD3C-C12A-318E-FB3C-71BE2B352EF9}"/>
              </a:ext>
            </a:extLst>
          </p:cNvPr>
          <p:cNvSpPr/>
          <p:nvPr/>
        </p:nvSpPr>
        <p:spPr>
          <a:xfrm>
            <a:off x="8886389" y="256207"/>
            <a:ext cx="257700" cy="31680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7">
            <a:extLst>
              <a:ext uri="{FF2B5EF4-FFF2-40B4-BE49-F238E27FC236}">
                <a16:creationId xmlns:a16="http://schemas.microsoft.com/office/drawing/2014/main" id="{207FC96E-7D36-5412-9C68-EB8203D1A7B6}"/>
              </a:ext>
            </a:extLst>
          </p:cNvPr>
          <p:cNvSpPr txBox="1"/>
          <p:nvPr/>
        </p:nvSpPr>
        <p:spPr>
          <a:xfrm>
            <a:off x="4354830" y="81794"/>
            <a:ext cx="45174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Latar</a:t>
            </a: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Belakang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1" name="Google Shape;181;p27">
            <a:extLst>
              <a:ext uri="{FF2B5EF4-FFF2-40B4-BE49-F238E27FC236}">
                <a16:creationId xmlns:a16="http://schemas.microsoft.com/office/drawing/2014/main" id="{E9767E61-620A-8918-018B-3C85BC68910F}"/>
              </a:ext>
            </a:extLst>
          </p:cNvPr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>
            <a:extLst>
              <a:ext uri="{FF2B5EF4-FFF2-40B4-BE49-F238E27FC236}">
                <a16:creationId xmlns:a16="http://schemas.microsoft.com/office/drawing/2014/main" id="{533D844C-80AD-7B71-B231-CF048C6C3B3C}"/>
              </a:ext>
            </a:extLst>
          </p:cNvPr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>
            <a:extLst>
              <a:ext uri="{FF2B5EF4-FFF2-40B4-BE49-F238E27FC236}">
                <a16:creationId xmlns:a16="http://schemas.microsoft.com/office/drawing/2014/main" id="{0A164897-3176-AB9C-CC29-52C0B5ED6668}"/>
              </a:ext>
            </a:extLst>
          </p:cNvPr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>
            <a:extLst>
              <a:ext uri="{FF2B5EF4-FFF2-40B4-BE49-F238E27FC236}">
                <a16:creationId xmlns:a16="http://schemas.microsoft.com/office/drawing/2014/main" id="{EFAF1F05-DB29-EEB1-FDAC-60715FABE7E3}"/>
              </a:ext>
            </a:extLst>
          </p:cNvPr>
          <p:cNvSpPr txBox="1"/>
          <p:nvPr/>
        </p:nvSpPr>
        <p:spPr>
          <a:xfrm>
            <a:off x="8730233" y="4871371"/>
            <a:ext cx="356101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" name="Google Shape;204;p28">
            <a:extLst>
              <a:ext uri="{FF2B5EF4-FFF2-40B4-BE49-F238E27FC236}">
                <a16:creationId xmlns:a16="http://schemas.microsoft.com/office/drawing/2014/main" id="{8C0F8DA2-3CEC-05B6-67CA-76C1A57956C3}"/>
              </a:ext>
            </a:extLst>
          </p:cNvPr>
          <p:cNvGrpSpPr/>
          <p:nvPr/>
        </p:nvGrpSpPr>
        <p:grpSpPr>
          <a:xfrm>
            <a:off x="0" y="1200145"/>
            <a:ext cx="6320838" cy="396861"/>
            <a:chOff x="0" y="1294124"/>
            <a:chExt cx="5320355" cy="529148"/>
          </a:xfrm>
        </p:grpSpPr>
        <p:sp>
          <p:nvSpPr>
            <p:cNvPr id="6" name="Google Shape;205;p28">
              <a:extLst>
                <a:ext uri="{FF2B5EF4-FFF2-40B4-BE49-F238E27FC236}">
                  <a16:creationId xmlns:a16="http://schemas.microsoft.com/office/drawing/2014/main" id="{68729CE4-66C9-FA8C-1C1C-999B7BE369B5}"/>
                </a:ext>
              </a:extLst>
            </p:cNvPr>
            <p:cNvSpPr/>
            <p:nvPr/>
          </p:nvSpPr>
          <p:spPr>
            <a:xfrm>
              <a:off x="0" y="1359772"/>
              <a:ext cx="4649100" cy="463500"/>
            </a:xfrm>
            <a:prstGeom prst="rect">
              <a:avLst/>
            </a:prstGeom>
            <a:gradFill>
              <a:gsLst>
                <a:gs pos="0">
                  <a:srgbClr val="F5F7FC">
                    <a:alpha val="0"/>
                  </a:srgbClr>
                </a:gs>
                <a:gs pos="73000">
                  <a:srgbClr val="F5AA2D"/>
                </a:gs>
                <a:gs pos="100000">
                  <a:srgbClr val="F5AA2D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206;p28">
              <a:extLst>
                <a:ext uri="{FF2B5EF4-FFF2-40B4-BE49-F238E27FC236}">
                  <a16:creationId xmlns:a16="http://schemas.microsoft.com/office/drawing/2014/main" id="{8DA58727-B41E-9054-C839-2E16D64CD939}"/>
                </a:ext>
              </a:extLst>
            </p:cNvPr>
            <p:cNvSpPr txBox="1"/>
            <p:nvPr/>
          </p:nvSpPr>
          <p:spPr>
            <a:xfrm>
              <a:off x="552155" y="1294124"/>
              <a:ext cx="4768200" cy="5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b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dk1"/>
                </a:buClr>
                <a:buSzPts val="1800"/>
              </a:pPr>
              <a:r>
                <a:rPr lang="en-US" sz="18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(Ullah </a:t>
              </a:r>
              <a:r>
                <a:rPr lang="en-US" sz="1800" dirty="0" err="1">
                  <a:latin typeface="Poppins SemiBold" panose="00000700000000000000" pitchFamily="2" charset="0"/>
                  <a:cs typeface="Poppins SemiBold" panose="00000700000000000000" pitchFamily="2" charset="0"/>
                </a:rPr>
                <a:t>dkk</a:t>
              </a:r>
              <a:r>
                <a:rPr lang="en-US" sz="18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., 2023)</a:t>
              </a:r>
              <a:endParaRPr sz="1800" dirty="0">
                <a:solidFill>
                  <a:schemeClr val="dk1"/>
                </a:solidFill>
                <a:latin typeface="Poppins SemiBold" panose="00000700000000000000" pitchFamily="2" charset="0"/>
                <a:ea typeface="Poppins SemiBold"/>
                <a:cs typeface="Poppins SemiBold" panose="00000700000000000000" pitchFamily="2" charset="0"/>
                <a:sym typeface="Poppins SemiBold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BAF7FE4-FD26-B67D-00A0-70AEE261442E}"/>
                  </a:ext>
                </a:extLst>
              </p:cNvPr>
              <p:cNvSpPr txBox="1"/>
              <p:nvPr/>
            </p:nvSpPr>
            <p:spPr>
              <a:xfrm>
                <a:off x="624609" y="1699268"/>
                <a:ext cx="7999126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SzPct val="100000"/>
                </a:pP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Diberikan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𝐵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⋅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adalah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Banach dan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𝑊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adalah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himpunan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bagian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tak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kosong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dari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𝐵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.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Pemetaan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𝑇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: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𝑊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→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𝑊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disebut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pemetaan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(</m:t>
                    </m:r>
                    <m:r>
                      <a:rPr lang="en-US" sz="1800" b="1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𝜶</m:t>
                    </m:r>
                    <m:r>
                      <a:rPr lang="en-US" sz="1800" b="1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  <m:r>
                      <a:rPr lang="en-US" sz="1800" b="1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𝜷</m:t>
                    </m:r>
                    <m:r>
                      <a:rPr lang="en-US" sz="1800" b="1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  <m:r>
                      <a:rPr lang="en-US" sz="1800" b="1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𝜸</m:t>
                    </m:r>
                    <m:r>
                      <a:rPr lang="en-US" sz="1800" b="1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)</m:t>
                    </m:r>
                  </m:oMath>
                </a14:m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nonekspansif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jika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untuk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setiap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𝑦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∈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𝑊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terdapat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bilangan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real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tak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negatif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𝛼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𝛽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𝛾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dengan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𝛾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∈[0,1)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𝛼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+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𝛾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≤1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sedemikian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hingga</a:t>
                </a:r>
                <a:endParaRPr lang="en-US" sz="18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algn="just">
                  <a:buSzPct val="100000"/>
                </a:pPr>
                <a:endParaRPr lang="en-US" sz="18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algn="ctr">
                  <a:buSzPct val="100000"/>
                </a:pP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𝑇𝑥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−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𝑇𝑦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≤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𝛼</m:t>
                    </m:r>
                    <m:d>
                      <m:dPr>
                        <m:begChr m:val="‖"/>
                        <m:endChr m:val="‖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𝑥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−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𝑦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+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𝛽</m:t>
                    </m:r>
                    <m:d>
                      <m:dPr>
                        <m:begChr m:val="‖"/>
                        <m:endChr m:val="‖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𝑥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−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𝑇𝑥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+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𝛾</m:t>
                    </m:r>
                    <m:d>
                      <m:dPr>
                        <m:begChr m:val="‖"/>
                        <m:endChr m:val="‖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𝑦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−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𝑇𝑥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.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BAF7FE4-FD26-B67D-00A0-70AEE2614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609" y="1699268"/>
                <a:ext cx="7999126" cy="2031325"/>
              </a:xfrm>
              <a:prstGeom prst="rect">
                <a:avLst/>
              </a:prstGeom>
              <a:blipFill>
                <a:blip r:embed="rId6"/>
                <a:stretch>
                  <a:fillRect l="-609" t="-1802" r="-609" b="-1502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87520D2-BFC8-F738-5905-0DA10CCCDF35}"/>
              </a:ext>
            </a:extLst>
          </p:cNvPr>
          <p:cNvSpPr txBox="1">
            <a:spLocks/>
          </p:cNvSpPr>
          <p:nvPr/>
        </p:nvSpPr>
        <p:spPr>
          <a:xfrm>
            <a:off x="435138" y="736911"/>
            <a:ext cx="2603736" cy="4547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Perumuman</a:t>
            </a:r>
            <a:endParaRPr lang="en-US" dirty="0">
              <a:solidFill>
                <a:srgbClr val="002060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356C9267-35FD-0D05-5144-3AEAD8B6A75F}"/>
              </a:ext>
            </a:extLst>
          </p:cNvPr>
          <p:cNvSpPr txBox="1">
            <a:spLocks/>
          </p:cNvSpPr>
          <p:nvPr/>
        </p:nvSpPr>
        <p:spPr>
          <a:xfrm>
            <a:off x="2616870" y="772692"/>
            <a:ext cx="4138436" cy="4192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Pemetaan</a:t>
            </a:r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Nonekspansif</a:t>
            </a:r>
            <a:endParaRPr lang="en-US" dirty="0">
              <a:solidFill>
                <a:srgbClr val="002060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65F13CE-87FE-CD02-F7C4-05013DF3E23C}"/>
              </a:ext>
            </a:extLst>
          </p:cNvPr>
          <p:cNvSpPr txBox="1">
            <a:spLocks/>
          </p:cNvSpPr>
          <p:nvPr/>
        </p:nvSpPr>
        <p:spPr>
          <a:xfrm>
            <a:off x="-5137504" y="752339"/>
            <a:ext cx="3698844" cy="4447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Aproksimasi</a:t>
            </a:r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titik</a:t>
            </a:r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tetap</a:t>
            </a:r>
            <a:endParaRPr lang="en-US" dirty="0">
              <a:solidFill>
                <a:srgbClr val="002060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2" name="Google Shape;205;p28">
            <a:extLst>
              <a:ext uri="{FF2B5EF4-FFF2-40B4-BE49-F238E27FC236}">
                <a16:creationId xmlns:a16="http://schemas.microsoft.com/office/drawing/2014/main" id="{63DF4A4C-783F-5DF8-EE16-F67E76BAFC00}"/>
              </a:ext>
            </a:extLst>
          </p:cNvPr>
          <p:cNvSpPr/>
          <p:nvPr/>
        </p:nvSpPr>
        <p:spPr>
          <a:xfrm>
            <a:off x="-5793490" y="1244462"/>
            <a:ext cx="5523355" cy="347625"/>
          </a:xfrm>
          <a:prstGeom prst="rect">
            <a:avLst/>
          </a:prstGeom>
          <a:gradFill>
            <a:gsLst>
              <a:gs pos="0">
                <a:srgbClr val="F5F7FC">
                  <a:alpha val="0"/>
                </a:srgbClr>
              </a:gs>
              <a:gs pos="73000">
                <a:srgbClr val="F5AA2D"/>
              </a:gs>
              <a:gs pos="100000">
                <a:srgbClr val="F5AA2D"/>
              </a:gs>
            </a:gsLst>
            <a:lin ang="10800025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206;p28">
            <a:extLst>
              <a:ext uri="{FF2B5EF4-FFF2-40B4-BE49-F238E27FC236}">
                <a16:creationId xmlns:a16="http://schemas.microsoft.com/office/drawing/2014/main" id="{327C41B2-A244-8CE0-2FD1-F28FFBABB862}"/>
              </a:ext>
            </a:extLst>
          </p:cNvPr>
          <p:cNvSpPr txBox="1"/>
          <p:nvPr/>
        </p:nvSpPr>
        <p:spPr>
          <a:xfrm>
            <a:off x="-5137503" y="1195227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Skema </a:t>
            </a:r>
            <a:r>
              <a:rPr lang="en-US" sz="1800" dirty="0" err="1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Iterasi</a:t>
            </a: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" name="Google Shape;168;p26">
            <a:extLst>
              <a:ext uri="{FF2B5EF4-FFF2-40B4-BE49-F238E27FC236}">
                <a16:creationId xmlns:a16="http://schemas.microsoft.com/office/drawing/2014/main" id="{572AE270-CCB4-2FF9-EDB5-9B7EBB453304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4917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/>
          <p:cNvSpPr/>
          <p:nvPr/>
        </p:nvSpPr>
        <p:spPr>
          <a:xfrm>
            <a:off x="8886389" y="256207"/>
            <a:ext cx="257700" cy="31680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7"/>
          <p:cNvSpPr txBox="1"/>
          <p:nvPr/>
        </p:nvSpPr>
        <p:spPr>
          <a:xfrm>
            <a:off x="4354830" y="81794"/>
            <a:ext cx="45174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Latar</a:t>
            </a: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Belakang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1" name="Google Shape;181;p27"/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/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/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/>
          <p:cNvSpPr txBox="1"/>
          <p:nvPr/>
        </p:nvSpPr>
        <p:spPr>
          <a:xfrm>
            <a:off x="8730234" y="4871371"/>
            <a:ext cx="41376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22F7C7-C50D-9F9C-2464-262F7861BD36}"/>
                  </a:ext>
                </a:extLst>
              </p:cNvPr>
              <p:cNvSpPr txBox="1"/>
              <p:nvPr/>
            </p:nvSpPr>
            <p:spPr>
              <a:xfrm>
                <a:off x="655986" y="1666810"/>
                <a:ext cx="8158500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SzPct val="100000"/>
                </a:pP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Diberikan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𝐵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⋅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adalah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Banach dan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𝑇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: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𝐵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→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𝐵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adalah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suatu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pemetaan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,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serta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∈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𝐵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.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Untuk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setiap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𝑛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bilangan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asli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,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skema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iterasi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Picard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diberikan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oleh </a:t>
                </a:r>
              </a:p>
              <a:p>
                <a:pPr algn="just"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𝑛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+1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𝑇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.</m:t>
                      </m:r>
                    </m:oMath>
                  </m:oMathPara>
                </a14:m>
                <a:endParaRPr lang="en-US" sz="18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algn="just">
                  <a:buSzPct val="100000"/>
                </a:pPr>
                <a:endParaRPr lang="en-US" sz="18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algn="just">
                  <a:buSzPct val="100000"/>
                </a:pP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Skema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ini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konvergen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ke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titik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tetap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dari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𝑇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jika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𝑇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adalah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pemetaan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kontraktif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,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tetapi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tidak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selalu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konvergen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untuk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pemetaan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nonekspansif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22F7C7-C50D-9F9C-2464-262F7861B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86" y="1666810"/>
                <a:ext cx="8158500" cy="2308324"/>
              </a:xfrm>
              <a:prstGeom prst="rect">
                <a:avLst/>
              </a:prstGeom>
              <a:blipFill>
                <a:blip r:embed="rId5"/>
                <a:stretch>
                  <a:fillRect l="-673" t="-1319" r="-598" b="-316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DEA9A433-A29D-23F8-E1DB-1218BBCAAA3C}"/>
              </a:ext>
            </a:extLst>
          </p:cNvPr>
          <p:cNvSpPr txBox="1">
            <a:spLocks/>
          </p:cNvSpPr>
          <p:nvPr/>
        </p:nvSpPr>
        <p:spPr>
          <a:xfrm>
            <a:off x="655986" y="752339"/>
            <a:ext cx="3698844" cy="4447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Aproksimasi</a:t>
            </a:r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titik</a:t>
            </a:r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tetap</a:t>
            </a:r>
            <a:endParaRPr lang="en-US" dirty="0">
              <a:solidFill>
                <a:srgbClr val="002060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5" name="Google Shape;205;p28">
            <a:extLst>
              <a:ext uri="{FF2B5EF4-FFF2-40B4-BE49-F238E27FC236}">
                <a16:creationId xmlns:a16="http://schemas.microsoft.com/office/drawing/2014/main" id="{4D3ECB2A-CA01-659B-AA33-24E1713558D8}"/>
              </a:ext>
            </a:extLst>
          </p:cNvPr>
          <p:cNvSpPr/>
          <p:nvPr/>
        </p:nvSpPr>
        <p:spPr>
          <a:xfrm>
            <a:off x="0" y="1244462"/>
            <a:ext cx="5523355" cy="347625"/>
          </a:xfrm>
          <a:prstGeom prst="rect">
            <a:avLst/>
          </a:prstGeom>
          <a:gradFill>
            <a:gsLst>
              <a:gs pos="0">
                <a:srgbClr val="F5F7FC">
                  <a:alpha val="0"/>
                </a:srgbClr>
              </a:gs>
              <a:gs pos="73000">
                <a:srgbClr val="F5AA2D"/>
              </a:gs>
              <a:gs pos="100000">
                <a:srgbClr val="F5AA2D"/>
              </a:gs>
            </a:gsLst>
            <a:lin ang="10800025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06;p28">
            <a:extLst>
              <a:ext uri="{FF2B5EF4-FFF2-40B4-BE49-F238E27FC236}">
                <a16:creationId xmlns:a16="http://schemas.microsoft.com/office/drawing/2014/main" id="{E0D072C0-DF3A-8524-1775-457DE73197D9}"/>
              </a:ext>
            </a:extLst>
          </p:cNvPr>
          <p:cNvSpPr txBox="1"/>
          <p:nvPr/>
        </p:nvSpPr>
        <p:spPr>
          <a:xfrm>
            <a:off x="655987" y="1195227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Skema </a:t>
            </a:r>
            <a:r>
              <a:rPr lang="en-US" sz="1800" dirty="0" err="1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Iterasi</a:t>
            </a: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" name="Google Shape;206;p28">
            <a:extLst>
              <a:ext uri="{FF2B5EF4-FFF2-40B4-BE49-F238E27FC236}">
                <a16:creationId xmlns:a16="http://schemas.microsoft.com/office/drawing/2014/main" id="{6CFC953C-9950-9DEC-6A30-FBB9D0AA9B28}"/>
              </a:ext>
            </a:extLst>
          </p:cNvPr>
          <p:cNvSpPr txBox="1"/>
          <p:nvPr/>
        </p:nvSpPr>
        <p:spPr>
          <a:xfrm>
            <a:off x="2245530" y="1197153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Picard</a:t>
            </a: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1" name="Google Shape;204;p28">
            <a:extLst>
              <a:ext uri="{FF2B5EF4-FFF2-40B4-BE49-F238E27FC236}">
                <a16:creationId xmlns:a16="http://schemas.microsoft.com/office/drawing/2014/main" id="{653F94A9-91F1-1A2B-634A-2C1B499BDC18}"/>
              </a:ext>
            </a:extLst>
          </p:cNvPr>
          <p:cNvGrpSpPr/>
          <p:nvPr/>
        </p:nvGrpSpPr>
        <p:grpSpPr>
          <a:xfrm>
            <a:off x="9526163" y="1200145"/>
            <a:ext cx="6320838" cy="396861"/>
            <a:chOff x="0" y="1294124"/>
            <a:chExt cx="5320355" cy="529148"/>
          </a:xfrm>
        </p:grpSpPr>
        <p:sp>
          <p:nvSpPr>
            <p:cNvPr id="13" name="Google Shape;205;p28">
              <a:extLst>
                <a:ext uri="{FF2B5EF4-FFF2-40B4-BE49-F238E27FC236}">
                  <a16:creationId xmlns:a16="http://schemas.microsoft.com/office/drawing/2014/main" id="{B429B015-41D2-CF1C-0F5D-59B04933713F}"/>
                </a:ext>
              </a:extLst>
            </p:cNvPr>
            <p:cNvSpPr/>
            <p:nvPr/>
          </p:nvSpPr>
          <p:spPr>
            <a:xfrm>
              <a:off x="0" y="1359772"/>
              <a:ext cx="4649100" cy="463500"/>
            </a:xfrm>
            <a:prstGeom prst="rect">
              <a:avLst/>
            </a:prstGeom>
            <a:gradFill>
              <a:gsLst>
                <a:gs pos="0">
                  <a:srgbClr val="F5F7FC">
                    <a:alpha val="0"/>
                  </a:srgbClr>
                </a:gs>
                <a:gs pos="73000">
                  <a:srgbClr val="F5AA2D"/>
                </a:gs>
                <a:gs pos="100000">
                  <a:srgbClr val="F5AA2D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206;p28">
              <a:extLst>
                <a:ext uri="{FF2B5EF4-FFF2-40B4-BE49-F238E27FC236}">
                  <a16:creationId xmlns:a16="http://schemas.microsoft.com/office/drawing/2014/main" id="{5DF472B3-7852-065F-1BCE-19E5E5CC2AA3}"/>
                </a:ext>
              </a:extLst>
            </p:cNvPr>
            <p:cNvSpPr txBox="1"/>
            <p:nvPr/>
          </p:nvSpPr>
          <p:spPr>
            <a:xfrm>
              <a:off x="552155" y="1294124"/>
              <a:ext cx="4768200" cy="5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b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dk1"/>
                </a:buClr>
                <a:buSzPts val="1800"/>
              </a:pPr>
              <a:r>
                <a:rPr lang="en-US" sz="18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(Ullah </a:t>
              </a:r>
              <a:r>
                <a:rPr lang="en-US" sz="1800" dirty="0" err="1">
                  <a:latin typeface="Poppins SemiBold" panose="00000700000000000000" pitchFamily="2" charset="0"/>
                  <a:cs typeface="Poppins SemiBold" panose="00000700000000000000" pitchFamily="2" charset="0"/>
                </a:rPr>
                <a:t>dkk</a:t>
              </a:r>
              <a:r>
                <a:rPr lang="en-US" sz="18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., 2023)</a:t>
              </a:r>
              <a:endParaRPr sz="1800" dirty="0">
                <a:solidFill>
                  <a:schemeClr val="dk1"/>
                </a:solidFill>
                <a:latin typeface="Poppins SemiBold" panose="00000700000000000000" pitchFamily="2" charset="0"/>
                <a:ea typeface="Poppins SemiBold"/>
                <a:cs typeface="Poppins SemiBold" panose="00000700000000000000" pitchFamily="2" charset="0"/>
                <a:sym typeface="Poppins SemiBold"/>
              </a:endParaRPr>
            </a:p>
          </p:txBody>
        </p:sp>
      </p:grp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3B7F6FD0-2CC5-B255-3B00-48DFC2705087}"/>
              </a:ext>
            </a:extLst>
          </p:cNvPr>
          <p:cNvSpPr txBox="1">
            <a:spLocks/>
          </p:cNvSpPr>
          <p:nvPr/>
        </p:nvSpPr>
        <p:spPr>
          <a:xfrm>
            <a:off x="9961301" y="736911"/>
            <a:ext cx="2603736" cy="4547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Perumuman</a:t>
            </a:r>
            <a:endParaRPr lang="en-US" dirty="0">
              <a:solidFill>
                <a:srgbClr val="002060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9C3E0586-8913-B15D-7CFA-4A7A8E5BD153}"/>
              </a:ext>
            </a:extLst>
          </p:cNvPr>
          <p:cNvSpPr txBox="1">
            <a:spLocks/>
          </p:cNvSpPr>
          <p:nvPr/>
        </p:nvSpPr>
        <p:spPr>
          <a:xfrm>
            <a:off x="12143033" y="772692"/>
            <a:ext cx="4138436" cy="4192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Pemetaan</a:t>
            </a:r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Nonekspansif</a:t>
            </a:r>
            <a:endParaRPr lang="en-US" dirty="0">
              <a:solidFill>
                <a:srgbClr val="002060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" name="Google Shape;168;p26">
            <a:extLst>
              <a:ext uri="{FF2B5EF4-FFF2-40B4-BE49-F238E27FC236}">
                <a16:creationId xmlns:a16="http://schemas.microsoft.com/office/drawing/2014/main" id="{74F44300-5AC4-CB04-CAE1-84F89071F4FF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59007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5DC20F40-4691-DE76-8450-7B11FBDB6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descr="Icon&#10;&#10;Description automatically generated">
            <a:extLst>
              <a:ext uri="{FF2B5EF4-FFF2-40B4-BE49-F238E27FC236}">
                <a16:creationId xmlns:a16="http://schemas.microsoft.com/office/drawing/2014/main" id="{5F01A7CA-2F0A-06E5-F30A-34DED1F1E83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>
            <a:extLst>
              <a:ext uri="{FF2B5EF4-FFF2-40B4-BE49-F238E27FC236}">
                <a16:creationId xmlns:a16="http://schemas.microsoft.com/office/drawing/2014/main" id="{057E122D-58DB-8C48-E25D-995F9E7E777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>
            <a:extLst>
              <a:ext uri="{FF2B5EF4-FFF2-40B4-BE49-F238E27FC236}">
                <a16:creationId xmlns:a16="http://schemas.microsoft.com/office/drawing/2014/main" id="{EED62562-2CD5-0EF1-466E-CE45C7FB54FD}"/>
              </a:ext>
            </a:extLst>
          </p:cNvPr>
          <p:cNvSpPr/>
          <p:nvPr/>
        </p:nvSpPr>
        <p:spPr>
          <a:xfrm>
            <a:off x="8886389" y="256207"/>
            <a:ext cx="257700" cy="31680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7">
            <a:extLst>
              <a:ext uri="{FF2B5EF4-FFF2-40B4-BE49-F238E27FC236}">
                <a16:creationId xmlns:a16="http://schemas.microsoft.com/office/drawing/2014/main" id="{3B0E85D2-2ED1-DF2F-1337-9BDA949D04F4}"/>
              </a:ext>
            </a:extLst>
          </p:cNvPr>
          <p:cNvSpPr txBox="1"/>
          <p:nvPr/>
        </p:nvSpPr>
        <p:spPr>
          <a:xfrm>
            <a:off x="4354830" y="81794"/>
            <a:ext cx="45174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Latar</a:t>
            </a: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Belakang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1" name="Google Shape;181;p27">
            <a:extLst>
              <a:ext uri="{FF2B5EF4-FFF2-40B4-BE49-F238E27FC236}">
                <a16:creationId xmlns:a16="http://schemas.microsoft.com/office/drawing/2014/main" id="{5DE621A0-09E5-6CEB-D58A-D224DC764C49}"/>
              </a:ext>
            </a:extLst>
          </p:cNvPr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>
            <a:extLst>
              <a:ext uri="{FF2B5EF4-FFF2-40B4-BE49-F238E27FC236}">
                <a16:creationId xmlns:a16="http://schemas.microsoft.com/office/drawing/2014/main" id="{4297FD1A-A7D4-2FA2-96D8-80DF8FEC5066}"/>
              </a:ext>
            </a:extLst>
          </p:cNvPr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>
            <a:extLst>
              <a:ext uri="{FF2B5EF4-FFF2-40B4-BE49-F238E27FC236}">
                <a16:creationId xmlns:a16="http://schemas.microsoft.com/office/drawing/2014/main" id="{27DCD1E3-EEAB-D01E-7062-1D4DF234A7E6}"/>
              </a:ext>
            </a:extLst>
          </p:cNvPr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>
            <a:extLst>
              <a:ext uri="{FF2B5EF4-FFF2-40B4-BE49-F238E27FC236}">
                <a16:creationId xmlns:a16="http://schemas.microsoft.com/office/drawing/2014/main" id="{CAA77E8F-B41A-0CB0-200F-2B998046DFB6}"/>
              </a:ext>
            </a:extLst>
          </p:cNvPr>
          <p:cNvSpPr txBox="1"/>
          <p:nvPr/>
        </p:nvSpPr>
        <p:spPr>
          <a:xfrm>
            <a:off x="8730233" y="4871371"/>
            <a:ext cx="347863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5A5A5"/>
                </a:solidFill>
              </a:rPr>
              <a:t>10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205;p28">
            <a:extLst>
              <a:ext uri="{FF2B5EF4-FFF2-40B4-BE49-F238E27FC236}">
                <a16:creationId xmlns:a16="http://schemas.microsoft.com/office/drawing/2014/main" id="{F80BF372-ECB6-01B3-64F4-3E1BD31F920A}"/>
              </a:ext>
            </a:extLst>
          </p:cNvPr>
          <p:cNvSpPr/>
          <p:nvPr/>
        </p:nvSpPr>
        <p:spPr>
          <a:xfrm>
            <a:off x="0" y="1244462"/>
            <a:ext cx="5523355" cy="347625"/>
          </a:xfrm>
          <a:prstGeom prst="rect">
            <a:avLst/>
          </a:prstGeom>
          <a:gradFill>
            <a:gsLst>
              <a:gs pos="0">
                <a:srgbClr val="F5F7FC">
                  <a:alpha val="0"/>
                </a:srgbClr>
              </a:gs>
              <a:gs pos="73000">
                <a:srgbClr val="F5AA2D"/>
              </a:gs>
              <a:gs pos="100000">
                <a:srgbClr val="F5AA2D"/>
              </a:gs>
            </a:gsLst>
            <a:lin ang="10800025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D5A874C-F987-B2F7-384A-7B6FB9DB2F69}"/>
                  </a:ext>
                </a:extLst>
              </p:cNvPr>
              <p:cNvSpPr txBox="1"/>
              <p:nvPr/>
            </p:nvSpPr>
            <p:spPr>
              <a:xfrm>
                <a:off x="655986" y="3201539"/>
                <a:ext cx="8158500" cy="1394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180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&amp;=</m:t>
                              </m:r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𝑇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,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&amp;=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𝑇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,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𝑛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&amp;=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𝑇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𝑇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18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algn="just">
                  <a:buSzPct val="100000"/>
                </a:pPr>
                <a:endParaRPr lang="en-US" sz="18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D5A874C-F987-B2F7-384A-7B6FB9DB2F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86" y="3201539"/>
                <a:ext cx="8158500" cy="13949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F94BEDEA-BF5E-D8CE-6DFB-7E13242BFD9C}"/>
              </a:ext>
            </a:extLst>
          </p:cNvPr>
          <p:cNvSpPr txBox="1">
            <a:spLocks/>
          </p:cNvSpPr>
          <p:nvPr/>
        </p:nvSpPr>
        <p:spPr>
          <a:xfrm>
            <a:off x="655986" y="752339"/>
            <a:ext cx="3698844" cy="4447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Aproksimasi</a:t>
            </a:r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titik</a:t>
            </a:r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tetap</a:t>
            </a:r>
            <a:endParaRPr lang="en-US" dirty="0">
              <a:solidFill>
                <a:srgbClr val="002060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4" name="Google Shape;206;p28">
            <a:extLst>
              <a:ext uri="{FF2B5EF4-FFF2-40B4-BE49-F238E27FC236}">
                <a16:creationId xmlns:a16="http://schemas.microsoft.com/office/drawing/2014/main" id="{9A128FE7-BDC5-47B2-0783-3798D28588E1}"/>
              </a:ext>
            </a:extLst>
          </p:cNvPr>
          <p:cNvSpPr txBox="1"/>
          <p:nvPr/>
        </p:nvSpPr>
        <p:spPr>
          <a:xfrm>
            <a:off x="655987" y="1195227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Skema </a:t>
            </a:r>
            <a:r>
              <a:rPr lang="en-US" sz="1800" dirty="0" err="1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Iterasi</a:t>
            </a: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" name="Google Shape;206;p28">
            <a:extLst>
              <a:ext uri="{FF2B5EF4-FFF2-40B4-BE49-F238E27FC236}">
                <a16:creationId xmlns:a16="http://schemas.microsoft.com/office/drawing/2014/main" id="{FEC6C799-EC8E-7F0C-1AD0-49480C4E2DBE}"/>
              </a:ext>
            </a:extLst>
          </p:cNvPr>
          <p:cNvSpPr txBox="1"/>
          <p:nvPr/>
        </p:nvSpPr>
        <p:spPr>
          <a:xfrm>
            <a:off x="2245530" y="1197153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JK, 2021</a:t>
            </a: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291678C-B59A-4B4A-4C48-E0711729F1B9}"/>
                  </a:ext>
                </a:extLst>
              </p:cNvPr>
              <p:cNvSpPr txBox="1"/>
              <p:nvPr/>
            </p:nvSpPr>
            <p:spPr>
              <a:xfrm>
                <a:off x="655986" y="1666810"/>
                <a:ext cx="8158500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SzPct val="100000"/>
                </a:pP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Diberikan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𝑊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adalah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himpunan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bagian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tertutup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dan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terbatas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dari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suatu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Banach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konveks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seragam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∈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𝑊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dan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{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𝑎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𝑛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},</m:t>
                    </m:r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,{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𝑐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𝑛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}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adalah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barisan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di </a:t>
                </a:r>
                <a14:m>
                  <m:oMath xmlns:m="http://schemas.openxmlformats.org/officeDocument/2006/math">
                    <m:d>
                      <m:dPr>
                        <m:endChr m:val="]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0,1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serta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𝑇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: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𝑊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→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𝑊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adalah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suatu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pemetaan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nonekspansif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.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Untuk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setiap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𝑛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bilangan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asli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,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berikut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diberikan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skema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iterasi</a:t>
                </a:r>
                <a:endParaRPr lang="en-US" sz="18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algn="just">
                  <a:buSzPct val="100000"/>
                </a:pPr>
                <a:endParaRPr lang="en-US" sz="18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291678C-B59A-4B4A-4C48-E0711729F1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86" y="1666810"/>
                <a:ext cx="8158500" cy="1754326"/>
              </a:xfrm>
              <a:prstGeom prst="rect">
                <a:avLst/>
              </a:prstGeom>
              <a:blipFill>
                <a:blip r:embed="rId7"/>
                <a:stretch>
                  <a:fillRect l="-673" t="-1736" r="-59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Google Shape;206;p28">
            <a:extLst>
              <a:ext uri="{FF2B5EF4-FFF2-40B4-BE49-F238E27FC236}">
                <a16:creationId xmlns:a16="http://schemas.microsoft.com/office/drawing/2014/main" id="{ADCC4004-04E6-A3FD-8EC8-A6CA78B4E298}"/>
              </a:ext>
            </a:extLst>
          </p:cNvPr>
          <p:cNvSpPr txBox="1"/>
          <p:nvPr/>
        </p:nvSpPr>
        <p:spPr>
          <a:xfrm>
            <a:off x="1372073" y="2731391"/>
            <a:ext cx="1050405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JK</a:t>
            </a: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" name="Google Shape;168;p26">
            <a:extLst>
              <a:ext uri="{FF2B5EF4-FFF2-40B4-BE49-F238E27FC236}">
                <a16:creationId xmlns:a16="http://schemas.microsoft.com/office/drawing/2014/main" id="{A96141B6-4835-3578-2562-8A6051D1EF73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9590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E340F761-01C4-1061-D277-51BAD82F9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descr="Icon&#10;&#10;Description automatically generated">
            <a:extLst>
              <a:ext uri="{FF2B5EF4-FFF2-40B4-BE49-F238E27FC236}">
                <a16:creationId xmlns:a16="http://schemas.microsoft.com/office/drawing/2014/main" id="{5EA5C764-6511-D607-40E1-84E42458F99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>
            <a:extLst>
              <a:ext uri="{FF2B5EF4-FFF2-40B4-BE49-F238E27FC236}">
                <a16:creationId xmlns:a16="http://schemas.microsoft.com/office/drawing/2014/main" id="{44B68D53-1D60-AD20-1D93-8153DADB318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>
            <a:extLst>
              <a:ext uri="{FF2B5EF4-FFF2-40B4-BE49-F238E27FC236}">
                <a16:creationId xmlns:a16="http://schemas.microsoft.com/office/drawing/2014/main" id="{1C6C0636-88AF-0157-988F-E933B5FE0970}"/>
              </a:ext>
            </a:extLst>
          </p:cNvPr>
          <p:cNvSpPr/>
          <p:nvPr/>
        </p:nvSpPr>
        <p:spPr>
          <a:xfrm>
            <a:off x="8886389" y="256207"/>
            <a:ext cx="257700" cy="31680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7">
            <a:extLst>
              <a:ext uri="{FF2B5EF4-FFF2-40B4-BE49-F238E27FC236}">
                <a16:creationId xmlns:a16="http://schemas.microsoft.com/office/drawing/2014/main" id="{02600330-6420-7B27-EA65-72ACB6AD90CA}"/>
              </a:ext>
            </a:extLst>
          </p:cNvPr>
          <p:cNvSpPr txBox="1"/>
          <p:nvPr/>
        </p:nvSpPr>
        <p:spPr>
          <a:xfrm>
            <a:off x="4354830" y="81794"/>
            <a:ext cx="45174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Latar</a:t>
            </a: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Belakang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1" name="Google Shape;181;p27">
            <a:extLst>
              <a:ext uri="{FF2B5EF4-FFF2-40B4-BE49-F238E27FC236}">
                <a16:creationId xmlns:a16="http://schemas.microsoft.com/office/drawing/2014/main" id="{EC0CD5C1-80CB-02BF-C628-2E7B20E1EAB2}"/>
              </a:ext>
            </a:extLst>
          </p:cNvPr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>
            <a:extLst>
              <a:ext uri="{FF2B5EF4-FFF2-40B4-BE49-F238E27FC236}">
                <a16:creationId xmlns:a16="http://schemas.microsoft.com/office/drawing/2014/main" id="{CC693A45-1D75-933B-9398-A583B45449B2}"/>
              </a:ext>
            </a:extLst>
          </p:cNvPr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>
            <a:extLst>
              <a:ext uri="{FF2B5EF4-FFF2-40B4-BE49-F238E27FC236}">
                <a16:creationId xmlns:a16="http://schemas.microsoft.com/office/drawing/2014/main" id="{8892CB40-DE8F-E32D-9D2F-C33E98B4BD30}"/>
              </a:ext>
            </a:extLst>
          </p:cNvPr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>
            <a:extLst>
              <a:ext uri="{FF2B5EF4-FFF2-40B4-BE49-F238E27FC236}">
                <a16:creationId xmlns:a16="http://schemas.microsoft.com/office/drawing/2014/main" id="{5124F886-4A26-DE31-E9ED-A43966182236}"/>
              </a:ext>
            </a:extLst>
          </p:cNvPr>
          <p:cNvSpPr txBox="1"/>
          <p:nvPr/>
        </p:nvSpPr>
        <p:spPr>
          <a:xfrm>
            <a:off x="8730234" y="4871371"/>
            <a:ext cx="41376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5A5A5"/>
                </a:solidFill>
              </a:rPr>
              <a:t>11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205;p28">
            <a:extLst>
              <a:ext uri="{FF2B5EF4-FFF2-40B4-BE49-F238E27FC236}">
                <a16:creationId xmlns:a16="http://schemas.microsoft.com/office/drawing/2014/main" id="{B178420D-AC79-B415-4A5B-59AD5EF9466A}"/>
              </a:ext>
            </a:extLst>
          </p:cNvPr>
          <p:cNvSpPr/>
          <p:nvPr/>
        </p:nvSpPr>
        <p:spPr>
          <a:xfrm>
            <a:off x="0" y="1244462"/>
            <a:ext cx="5523355" cy="347625"/>
          </a:xfrm>
          <a:prstGeom prst="rect">
            <a:avLst/>
          </a:prstGeom>
          <a:gradFill>
            <a:gsLst>
              <a:gs pos="0">
                <a:srgbClr val="F5F7FC">
                  <a:alpha val="0"/>
                </a:srgbClr>
              </a:gs>
              <a:gs pos="73000">
                <a:srgbClr val="F5AA2D"/>
              </a:gs>
              <a:gs pos="100000">
                <a:srgbClr val="F5AA2D"/>
              </a:gs>
            </a:gsLst>
            <a:lin ang="10800025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5B296FF-56E6-4133-1EF1-89DAF5D89A7B}"/>
                  </a:ext>
                </a:extLst>
              </p:cNvPr>
              <p:cNvSpPr txBox="1"/>
              <p:nvPr/>
            </p:nvSpPr>
            <p:spPr>
              <a:xfrm>
                <a:off x="727889" y="3153276"/>
                <a:ext cx="8158500" cy="1394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180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&amp;=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𝑇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,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&amp;=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𝑇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 ,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𝑛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&amp;=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𝑇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𝑇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18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algn="just">
                  <a:buSzPct val="100000"/>
                </a:pPr>
                <a:endParaRPr lang="en-US" sz="18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5B296FF-56E6-4133-1EF1-89DAF5D89A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889" y="3153276"/>
                <a:ext cx="8158500" cy="13949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B03465B-34E6-57B8-0166-B86F0F5BE6DE}"/>
              </a:ext>
            </a:extLst>
          </p:cNvPr>
          <p:cNvSpPr txBox="1">
            <a:spLocks/>
          </p:cNvSpPr>
          <p:nvPr/>
        </p:nvSpPr>
        <p:spPr>
          <a:xfrm>
            <a:off x="655986" y="752339"/>
            <a:ext cx="3698844" cy="4447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Aproksimasi</a:t>
            </a:r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titik</a:t>
            </a:r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tetap</a:t>
            </a:r>
            <a:endParaRPr lang="en-US" dirty="0">
              <a:solidFill>
                <a:srgbClr val="002060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4" name="Google Shape;206;p28">
            <a:extLst>
              <a:ext uri="{FF2B5EF4-FFF2-40B4-BE49-F238E27FC236}">
                <a16:creationId xmlns:a16="http://schemas.microsoft.com/office/drawing/2014/main" id="{02019772-DC9D-95C8-8339-5430B2F05C86}"/>
              </a:ext>
            </a:extLst>
          </p:cNvPr>
          <p:cNvSpPr txBox="1"/>
          <p:nvPr/>
        </p:nvSpPr>
        <p:spPr>
          <a:xfrm>
            <a:off x="655987" y="1195227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Skema </a:t>
            </a:r>
            <a:r>
              <a:rPr lang="en-US" sz="1800" dirty="0" err="1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Iterasi</a:t>
            </a: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" name="Google Shape;206;p28">
            <a:extLst>
              <a:ext uri="{FF2B5EF4-FFF2-40B4-BE49-F238E27FC236}">
                <a16:creationId xmlns:a16="http://schemas.microsoft.com/office/drawing/2014/main" id="{4595351E-D001-3AB8-25C5-3F414831052E}"/>
              </a:ext>
            </a:extLst>
          </p:cNvPr>
          <p:cNvSpPr txBox="1"/>
          <p:nvPr/>
        </p:nvSpPr>
        <p:spPr>
          <a:xfrm>
            <a:off x="2245530" y="1197153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Sabri, 2025</a:t>
            </a: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A265BDF-206D-8900-65F7-ACD4837527D4}"/>
                  </a:ext>
                </a:extLst>
              </p:cNvPr>
              <p:cNvSpPr txBox="1"/>
              <p:nvPr/>
            </p:nvSpPr>
            <p:spPr>
              <a:xfrm>
                <a:off x="655986" y="1666810"/>
                <a:ext cx="8158500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SzPct val="100000"/>
                </a:pP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Diberikan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𝑊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adalah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himpunan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bagian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tertutup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dan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terbatas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dari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suatu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Banach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konveks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seragam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∈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𝑊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dan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{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𝑎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𝑛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},</m:t>
                    </m:r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,{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𝑐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𝑛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}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adalah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barisan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di </a:t>
                </a:r>
                <a14:m>
                  <m:oMath xmlns:m="http://schemas.openxmlformats.org/officeDocument/2006/math">
                    <m:d>
                      <m:dPr>
                        <m:endChr m:val="]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0,1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serta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𝑇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: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𝑊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→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𝑊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adalah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suatu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pemetaan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nonekspansif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.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Untuk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setiap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𝑛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bilangan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asli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,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berikut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diberikan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skema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iterasi</a:t>
                </a:r>
                <a:endParaRPr lang="en-US" sz="18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algn="just">
                  <a:buSzPct val="100000"/>
                </a:pPr>
                <a:endParaRPr lang="en-US" sz="18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A265BDF-206D-8900-65F7-ACD483752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86" y="1666810"/>
                <a:ext cx="8158500" cy="1754326"/>
              </a:xfrm>
              <a:prstGeom prst="rect">
                <a:avLst/>
              </a:prstGeom>
              <a:blipFill>
                <a:blip r:embed="rId7"/>
                <a:stretch>
                  <a:fillRect l="-673" t="-1736" r="-59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06;p28">
            <a:extLst>
              <a:ext uri="{FF2B5EF4-FFF2-40B4-BE49-F238E27FC236}">
                <a16:creationId xmlns:a16="http://schemas.microsoft.com/office/drawing/2014/main" id="{6AF0FF14-E7F4-22F6-4FD3-1E9777C0982E}"/>
              </a:ext>
            </a:extLst>
          </p:cNvPr>
          <p:cNvSpPr txBox="1"/>
          <p:nvPr/>
        </p:nvSpPr>
        <p:spPr>
          <a:xfrm>
            <a:off x="1372073" y="2731391"/>
            <a:ext cx="1050405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Sabri</a:t>
            </a: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" name="Google Shape;168;p26">
            <a:extLst>
              <a:ext uri="{FF2B5EF4-FFF2-40B4-BE49-F238E27FC236}">
                <a16:creationId xmlns:a16="http://schemas.microsoft.com/office/drawing/2014/main" id="{E492FA6F-7780-95A4-30B1-E9E30F1F7190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43796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F44FD9A-83C4-F631-27A4-6D8BADF90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descr="Icon&#10;&#10;Description automatically generated">
            <a:extLst>
              <a:ext uri="{FF2B5EF4-FFF2-40B4-BE49-F238E27FC236}">
                <a16:creationId xmlns:a16="http://schemas.microsoft.com/office/drawing/2014/main" id="{2C01BA06-0E20-9C8E-5A3F-A6BDADEB45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>
            <a:extLst>
              <a:ext uri="{FF2B5EF4-FFF2-40B4-BE49-F238E27FC236}">
                <a16:creationId xmlns:a16="http://schemas.microsoft.com/office/drawing/2014/main" id="{2F9B62D8-A613-1192-25FC-A8C7247F80B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>
            <a:extLst>
              <a:ext uri="{FF2B5EF4-FFF2-40B4-BE49-F238E27FC236}">
                <a16:creationId xmlns:a16="http://schemas.microsoft.com/office/drawing/2014/main" id="{8F21A792-9855-3BD0-C180-5D3A2EEA6149}"/>
              </a:ext>
            </a:extLst>
          </p:cNvPr>
          <p:cNvSpPr/>
          <p:nvPr/>
        </p:nvSpPr>
        <p:spPr>
          <a:xfrm>
            <a:off x="8886389" y="256207"/>
            <a:ext cx="257700" cy="31680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7">
            <a:extLst>
              <a:ext uri="{FF2B5EF4-FFF2-40B4-BE49-F238E27FC236}">
                <a16:creationId xmlns:a16="http://schemas.microsoft.com/office/drawing/2014/main" id="{F9AADD27-FE0C-06EC-FC1E-39E2EA02EA5F}"/>
              </a:ext>
            </a:extLst>
          </p:cNvPr>
          <p:cNvSpPr txBox="1"/>
          <p:nvPr/>
        </p:nvSpPr>
        <p:spPr>
          <a:xfrm>
            <a:off x="4354830" y="81794"/>
            <a:ext cx="45174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Latar</a:t>
            </a: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Belakang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1" name="Google Shape;181;p27">
            <a:extLst>
              <a:ext uri="{FF2B5EF4-FFF2-40B4-BE49-F238E27FC236}">
                <a16:creationId xmlns:a16="http://schemas.microsoft.com/office/drawing/2014/main" id="{0844DB97-F9CD-DABD-54AD-D1BDCCDA78DA}"/>
              </a:ext>
            </a:extLst>
          </p:cNvPr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>
            <a:extLst>
              <a:ext uri="{FF2B5EF4-FFF2-40B4-BE49-F238E27FC236}">
                <a16:creationId xmlns:a16="http://schemas.microsoft.com/office/drawing/2014/main" id="{F7C0482D-F996-5A7A-8EEA-F552F297F0A6}"/>
              </a:ext>
            </a:extLst>
          </p:cNvPr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>
            <a:extLst>
              <a:ext uri="{FF2B5EF4-FFF2-40B4-BE49-F238E27FC236}">
                <a16:creationId xmlns:a16="http://schemas.microsoft.com/office/drawing/2014/main" id="{146F5493-91E4-D830-6B15-D90EB8BF35C0}"/>
              </a:ext>
            </a:extLst>
          </p:cNvPr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>
            <a:extLst>
              <a:ext uri="{FF2B5EF4-FFF2-40B4-BE49-F238E27FC236}">
                <a16:creationId xmlns:a16="http://schemas.microsoft.com/office/drawing/2014/main" id="{E45EFF7D-20C4-6D95-907D-F56FFF73B8E0}"/>
              </a:ext>
            </a:extLst>
          </p:cNvPr>
          <p:cNvSpPr txBox="1"/>
          <p:nvPr/>
        </p:nvSpPr>
        <p:spPr>
          <a:xfrm>
            <a:off x="8730234" y="4871371"/>
            <a:ext cx="41376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5A5A5"/>
                </a:solidFill>
              </a:rPr>
              <a:t>12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91875A7-C57F-65EE-D902-7B2BE7EA9633}"/>
                  </a:ext>
                </a:extLst>
              </p:cNvPr>
              <p:cNvSpPr txBox="1"/>
              <p:nvPr/>
            </p:nvSpPr>
            <p:spPr>
              <a:xfrm>
                <a:off x="655987" y="1658572"/>
                <a:ext cx="7590090" cy="29506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Untuk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pemetaan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i="1" dirty="0">
                    <a:latin typeface="Poppins" panose="00000500000000000000" pitchFamily="2" charset="0"/>
                    <a:cs typeface="Poppins" panose="00000500000000000000" pitchFamily="2" charset="0"/>
                  </a:rPr>
                  <a:t>firmly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nonekspansif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di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W-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hiperbolik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,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Busemann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,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𝑪𝑨𝑻</m:t>
                    </m:r>
                    <m:d>
                      <m:dPr>
                        <m:ctrlPr>
                          <a:rPr lang="en-US" sz="180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𝟎</m:t>
                        </m:r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. (Ariza-Ruiz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dkk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. 2014)</a:t>
                </a:r>
              </a:p>
              <a:p>
                <a:pPr marL="285750" indent="-285750" algn="just"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Untuk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pemetaan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nonekspansif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di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Hadamard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(Dehghan dan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Rooin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, 2014)</a:t>
                </a:r>
              </a:p>
              <a:p>
                <a:pPr marL="285750" indent="-285750" algn="just">
                  <a:buSzPct val="100000"/>
                  <a:buFont typeface="Arial" panose="020B0604020202020204" pitchFamily="34" charset="0"/>
                  <a:buChar char="•"/>
                </a:pPr>
                <a:r>
                  <a:rPr lang="en-ID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Untuk</a:t>
                </a:r>
                <a:r>
                  <a:rPr lang="en-ID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pemetaan</a:t>
                </a:r>
                <a:r>
                  <a:rPr lang="en-ID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nonekspansif</a:t>
                </a:r>
                <a:r>
                  <a:rPr lang="en-ID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di </a:t>
                </a:r>
                <a:r>
                  <a:rPr lang="en-ID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ID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𝑪𝑨</m:t>
                    </m:r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𝑻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𝒑</m:t>
                        </m:r>
                      </m:sub>
                    </m:sSub>
                    <m:d>
                      <m:dPr>
                        <m:ctrlPr>
                          <a:rPr lang="en-US" sz="180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𝟎</m:t>
                        </m:r>
                      </m:e>
                    </m:d>
                  </m:oMath>
                </a14:m>
                <a:r>
                  <a:rPr lang="en-ID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(Calderón </a:t>
                </a:r>
                <a:r>
                  <a:rPr lang="en-ID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dkk</a:t>
                </a:r>
                <a:r>
                  <a:rPr lang="en-ID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., 2021)</a:t>
                </a:r>
              </a:p>
              <a:p>
                <a:pPr marL="285750" indent="-285750" algn="just"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Untuk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pemetaan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nonekspansif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yang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memenuhi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kondisi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𝜇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di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𝑪𝑨</m:t>
                    </m:r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𝑻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𝒑</m:t>
                        </m:r>
                      </m:sub>
                    </m:sSub>
                    <m:d>
                      <m:dPr>
                        <m:ctrlPr>
                          <a:rPr lang="en-US" sz="180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𝟎</m:t>
                        </m:r>
                      </m:e>
                    </m:d>
                  </m:oMath>
                </a14:m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(Salisu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dkk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., 2022)</a:t>
                </a:r>
              </a:p>
              <a:p>
                <a:pPr marL="285750" indent="-285750" algn="just">
                  <a:buSzPct val="100000"/>
                  <a:buFont typeface="Arial" panose="020B0604020202020204" pitchFamily="34" charset="0"/>
                  <a:buChar char="•"/>
                </a:pPr>
                <a:endParaRPr lang="en-US" sz="18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algn="just">
                  <a:buSzPct val="100000"/>
                </a:pPr>
                <a:endParaRPr lang="en-US" sz="18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91875A7-C57F-65EE-D902-7B2BE7EA96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87" y="1658572"/>
                <a:ext cx="7590090" cy="2950680"/>
              </a:xfrm>
              <a:prstGeom prst="rect">
                <a:avLst/>
              </a:prstGeom>
              <a:blipFill>
                <a:blip r:embed="rId5"/>
                <a:stretch>
                  <a:fillRect l="-562" t="-1033" r="-64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65CB7FF-A0C9-8B5D-AA31-84892C01EDD2}"/>
              </a:ext>
            </a:extLst>
          </p:cNvPr>
          <p:cNvSpPr txBox="1">
            <a:spLocks/>
          </p:cNvSpPr>
          <p:nvPr/>
        </p:nvSpPr>
        <p:spPr>
          <a:xfrm>
            <a:off x="4264924" y="752339"/>
            <a:ext cx="3025561" cy="4447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di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ruang</a:t>
            </a:r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tak</a:t>
            </a:r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linear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6527764-EBC8-6E32-893C-B5D506BA0339}"/>
              </a:ext>
            </a:extLst>
          </p:cNvPr>
          <p:cNvSpPr txBox="1">
            <a:spLocks/>
          </p:cNvSpPr>
          <p:nvPr/>
        </p:nvSpPr>
        <p:spPr>
          <a:xfrm>
            <a:off x="662810" y="752339"/>
            <a:ext cx="3698844" cy="4447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Aproksimasi</a:t>
            </a:r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titik</a:t>
            </a:r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tetap</a:t>
            </a:r>
            <a:endParaRPr lang="en-US" dirty="0">
              <a:solidFill>
                <a:srgbClr val="002060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" name="Google Shape;168;p26">
            <a:extLst>
              <a:ext uri="{FF2B5EF4-FFF2-40B4-BE49-F238E27FC236}">
                <a16:creationId xmlns:a16="http://schemas.microsoft.com/office/drawing/2014/main" id="{13C744ED-84F1-8B39-504A-8AE09A8161A3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3515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7"/>
          <p:cNvSpPr txBox="1"/>
          <p:nvPr/>
        </p:nvSpPr>
        <p:spPr>
          <a:xfrm>
            <a:off x="4354830" y="81794"/>
            <a:ext cx="45174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Tinjauan</a:t>
            </a: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 Pustaka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1" name="Google Shape;181;p27"/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/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/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/>
          <p:cNvSpPr txBox="1"/>
          <p:nvPr/>
        </p:nvSpPr>
        <p:spPr>
          <a:xfrm>
            <a:off x="8730234" y="4871371"/>
            <a:ext cx="41376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5A5A5"/>
                </a:solidFill>
              </a:rPr>
              <a:t>13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DEA9A433-A29D-23F8-E1DB-1218BBCAAA3C}"/>
              </a:ext>
            </a:extLst>
          </p:cNvPr>
          <p:cNvSpPr txBox="1">
            <a:spLocks/>
          </p:cNvSpPr>
          <p:nvPr/>
        </p:nvSpPr>
        <p:spPr>
          <a:xfrm>
            <a:off x="530523" y="754216"/>
            <a:ext cx="2970557" cy="4447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Ruang </a:t>
            </a:r>
            <a:r>
              <a:rPr lang="en-US" dirty="0" err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Geodesik</a:t>
            </a:r>
            <a:endParaRPr lang="en-US" dirty="0">
              <a:solidFill>
                <a:srgbClr val="002060"/>
              </a:solidFill>
              <a:latin typeface="+mj-lt"/>
            </a:endParaRPr>
          </a:p>
        </p:txBody>
      </p:sp>
      <p:grpSp>
        <p:nvGrpSpPr>
          <p:cNvPr id="3" name="Google Shape;204;p28">
            <a:extLst>
              <a:ext uri="{FF2B5EF4-FFF2-40B4-BE49-F238E27FC236}">
                <a16:creationId xmlns:a16="http://schemas.microsoft.com/office/drawing/2014/main" id="{6FBBF036-9735-4186-0B10-3B345F274180}"/>
              </a:ext>
            </a:extLst>
          </p:cNvPr>
          <p:cNvGrpSpPr/>
          <p:nvPr/>
        </p:nvGrpSpPr>
        <p:grpSpPr>
          <a:xfrm>
            <a:off x="-1" y="1158490"/>
            <a:ext cx="6320838" cy="396861"/>
            <a:chOff x="0" y="1294124"/>
            <a:chExt cx="5320355" cy="529148"/>
          </a:xfrm>
        </p:grpSpPr>
        <p:sp>
          <p:nvSpPr>
            <p:cNvPr id="6" name="Google Shape;205;p28">
              <a:extLst>
                <a:ext uri="{FF2B5EF4-FFF2-40B4-BE49-F238E27FC236}">
                  <a16:creationId xmlns:a16="http://schemas.microsoft.com/office/drawing/2014/main" id="{FD69AF45-CB93-7E9C-7C0B-C6D3D15233D0}"/>
                </a:ext>
              </a:extLst>
            </p:cNvPr>
            <p:cNvSpPr/>
            <p:nvPr/>
          </p:nvSpPr>
          <p:spPr>
            <a:xfrm>
              <a:off x="0" y="1359772"/>
              <a:ext cx="4649100" cy="463500"/>
            </a:xfrm>
            <a:prstGeom prst="rect">
              <a:avLst/>
            </a:prstGeom>
            <a:gradFill>
              <a:gsLst>
                <a:gs pos="0">
                  <a:srgbClr val="F5F7FC">
                    <a:alpha val="0"/>
                  </a:srgbClr>
                </a:gs>
                <a:gs pos="73000">
                  <a:srgbClr val="F5AA2D"/>
                </a:gs>
                <a:gs pos="100000">
                  <a:srgbClr val="F5AA2D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206;p28">
              <a:extLst>
                <a:ext uri="{FF2B5EF4-FFF2-40B4-BE49-F238E27FC236}">
                  <a16:creationId xmlns:a16="http://schemas.microsoft.com/office/drawing/2014/main" id="{E6FED770-3BC7-8F46-2533-658BD99C2F8E}"/>
                </a:ext>
              </a:extLst>
            </p:cNvPr>
            <p:cNvSpPr txBox="1"/>
            <p:nvPr/>
          </p:nvSpPr>
          <p:spPr>
            <a:xfrm>
              <a:off x="552155" y="1294124"/>
              <a:ext cx="4768200" cy="5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b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dirty="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(Bridson dan </a:t>
              </a:r>
              <a:r>
                <a:rPr lang="en-US" sz="1800" dirty="0" err="1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Haefliger</a:t>
              </a:r>
              <a:r>
                <a:rPr lang="en-US" sz="1800" dirty="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, 1999)</a:t>
              </a:r>
              <a:endParaRPr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9503371-6BCA-259C-9130-DF3F973CCE94}"/>
                  </a:ext>
                </a:extLst>
              </p:cNvPr>
              <p:cNvSpPr txBox="1"/>
              <p:nvPr/>
            </p:nvSpPr>
            <p:spPr>
              <a:xfrm>
                <a:off x="655986" y="1666810"/>
                <a:ext cx="7820749" cy="28105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300"/>
                  </a:spcAft>
                  <a:buSzPct val="100000"/>
                </a:pP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Diberikan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𝑋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𝑑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adalah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metrik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𝑦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∈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𝑋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.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Pemetaan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𝛾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: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0,1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oppins" panose="00000500000000000000" pitchFamily="2" charset="0"/>
                      </a:rPr>
                      <m:t>→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oppins" panose="00000500000000000000" pitchFamily="2" charset="0"/>
                      </a:rPr>
                      <m:t>𝑋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disebut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jalur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geodesik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yang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menghubungkan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𝑥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𝑦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jika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memenuhi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</a:p>
              <a:p>
                <a:pPr marL="342900" indent="-342900" algn="just">
                  <a:spcAft>
                    <a:spcPts val="300"/>
                  </a:spcAft>
                  <a:buSzPct val="100000"/>
                  <a:buAutoNum type="arabicPeriod"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𝛾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0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</m:oMath>
                </a14:m>
                <a:endParaRPr lang="en-US" sz="1800" b="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marL="342900" indent="-342900" algn="just">
                  <a:spcAft>
                    <a:spcPts val="300"/>
                  </a:spcAft>
                  <a:buSzPct val="100000"/>
                  <a:buAutoNum type="arabicPeriod"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𝛾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1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𝑦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,</a:t>
                </a:r>
              </a:p>
              <a:p>
                <a:pPr marL="342900" indent="-342900" algn="just">
                  <a:spcAft>
                    <a:spcPts val="300"/>
                  </a:spcAft>
                  <a:buSzPct val="100000"/>
                  <a:buAutoNum type="arabicPeriod"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𝑑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𝛾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𝛾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𝑠</m:t>
                            </m:r>
                          </m:e>
                        </m:d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=|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𝑡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−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|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𝑑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(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𝑦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)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untuk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setiap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𝑡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0,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.</a:t>
                </a:r>
              </a:p>
              <a:p>
                <a:pPr algn="just">
                  <a:spcAft>
                    <a:spcPts val="300"/>
                  </a:spcAft>
                  <a:buSzPct val="100000"/>
                </a:pP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Ruang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metrik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𝑋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disebut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sebagai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metrik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geodesik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jika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setiap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𝑦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∈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𝑋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dihubungkan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oleh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suatu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jalur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geodesik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. Dalam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hal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ini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suatu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geodesik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dinotasikan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sebagai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𝑥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𝑦</m:t>
                        </m:r>
                      </m:e>
                    </m:d>
                  </m:oMath>
                </a14:m>
                <a:endParaRPr lang="en-US" sz="18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9503371-6BCA-259C-9130-DF3F973CCE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86" y="1666810"/>
                <a:ext cx="7820749" cy="2810513"/>
              </a:xfrm>
              <a:prstGeom prst="rect">
                <a:avLst/>
              </a:prstGeom>
              <a:blipFill>
                <a:blip r:embed="rId5"/>
                <a:stretch>
                  <a:fillRect l="-701" t="-1085" r="-624" b="-1302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142;p26">
            <a:extLst>
              <a:ext uri="{FF2B5EF4-FFF2-40B4-BE49-F238E27FC236}">
                <a16:creationId xmlns:a16="http://schemas.microsoft.com/office/drawing/2014/main" id="{E602B437-0C2D-2F39-27CD-A746FB13B777}"/>
              </a:ext>
            </a:extLst>
          </p:cNvPr>
          <p:cNvSpPr/>
          <p:nvPr/>
        </p:nvSpPr>
        <p:spPr>
          <a:xfrm>
            <a:off x="8886389" y="256017"/>
            <a:ext cx="257611" cy="31672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68;p26">
            <a:extLst>
              <a:ext uri="{FF2B5EF4-FFF2-40B4-BE49-F238E27FC236}">
                <a16:creationId xmlns:a16="http://schemas.microsoft.com/office/drawing/2014/main" id="{F04DAF85-2551-5A41-15F8-E6B4AF9714B7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5251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69673D21-CD56-31BF-758A-46C9666BB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descr="Icon&#10;&#10;Description automatically generated">
            <a:extLst>
              <a:ext uri="{FF2B5EF4-FFF2-40B4-BE49-F238E27FC236}">
                <a16:creationId xmlns:a16="http://schemas.microsoft.com/office/drawing/2014/main" id="{CC96099B-4A73-041F-1705-AA01DD7ECBC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>
            <a:extLst>
              <a:ext uri="{FF2B5EF4-FFF2-40B4-BE49-F238E27FC236}">
                <a16:creationId xmlns:a16="http://schemas.microsoft.com/office/drawing/2014/main" id="{835CB7C1-B04F-1F20-9C56-6B0FDC84CA7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7">
            <a:extLst>
              <a:ext uri="{FF2B5EF4-FFF2-40B4-BE49-F238E27FC236}">
                <a16:creationId xmlns:a16="http://schemas.microsoft.com/office/drawing/2014/main" id="{0C6410A6-7101-BF5B-AF3A-79FC50C94FE4}"/>
              </a:ext>
            </a:extLst>
          </p:cNvPr>
          <p:cNvSpPr txBox="1"/>
          <p:nvPr/>
        </p:nvSpPr>
        <p:spPr>
          <a:xfrm>
            <a:off x="4354830" y="81794"/>
            <a:ext cx="45174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Tinjauan</a:t>
            </a: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 Pustaka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1" name="Google Shape;181;p27">
            <a:extLst>
              <a:ext uri="{FF2B5EF4-FFF2-40B4-BE49-F238E27FC236}">
                <a16:creationId xmlns:a16="http://schemas.microsoft.com/office/drawing/2014/main" id="{B4334374-0181-AE98-A966-D013D959A2B8}"/>
              </a:ext>
            </a:extLst>
          </p:cNvPr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>
            <a:extLst>
              <a:ext uri="{FF2B5EF4-FFF2-40B4-BE49-F238E27FC236}">
                <a16:creationId xmlns:a16="http://schemas.microsoft.com/office/drawing/2014/main" id="{3F09936D-F26F-C376-B454-420E37353831}"/>
              </a:ext>
            </a:extLst>
          </p:cNvPr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>
            <a:extLst>
              <a:ext uri="{FF2B5EF4-FFF2-40B4-BE49-F238E27FC236}">
                <a16:creationId xmlns:a16="http://schemas.microsoft.com/office/drawing/2014/main" id="{22867D16-E1D4-49A4-B2B8-D83F279EA76D}"/>
              </a:ext>
            </a:extLst>
          </p:cNvPr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>
            <a:extLst>
              <a:ext uri="{FF2B5EF4-FFF2-40B4-BE49-F238E27FC236}">
                <a16:creationId xmlns:a16="http://schemas.microsoft.com/office/drawing/2014/main" id="{9E394D9B-3FCB-B40C-D527-7FC2AB22D355}"/>
              </a:ext>
            </a:extLst>
          </p:cNvPr>
          <p:cNvSpPr txBox="1"/>
          <p:nvPr/>
        </p:nvSpPr>
        <p:spPr>
          <a:xfrm>
            <a:off x="8730234" y="4871371"/>
            <a:ext cx="41376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5A5A5"/>
                </a:solidFill>
              </a:rPr>
              <a:t>14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17165F9-F9D2-7DFD-F648-F6023A012184}"/>
              </a:ext>
            </a:extLst>
          </p:cNvPr>
          <p:cNvSpPr txBox="1">
            <a:spLocks/>
          </p:cNvSpPr>
          <p:nvPr/>
        </p:nvSpPr>
        <p:spPr>
          <a:xfrm>
            <a:off x="530523" y="754216"/>
            <a:ext cx="3300072" cy="4447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err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Segitiga</a:t>
            </a:r>
            <a:r>
              <a:rPr lang="en-US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Geodesik</a:t>
            </a:r>
            <a:endParaRPr lang="en-US" dirty="0">
              <a:solidFill>
                <a:srgbClr val="002060"/>
              </a:solidFill>
              <a:latin typeface="+mj-lt"/>
            </a:endParaRPr>
          </a:p>
        </p:txBody>
      </p:sp>
      <p:grpSp>
        <p:nvGrpSpPr>
          <p:cNvPr id="3" name="Google Shape;204;p28">
            <a:extLst>
              <a:ext uri="{FF2B5EF4-FFF2-40B4-BE49-F238E27FC236}">
                <a16:creationId xmlns:a16="http://schemas.microsoft.com/office/drawing/2014/main" id="{87FD1E2A-6F30-021E-43BA-10AB0721718D}"/>
              </a:ext>
            </a:extLst>
          </p:cNvPr>
          <p:cNvGrpSpPr/>
          <p:nvPr/>
        </p:nvGrpSpPr>
        <p:grpSpPr>
          <a:xfrm>
            <a:off x="-1" y="1158490"/>
            <a:ext cx="6320838" cy="396861"/>
            <a:chOff x="0" y="1294124"/>
            <a:chExt cx="5320355" cy="529148"/>
          </a:xfrm>
        </p:grpSpPr>
        <p:sp>
          <p:nvSpPr>
            <p:cNvPr id="6" name="Google Shape;205;p28">
              <a:extLst>
                <a:ext uri="{FF2B5EF4-FFF2-40B4-BE49-F238E27FC236}">
                  <a16:creationId xmlns:a16="http://schemas.microsoft.com/office/drawing/2014/main" id="{AE86369C-D7CC-2C75-C935-93E8236208BA}"/>
                </a:ext>
              </a:extLst>
            </p:cNvPr>
            <p:cNvSpPr/>
            <p:nvPr/>
          </p:nvSpPr>
          <p:spPr>
            <a:xfrm>
              <a:off x="0" y="1359772"/>
              <a:ext cx="4649100" cy="463500"/>
            </a:xfrm>
            <a:prstGeom prst="rect">
              <a:avLst/>
            </a:prstGeom>
            <a:gradFill>
              <a:gsLst>
                <a:gs pos="0">
                  <a:srgbClr val="F5F7FC">
                    <a:alpha val="0"/>
                  </a:srgbClr>
                </a:gs>
                <a:gs pos="73000">
                  <a:srgbClr val="F5AA2D"/>
                </a:gs>
                <a:gs pos="100000">
                  <a:srgbClr val="F5AA2D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206;p28">
              <a:extLst>
                <a:ext uri="{FF2B5EF4-FFF2-40B4-BE49-F238E27FC236}">
                  <a16:creationId xmlns:a16="http://schemas.microsoft.com/office/drawing/2014/main" id="{3E1435DE-6070-DE52-DD97-4742FFA32EAB}"/>
                </a:ext>
              </a:extLst>
            </p:cNvPr>
            <p:cNvSpPr txBox="1"/>
            <p:nvPr/>
          </p:nvSpPr>
          <p:spPr>
            <a:xfrm>
              <a:off x="552155" y="1294124"/>
              <a:ext cx="4768200" cy="5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b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dirty="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(Bridson dan </a:t>
              </a:r>
              <a:r>
                <a:rPr lang="en-US" sz="1800" dirty="0" err="1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Haefliger</a:t>
              </a:r>
              <a:r>
                <a:rPr lang="en-US" sz="1800" dirty="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, 1999)</a:t>
              </a:r>
              <a:endParaRPr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BE76264-EAA6-2EAC-6528-036231BE7760}"/>
                  </a:ext>
                </a:extLst>
              </p:cNvPr>
              <p:cNvSpPr txBox="1"/>
              <p:nvPr/>
            </p:nvSpPr>
            <p:spPr>
              <a:xfrm>
                <a:off x="655986" y="1666810"/>
                <a:ext cx="7820749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300"/>
                  </a:spcAft>
                  <a:buSzPct val="100000"/>
                </a:pP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Diberikan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𝑋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𝑑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adalah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metrik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geodesik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.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Suatu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segitiga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geodesik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oppins" panose="00000500000000000000" pitchFamily="2" charset="0"/>
                      </a:rPr>
                      <m:t>△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oppins" panose="00000500000000000000" pitchFamily="2" charset="0"/>
                          </a:rPr>
                          <m:t>𝑝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oppins" panose="00000500000000000000" pitchFamily="2" charset="0"/>
                          </a:rPr>
                          <m:t>𝑞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oppins" panose="00000500000000000000" pitchFamily="2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di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metrik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geodesik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berisi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tiga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titik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𝑝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𝑞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𝑟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∈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𝑋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sebagai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titik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sudut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dan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jalur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geodesik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di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antara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dua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titik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tersebut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yaitu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𝑝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𝑞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𝑝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𝑟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𝑞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disebut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sebagai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sisi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dari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segitiganya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BE76264-EAA6-2EAC-6528-036231BE7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86" y="1666810"/>
                <a:ext cx="7820749" cy="1200329"/>
              </a:xfrm>
              <a:prstGeom prst="rect">
                <a:avLst/>
              </a:prstGeom>
              <a:blipFill>
                <a:blip r:embed="rId5"/>
                <a:stretch>
                  <a:fillRect l="-701" t="-2538" r="-624" b="-710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142;p26">
            <a:extLst>
              <a:ext uri="{FF2B5EF4-FFF2-40B4-BE49-F238E27FC236}">
                <a16:creationId xmlns:a16="http://schemas.microsoft.com/office/drawing/2014/main" id="{DD5A7416-7474-BA8C-0756-32EB765FCEEC}"/>
              </a:ext>
            </a:extLst>
          </p:cNvPr>
          <p:cNvSpPr/>
          <p:nvPr/>
        </p:nvSpPr>
        <p:spPr>
          <a:xfrm>
            <a:off x="8886389" y="256017"/>
            <a:ext cx="257611" cy="31672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68;p26">
            <a:extLst>
              <a:ext uri="{FF2B5EF4-FFF2-40B4-BE49-F238E27FC236}">
                <a16:creationId xmlns:a16="http://schemas.microsoft.com/office/drawing/2014/main" id="{C720B050-7A7F-BF9B-1B59-F732CB2869D0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9415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1D603E-DC42-0163-332E-4B75A9D58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E1F121D-8EF8-DE22-5856-63C738F71631}"/>
                  </a:ext>
                </a:extLst>
              </p:cNvPr>
              <p:cNvSpPr txBox="1"/>
              <p:nvPr/>
            </p:nvSpPr>
            <p:spPr>
              <a:xfrm>
                <a:off x="577396" y="4142756"/>
                <a:ext cx="7820749" cy="16682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300"/>
                  </a:spcAft>
                  <a:buSzPct val="100000"/>
                </a:pP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Diberikan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metrik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geodesik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𝑋</m:t>
                        </m:r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dan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ℓ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1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Poppins" panose="00000500000000000000" pitchFamily="2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Poppins" panose="00000500000000000000" pitchFamily="2" charset="0"/>
                                  </a:rPr>
                                  <m:t>⋅</m:t>
                                </m:r>
                              </m:e>
                            </m:d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𝑝</m:t>
                            </m:r>
                          </m:sub>
                        </m:sSub>
                      </m:e>
                    </m:d>
                    <m:r>
                      <a:rPr lang="en-US" sz="18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untuk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𝑝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&gt;2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. Ruang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𝑋</m:t>
                        </m:r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disebut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sebagai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US" sz="1800" b="1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𝑪𝑨</m:t>
                    </m:r>
                    <m:sSub>
                      <m:sSubPr>
                        <m:ctrlPr>
                          <a:rPr lang="en-US" sz="1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𝑻</m:t>
                        </m:r>
                      </m:e>
                      <m:sub>
                        <m:r>
                          <a:rPr lang="en-US" sz="1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𝒑</m:t>
                        </m:r>
                      </m:sub>
                    </m:sSub>
                    <m:d>
                      <m:dPr>
                        <m:ctrlPr>
                          <a:rPr lang="en-US" sz="1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𝟎</m:t>
                        </m:r>
                      </m:e>
                    </m:d>
                    <m:r>
                      <a:rPr lang="en-US" sz="18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untuk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𝑝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&gt;2</m:t>
                    </m:r>
                    <m:r>
                      <a:rPr lang="en-US" sz="18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jika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untuk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setiap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segitiga</a:t>
                </a:r>
                <a:r>
                  <a:rPr lang="en-US" sz="1800" b="1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geodesik</a:t>
                </a:r>
                <a:r>
                  <a:rPr lang="en-US" sz="1800" b="1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oppins" panose="00000500000000000000" pitchFamily="2" charset="0"/>
                      </a:rPr>
                      <m:t>△∈</m:t>
                    </m:r>
                    <m:r>
                      <a:rPr lang="en-US" sz="18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oppins" panose="00000500000000000000" pitchFamily="2" charset="0"/>
                      </a:rPr>
                      <m:t>𝑿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,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terdapat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segitiga</a:t>
                </a:r>
                <a:r>
                  <a:rPr lang="en-US" sz="1800" b="1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komparasi</a:t>
                </a:r>
                <a:r>
                  <a:rPr lang="en-US" sz="1800" b="1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1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barPr>
                      <m:e>
                        <m:r>
                          <a:rPr lang="en-US" sz="1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oppins" panose="00000500000000000000" pitchFamily="2" charset="0"/>
                          </a:rPr>
                          <m:t>△</m:t>
                        </m:r>
                      </m:e>
                    </m:bar>
                    <m:r>
                      <a:rPr lang="en-US" sz="18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oppins" panose="00000500000000000000" pitchFamily="2" charset="0"/>
                      </a:rPr>
                      <m:t>∈</m:t>
                    </m:r>
                    <m:sSub>
                      <m:sSubPr>
                        <m:ctrlPr>
                          <a:rPr lang="en-US" sz="1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oppins" panose="00000500000000000000" pitchFamily="2" charset="0"/>
                          </a:rPr>
                          <m:t>ℓ</m:t>
                        </m:r>
                      </m:e>
                      <m:sub>
                        <m:r>
                          <a:rPr lang="en-US" sz="1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oppins" panose="00000500000000000000" pitchFamily="2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sehingga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untuk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setiap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bar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𝑥</m:t>
                        </m:r>
                      </m:e>
                    </m:ba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  <m:bar>
                      <m:barPr>
                        <m:pos m:val="top"/>
                        <m:ctrlPr>
                          <a:rPr lang="en-US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bar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𝑦</m:t>
                        </m:r>
                      </m:e>
                    </m:ba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∈</m:t>
                    </m:r>
                    <m:bar>
                      <m:barPr>
                        <m:pos m:val="top"/>
                        <m:ctrlPr>
                          <a:rPr lang="en-US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barPr>
                      <m:e>
                        <m:r>
                          <a:rPr lang="en-US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oppins" panose="00000500000000000000" pitchFamily="2" charset="0"/>
                          </a:rPr>
                          <m:t>△</m:t>
                        </m:r>
                      </m:e>
                    </m:ba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 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berlaku </a:t>
                </a:r>
                <a:endParaRPr lang="en-US" sz="1800" b="0" i="1" dirty="0">
                  <a:solidFill>
                    <a:schemeClr val="bg1"/>
                  </a:solidFill>
                  <a:latin typeface="Cambria Math" panose="02040503050406030204" pitchFamily="18" charset="0"/>
                  <a:cs typeface="Poppins" panose="00000500000000000000" pitchFamily="2" charset="0"/>
                </a:endParaRPr>
              </a:p>
              <a:p>
                <a:pPr algn="ctr">
                  <a:spcAft>
                    <a:spcPts val="300"/>
                  </a:spcAft>
                  <a:buSzPct val="100000"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𝑑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𝑥</m:t>
                        </m:r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𝑦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≤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en-US" sz="1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Poppins" panose="00000500000000000000" pitchFamily="2" charset="0"/>
                                  </a:rPr>
                                </m:ctrlPr>
                              </m:barPr>
                              <m:e>
                                <m:r>
                                  <a:rPr lang="en-US" sz="1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Poppins" panose="00000500000000000000" pitchFamily="2" charset="0"/>
                                  </a:rPr>
                                  <m:t>𝑥</m:t>
                                </m:r>
                              </m:e>
                            </m:bar>
                            <m:r>
                              <a:rPr lang="en-US" sz="1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−</m:t>
                            </m:r>
                            <m:bar>
                              <m:barPr>
                                <m:pos m:val="top"/>
                                <m:ctrlPr>
                                  <a:rPr lang="en-US" sz="1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Poppins" panose="00000500000000000000" pitchFamily="2" charset="0"/>
                                  </a:rPr>
                                </m:ctrlPr>
                              </m:barPr>
                              <m:e>
                                <m:r>
                                  <a:rPr lang="en-US" sz="1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Poppins" panose="00000500000000000000" pitchFamily="2" charset="0"/>
                                  </a:rPr>
                                  <m:t>𝑦</m:t>
                                </m:r>
                              </m:e>
                            </m:bar>
                          </m:e>
                        </m:d>
                      </m:e>
                      <m:sub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E1F121D-8EF8-DE22-5856-63C738F716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396" y="4142756"/>
                <a:ext cx="7820749" cy="1668214"/>
              </a:xfrm>
              <a:prstGeom prst="rect">
                <a:avLst/>
              </a:prstGeom>
              <a:blipFill>
                <a:blip r:embed="rId3"/>
                <a:stretch>
                  <a:fillRect l="-701" t="-733" r="-624" b="-4029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EDFEB7F0-AA7C-F704-7B59-38163E9E04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8927" y="2978004"/>
            <a:ext cx="5248561" cy="1620000"/>
          </a:xfrm>
          <a:prstGeom prst="rect">
            <a:avLst/>
          </a:prstGeom>
        </p:spPr>
      </p:pic>
      <p:pic>
        <p:nvPicPr>
          <p:cNvPr id="174" name="Google Shape;174;p27" descr="Icon&#10;&#10;Description automatically generated">
            <a:extLst>
              <a:ext uri="{FF2B5EF4-FFF2-40B4-BE49-F238E27FC236}">
                <a16:creationId xmlns:a16="http://schemas.microsoft.com/office/drawing/2014/main" id="{5AEBAF8E-482C-9574-2600-F5B77ED915A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>
            <a:extLst>
              <a:ext uri="{FF2B5EF4-FFF2-40B4-BE49-F238E27FC236}">
                <a16:creationId xmlns:a16="http://schemas.microsoft.com/office/drawing/2014/main" id="{C1051572-EFCC-E854-C78A-35BA9468CE3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7">
            <a:extLst>
              <a:ext uri="{FF2B5EF4-FFF2-40B4-BE49-F238E27FC236}">
                <a16:creationId xmlns:a16="http://schemas.microsoft.com/office/drawing/2014/main" id="{597F7FCE-AD0E-7AE9-77CC-62A313069811}"/>
              </a:ext>
            </a:extLst>
          </p:cNvPr>
          <p:cNvSpPr txBox="1"/>
          <p:nvPr/>
        </p:nvSpPr>
        <p:spPr>
          <a:xfrm>
            <a:off x="4354830" y="81794"/>
            <a:ext cx="45174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Tinjauan</a:t>
            </a: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 Pustaka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1" name="Google Shape;181;p27">
            <a:extLst>
              <a:ext uri="{FF2B5EF4-FFF2-40B4-BE49-F238E27FC236}">
                <a16:creationId xmlns:a16="http://schemas.microsoft.com/office/drawing/2014/main" id="{930128E7-24D7-C7BE-C15F-194F8663C0DB}"/>
              </a:ext>
            </a:extLst>
          </p:cNvPr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>
            <a:extLst>
              <a:ext uri="{FF2B5EF4-FFF2-40B4-BE49-F238E27FC236}">
                <a16:creationId xmlns:a16="http://schemas.microsoft.com/office/drawing/2014/main" id="{CB89DC27-3E80-AD2C-1E0A-45CF4569FCCF}"/>
              </a:ext>
            </a:extLst>
          </p:cNvPr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>
            <a:extLst>
              <a:ext uri="{FF2B5EF4-FFF2-40B4-BE49-F238E27FC236}">
                <a16:creationId xmlns:a16="http://schemas.microsoft.com/office/drawing/2014/main" id="{BBE6F92A-F5D6-4371-BAEB-349EB3431672}"/>
              </a:ext>
            </a:extLst>
          </p:cNvPr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>
            <a:extLst>
              <a:ext uri="{FF2B5EF4-FFF2-40B4-BE49-F238E27FC236}">
                <a16:creationId xmlns:a16="http://schemas.microsoft.com/office/drawing/2014/main" id="{9B47C18A-2E5C-6BAC-4E1A-8A912CE69EFA}"/>
              </a:ext>
            </a:extLst>
          </p:cNvPr>
          <p:cNvSpPr txBox="1"/>
          <p:nvPr/>
        </p:nvSpPr>
        <p:spPr>
          <a:xfrm>
            <a:off x="8730234" y="4871371"/>
            <a:ext cx="41376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5A5A5"/>
                </a:solidFill>
              </a:rPr>
              <a:t>15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7EB082C-EEA8-4F9B-FF96-1F2C6C0AB9AC}"/>
              </a:ext>
            </a:extLst>
          </p:cNvPr>
          <p:cNvSpPr txBox="1">
            <a:spLocks/>
          </p:cNvSpPr>
          <p:nvPr/>
        </p:nvSpPr>
        <p:spPr>
          <a:xfrm>
            <a:off x="530523" y="754216"/>
            <a:ext cx="3571920" cy="4447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err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Segitiga</a:t>
            </a:r>
            <a:r>
              <a:rPr lang="en-US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Komparasi</a:t>
            </a:r>
            <a:endParaRPr lang="en-US" dirty="0">
              <a:solidFill>
                <a:srgbClr val="002060"/>
              </a:solidFill>
              <a:latin typeface="+mj-lt"/>
            </a:endParaRPr>
          </a:p>
        </p:txBody>
      </p:sp>
      <p:grpSp>
        <p:nvGrpSpPr>
          <p:cNvPr id="3" name="Google Shape;204;p28">
            <a:extLst>
              <a:ext uri="{FF2B5EF4-FFF2-40B4-BE49-F238E27FC236}">
                <a16:creationId xmlns:a16="http://schemas.microsoft.com/office/drawing/2014/main" id="{39F5F268-977B-3547-F2B2-38D57745D6EE}"/>
              </a:ext>
            </a:extLst>
          </p:cNvPr>
          <p:cNvGrpSpPr/>
          <p:nvPr/>
        </p:nvGrpSpPr>
        <p:grpSpPr>
          <a:xfrm>
            <a:off x="-1" y="1158490"/>
            <a:ext cx="6320838" cy="396861"/>
            <a:chOff x="0" y="1294124"/>
            <a:chExt cx="5320355" cy="529148"/>
          </a:xfrm>
        </p:grpSpPr>
        <p:sp>
          <p:nvSpPr>
            <p:cNvPr id="6" name="Google Shape;205;p28">
              <a:extLst>
                <a:ext uri="{FF2B5EF4-FFF2-40B4-BE49-F238E27FC236}">
                  <a16:creationId xmlns:a16="http://schemas.microsoft.com/office/drawing/2014/main" id="{49358BDB-C944-E3AD-B41C-FAB2201B5990}"/>
                </a:ext>
              </a:extLst>
            </p:cNvPr>
            <p:cNvSpPr/>
            <p:nvPr/>
          </p:nvSpPr>
          <p:spPr>
            <a:xfrm>
              <a:off x="0" y="1359772"/>
              <a:ext cx="4649100" cy="463500"/>
            </a:xfrm>
            <a:prstGeom prst="rect">
              <a:avLst/>
            </a:prstGeom>
            <a:gradFill>
              <a:gsLst>
                <a:gs pos="0">
                  <a:srgbClr val="F5F7FC">
                    <a:alpha val="0"/>
                  </a:srgbClr>
                </a:gs>
                <a:gs pos="73000">
                  <a:srgbClr val="F5AA2D"/>
                </a:gs>
                <a:gs pos="100000">
                  <a:srgbClr val="F5AA2D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206;p28">
              <a:extLst>
                <a:ext uri="{FF2B5EF4-FFF2-40B4-BE49-F238E27FC236}">
                  <a16:creationId xmlns:a16="http://schemas.microsoft.com/office/drawing/2014/main" id="{33869D4B-9487-B16A-8B15-B701C2706B36}"/>
                </a:ext>
              </a:extLst>
            </p:cNvPr>
            <p:cNvSpPr txBox="1"/>
            <p:nvPr/>
          </p:nvSpPr>
          <p:spPr>
            <a:xfrm>
              <a:off x="552155" y="1294124"/>
              <a:ext cx="4768200" cy="5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b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dirty="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(Bridson dan </a:t>
              </a:r>
              <a:r>
                <a:rPr lang="en-US" sz="1800" dirty="0" err="1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Haefliger</a:t>
              </a:r>
              <a:r>
                <a:rPr lang="en-US" sz="1800" dirty="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, 1999)</a:t>
              </a:r>
              <a:endParaRPr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A659FC9-1E60-8A8E-5AE8-133FD125D309}"/>
                  </a:ext>
                </a:extLst>
              </p:cNvPr>
              <p:cNvSpPr txBox="1"/>
              <p:nvPr/>
            </p:nvSpPr>
            <p:spPr>
              <a:xfrm>
                <a:off x="655986" y="1666810"/>
                <a:ext cx="7820749" cy="15687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300"/>
                  </a:spcAft>
                  <a:buSzPct val="100000"/>
                </a:pP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Diberikan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𝑋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𝑑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adalah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metrik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geodesik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dan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suatu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segitiga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geodesik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oppins" panose="00000500000000000000" pitchFamily="2" charset="0"/>
                      </a:rPr>
                      <m:t>△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oppins" panose="00000500000000000000" pitchFamily="2" charset="0"/>
                          </a:rPr>
                          <m:t>𝑝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oppins" panose="00000500000000000000" pitchFamily="2" charset="0"/>
                          </a:rPr>
                          <m:t>𝑞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oppins" panose="00000500000000000000" pitchFamily="2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di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metrik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geodesik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.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Suatu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segitiga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komparasi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bar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oppins" panose="00000500000000000000" pitchFamily="2" charset="0"/>
                          </a:rPr>
                          <m:t>△</m:t>
                        </m:r>
                      </m:e>
                    </m:ba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bar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𝑝</m:t>
                            </m:r>
                          </m:e>
                        </m:ba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bar>
                          <m:barPr>
                            <m:pos m:val="top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bar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𝑞</m:t>
                            </m:r>
                          </m:e>
                        </m:ba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bar>
                          <m:barPr>
                            <m:pos m:val="top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bar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𝑟</m:t>
                            </m:r>
                          </m:e>
                        </m:bar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adalah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suatu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segitiga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di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bernorma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𝐵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⋅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yang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memenuhi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𝑑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𝑝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𝑞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bar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𝑝</m:t>
                            </m:r>
                          </m:e>
                        </m:ba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−</m:t>
                        </m:r>
                        <m:bar>
                          <m:barPr>
                            <m:pos m:val="top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bar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𝑞</m:t>
                            </m:r>
                          </m:e>
                        </m:ba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𝑑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𝑝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𝑟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bar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𝑝</m:t>
                            </m:r>
                          </m:e>
                        </m:ba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−</m:t>
                        </m:r>
                        <m:bar>
                          <m:barPr>
                            <m:pos m:val="top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bar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𝑟</m:t>
                            </m:r>
                          </m:e>
                        </m:ba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𝑑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𝑞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𝑟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bar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𝑞</m:t>
                            </m:r>
                          </m:e>
                        </m:ba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−</m:t>
                        </m:r>
                        <m:bar>
                          <m:barPr>
                            <m:pos m:val="top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bar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𝑟</m:t>
                            </m:r>
                          </m:e>
                        </m:bar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A659FC9-1E60-8A8E-5AE8-133FD125D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86" y="1666810"/>
                <a:ext cx="7820749" cy="1568763"/>
              </a:xfrm>
              <a:prstGeom prst="rect">
                <a:avLst/>
              </a:prstGeom>
              <a:blipFill>
                <a:blip r:embed="rId7"/>
                <a:stretch>
                  <a:fillRect l="-701" t="-1938" r="-624" b="-116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142;p26">
            <a:extLst>
              <a:ext uri="{FF2B5EF4-FFF2-40B4-BE49-F238E27FC236}">
                <a16:creationId xmlns:a16="http://schemas.microsoft.com/office/drawing/2014/main" id="{0E346B2B-A9DF-DBFA-E77C-87FADDDCD8D5}"/>
              </a:ext>
            </a:extLst>
          </p:cNvPr>
          <p:cNvSpPr/>
          <p:nvPr/>
        </p:nvSpPr>
        <p:spPr>
          <a:xfrm>
            <a:off x="8886389" y="256017"/>
            <a:ext cx="257611" cy="31672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05;p28">
            <a:extLst>
              <a:ext uri="{FF2B5EF4-FFF2-40B4-BE49-F238E27FC236}">
                <a16:creationId xmlns:a16="http://schemas.microsoft.com/office/drawing/2014/main" id="{76F44716-E70D-E749-BB5F-E7E756D96AC8}"/>
              </a:ext>
            </a:extLst>
          </p:cNvPr>
          <p:cNvSpPr/>
          <p:nvPr/>
        </p:nvSpPr>
        <p:spPr>
          <a:xfrm>
            <a:off x="-5593318" y="1224685"/>
            <a:ext cx="5523355" cy="347625"/>
          </a:xfrm>
          <a:prstGeom prst="rect">
            <a:avLst/>
          </a:prstGeom>
          <a:gradFill>
            <a:gsLst>
              <a:gs pos="0">
                <a:srgbClr val="F5F7FC">
                  <a:alpha val="0"/>
                </a:srgbClr>
              </a:gs>
              <a:gs pos="73000">
                <a:srgbClr val="F5AA2D"/>
              </a:gs>
              <a:gs pos="100000">
                <a:srgbClr val="F5AA2D"/>
              </a:gs>
            </a:gsLst>
            <a:lin ang="10800025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206;p28">
            <a:extLst>
              <a:ext uri="{FF2B5EF4-FFF2-40B4-BE49-F238E27FC236}">
                <a16:creationId xmlns:a16="http://schemas.microsoft.com/office/drawing/2014/main" id="{1F2348DC-11DD-6B94-AEF1-B869B0BEC5EE}"/>
              </a:ext>
            </a:extLst>
          </p:cNvPr>
          <p:cNvSpPr txBox="1"/>
          <p:nvPr/>
        </p:nvSpPr>
        <p:spPr>
          <a:xfrm>
            <a:off x="-5087455" y="1175449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(Khamsi dan Shukri, 1999)</a:t>
            </a: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Placeholder 4">
                <a:extLst>
                  <a:ext uri="{FF2B5EF4-FFF2-40B4-BE49-F238E27FC236}">
                    <a16:creationId xmlns:a16="http://schemas.microsoft.com/office/drawing/2014/main" id="{53ECEC89-AA3D-F8BB-6D72-AE54743DC08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5194721" y="754216"/>
                <a:ext cx="2706947" cy="444759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dirty="0">
                    <a:solidFill>
                      <a:srgbClr val="002060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Ruang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𝑪𝑨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𝑻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𝒑</m:t>
                        </m:r>
                      </m:sub>
                    </m:sSub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(</m:t>
                    </m:r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𝟎</m:t>
                    </m:r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3" name="Text Placeholder 4">
                <a:extLst>
                  <a:ext uri="{FF2B5EF4-FFF2-40B4-BE49-F238E27FC236}">
                    <a16:creationId xmlns:a16="http://schemas.microsoft.com/office/drawing/2014/main" id="{53ECEC89-AA3D-F8BB-6D72-AE54743DC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194721" y="754216"/>
                <a:ext cx="2706947" cy="444759"/>
              </a:xfrm>
              <a:prstGeom prst="rect">
                <a:avLst/>
              </a:prstGeom>
              <a:blipFill>
                <a:blip r:embed="rId9"/>
                <a:stretch>
                  <a:fillRect t="-19178" b="-2602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Google Shape;168;p26">
            <a:extLst>
              <a:ext uri="{FF2B5EF4-FFF2-40B4-BE49-F238E27FC236}">
                <a16:creationId xmlns:a16="http://schemas.microsoft.com/office/drawing/2014/main" id="{D889C7E4-2ABE-5738-4E42-7871AEF206B0}"/>
              </a:ext>
            </a:extLst>
          </p:cNvPr>
          <p:cNvSpPr txBox="1"/>
          <p:nvPr/>
        </p:nvSpPr>
        <p:spPr>
          <a:xfrm>
            <a:off x="577396" y="4598004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dirty="0">
                <a:solidFill>
                  <a:schemeClr val="tx1"/>
                </a:solidFill>
              </a:rPr>
              <a:t>Poulsen, S. (2024). A Gentle Introduction to CAT(0) Spaces. </a:t>
            </a:r>
            <a:r>
              <a:rPr lang="en-US" sz="800" dirty="0" err="1">
                <a:solidFill>
                  <a:schemeClr val="tx1"/>
                </a:solidFill>
              </a:rPr>
              <a:t>arXiv</a:t>
            </a:r>
            <a:r>
              <a:rPr lang="en-US" sz="8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5" name="Google Shape;168;p26">
            <a:extLst>
              <a:ext uri="{FF2B5EF4-FFF2-40B4-BE49-F238E27FC236}">
                <a16:creationId xmlns:a16="http://schemas.microsoft.com/office/drawing/2014/main" id="{1B991FF9-A9C1-D386-387D-A7493224990A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1951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BAABEF05-C6EB-9CFE-61C9-4D52FB8F1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05;p28">
            <a:extLst>
              <a:ext uri="{FF2B5EF4-FFF2-40B4-BE49-F238E27FC236}">
                <a16:creationId xmlns:a16="http://schemas.microsoft.com/office/drawing/2014/main" id="{E28F9E89-E811-59B3-3752-5167777BA8DC}"/>
              </a:ext>
            </a:extLst>
          </p:cNvPr>
          <p:cNvSpPr/>
          <p:nvPr/>
        </p:nvSpPr>
        <p:spPr>
          <a:xfrm>
            <a:off x="-1" y="1207726"/>
            <a:ext cx="5523355" cy="347625"/>
          </a:xfrm>
          <a:prstGeom prst="rect">
            <a:avLst/>
          </a:prstGeom>
          <a:gradFill>
            <a:gsLst>
              <a:gs pos="0">
                <a:srgbClr val="F5F7FC">
                  <a:alpha val="0"/>
                </a:srgbClr>
              </a:gs>
              <a:gs pos="73000">
                <a:srgbClr val="F5AA2D"/>
              </a:gs>
              <a:gs pos="100000">
                <a:srgbClr val="F5AA2D"/>
              </a:gs>
            </a:gsLst>
            <a:lin ang="10800025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27" descr="Icon&#10;&#10;Description automatically generated">
            <a:extLst>
              <a:ext uri="{FF2B5EF4-FFF2-40B4-BE49-F238E27FC236}">
                <a16:creationId xmlns:a16="http://schemas.microsoft.com/office/drawing/2014/main" id="{A39EB925-D3BC-AEEC-8771-C735FCEF5B7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>
            <a:extLst>
              <a:ext uri="{FF2B5EF4-FFF2-40B4-BE49-F238E27FC236}">
                <a16:creationId xmlns:a16="http://schemas.microsoft.com/office/drawing/2014/main" id="{FCFFFEF3-266E-8EE3-1DEC-C3609167A4B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7">
            <a:extLst>
              <a:ext uri="{FF2B5EF4-FFF2-40B4-BE49-F238E27FC236}">
                <a16:creationId xmlns:a16="http://schemas.microsoft.com/office/drawing/2014/main" id="{410083EA-0A7A-56E3-D215-CB002EBC9F24}"/>
              </a:ext>
            </a:extLst>
          </p:cNvPr>
          <p:cNvSpPr txBox="1"/>
          <p:nvPr/>
        </p:nvSpPr>
        <p:spPr>
          <a:xfrm>
            <a:off x="4354830" y="81794"/>
            <a:ext cx="45174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Tinjauan</a:t>
            </a: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 Pustaka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1" name="Google Shape;181;p27">
            <a:extLst>
              <a:ext uri="{FF2B5EF4-FFF2-40B4-BE49-F238E27FC236}">
                <a16:creationId xmlns:a16="http://schemas.microsoft.com/office/drawing/2014/main" id="{CC7AB73B-56CB-1CC5-1BEE-A9288D002344}"/>
              </a:ext>
            </a:extLst>
          </p:cNvPr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>
            <a:extLst>
              <a:ext uri="{FF2B5EF4-FFF2-40B4-BE49-F238E27FC236}">
                <a16:creationId xmlns:a16="http://schemas.microsoft.com/office/drawing/2014/main" id="{52DF2F39-F935-7FFD-85DA-1F6684EE3654}"/>
              </a:ext>
            </a:extLst>
          </p:cNvPr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>
            <a:extLst>
              <a:ext uri="{FF2B5EF4-FFF2-40B4-BE49-F238E27FC236}">
                <a16:creationId xmlns:a16="http://schemas.microsoft.com/office/drawing/2014/main" id="{343650EF-5877-93B2-B8FD-41D2B2554B19}"/>
              </a:ext>
            </a:extLst>
          </p:cNvPr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>
            <a:extLst>
              <a:ext uri="{FF2B5EF4-FFF2-40B4-BE49-F238E27FC236}">
                <a16:creationId xmlns:a16="http://schemas.microsoft.com/office/drawing/2014/main" id="{8C726E4A-E787-92F2-4A5F-B7C742FBAC54}"/>
              </a:ext>
            </a:extLst>
          </p:cNvPr>
          <p:cNvSpPr txBox="1"/>
          <p:nvPr/>
        </p:nvSpPr>
        <p:spPr>
          <a:xfrm>
            <a:off x="8730234" y="4871371"/>
            <a:ext cx="41376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5A5A5"/>
                </a:solidFill>
              </a:rPr>
              <a:t>16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4">
                <a:extLst>
                  <a:ext uri="{FF2B5EF4-FFF2-40B4-BE49-F238E27FC236}">
                    <a16:creationId xmlns:a16="http://schemas.microsoft.com/office/drawing/2014/main" id="{D673F9F2-8856-EE62-BD4B-8D6D0866415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0523" y="754216"/>
                <a:ext cx="2706947" cy="444759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dirty="0">
                    <a:solidFill>
                      <a:srgbClr val="002060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Ruang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𝑪𝑨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𝑻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𝒑</m:t>
                        </m:r>
                      </m:sub>
                    </m:sSub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(</m:t>
                    </m:r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𝟎</m:t>
                    </m:r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" name="Text Placeholder 4">
                <a:extLst>
                  <a:ext uri="{FF2B5EF4-FFF2-40B4-BE49-F238E27FC236}">
                    <a16:creationId xmlns:a16="http://schemas.microsoft.com/office/drawing/2014/main" id="{D673F9F2-8856-EE62-BD4B-8D6D08664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523" y="754216"/>
                <a:ext cx="2706947" cy="444759"/>
              </a:xfrm>
              <a:prstGeom prst="rect">
                <a:avLst/>
              </a:prstGeom>
              <a:blipFill>
                <a:blip r:embed="rId5"/>
                <a:stretch>
                  <a:fillRect t="-19178" b="-2602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06;p28">
            <a:extLst>
              <a:ext uri="{FF2B5EF4-FFF2-40B4-BE49-F238E27FC236}">
                <a16:creationId xmlns:a16="http://schemas.microsoft.com/office/drawing/2014/main" id="{86DC24D0-BD3B-34A2-7691-0A8543C55909}"/>
              </a:ext>
            </a:extLst>
          </p:cNvPr>
          <p:cNvSpPr txBox="1"/>
          <p:nvPr/>
        </p:nvSpPr>
        <p:spPr>
          <a:xfrm>
            <a:off x="655986" y="1158490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(Khamsi dan Shukri, 2017)</a:t>
            </a: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06EE750-1FBC-B910-20D4-7193D29FA72D}"/>
                  </a:ext>
                </a:extLst>
              </p:cNvPr>
              <p:cNvSpPr txBox="1"/>
              <p:nvPr/>
            </p:nvSpPr>
            <p:spPr>
              <a:xfrm>
                <a:off x="655986" y="1666810"/>
                <a:ext cx="7820749" cy="16682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300"/>
                  </a:spcAft>
                  <a:buSzPct val="100000"/>
                </a:pP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Diberikan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metrik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geodesik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𝑋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dan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ℓ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  <a:cs typeface="Poppins" panose="00000500000000000000" pitchFamily="2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cs typeface="Poppins" panose="00000500000000000000" pitchFamily="2" charset="0"/>
                                  </a:rPr>
                                  <m:t>⋅</m:t>
                                </m:r>
                              </m:e>
                            </m:d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𝑝</m:t>
                            </m:r>
                          </m:sub>
                        </m:sSub>
                      </m:e>
                    </m:d>
                    <m:r>
                      <a:rPr lang="en-US" sz="1800" b="0" i="0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untuk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𝑝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≥2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. Ruang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𝑋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disebut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sebagai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𝑪𝑨</m:t>
                    </m:r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𝑻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𝒑</m:t>
                        </m:r>
                      </m:sub>
                    </m:sSub>
                    <m:d>
                      <m:dPr>
                        <m:ctrlPr>
                          <a:rPr lang="en-US" sz="180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𝟎</m:t>
                        </m:r>
                      </m:e>
                    </m:d>
                    <m:r>
                      <a:rPr lang="en-US" sz="1800" b="0" i="0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untuk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𝑝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≥2</m:t>
                    </m:r>
                    <m:r>
                      <a:rPr lang="en-US" sz="1800" b="0" i="0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jika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untuk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setiap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segitiga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geodesik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oppins" panose="00000500000000000000" pitchFamily="2" charset="0"/>
                      </a:rPr>
                      <m:t>△∈</m:t>
                    </m:r>
                    <m:r>
                      <a:rPr lang="en-US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oppins" panose="00000500000000000000" pitchFamily="2" charset="0"/>
                      </a:rPr>
                      <m:t>𝑿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,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terdapat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segitiga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komparasi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180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bar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oppins" panose="00000500000000000000" pitchFamily="2" charset="0"/>
                          </a:rPr>
                          <m:t>△</m:t>
                        </m:r>
                      </m:e>
                    </m:bar>
                    <m:r>
                      <a:rPr lang="en-US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oppins" panose="00000500000000000000" pitchFamily="2" charset="0"/>
                      </a:rPr>
                      <m:t>∈</m:t>
                    </m:r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oppins" panose="00000500000000000000" pitchFamily="2" charset="0"/>
                          </a:rPr>
                          <m:t>ℓ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oppins" panose="00000500000000000000" pitchFamily="2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sehingga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untuk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setiap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180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bar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𝑥</m:t>
                        </m:r>
                      </m:e>
                    </m:ba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  <m:bar>
                      <m:barPr>
                        <m:pos m:val="top"/>
                        <m:ctrlPr>
                          <a:rPr lang="en-US" sz="180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bar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𝑦</m:t>
                        </m:r>
                      </m:e>
                    </m:ba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∈</m:t>
                    </m:r>
                    <m:bar>
                      <m:barPr>
                        <m:pos m:val="top"/>
                        <m:ctrlPr>
                          <a:rPr lang="en-US" sz="180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bar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oppins" panose="00000500000000000000" pitchFamily="2" charset="0"/>
                          </a:rPr>
                          <m:t>△</m:t>
                        </m:r>
                      </m:e>
                    </m:ba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 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berlaku </a:t>
                </a:r>
                <a:endParaRPr lang="en-US" sz="1800" b="0" i="1" dirty="0">
                  <a:latin typeface="Cambria Math" panose="02040503050406030204" pitchFamily="18" charset="0"/>
                  <a:cs typeface="Poppins" panose="00000500000000000000" pitchFamily="2" charset="0"/>
                </a:endParaRPr>
              </a:p>
              <a:p>
                <a:pPr algn="ctr">
                  <a:spcAft>
                    <a:spcPts val="300"/>
                  </a:spcAft>
                  <a:buSzPct val="100000"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𝑑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𝑥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𝑦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≤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  <a:cs typeface="Poppins" panose="00000500000000000000" pitchFamily="2" charset="0"/>
                                  </a:rPr>
                                </m:ctrlPr>
                              </m:bar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cs typeface="Poppins" panose="00000500000000000000" pitchFamily="2" charset="0"/>
                                  </a:rPr>
                                  <m:t>𝑥</m:t>
                                </m:r>
                              </m:e>
                            </m:ba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−</m:t>
                            </m:r>
                            <m:bar>
                              <m:barPr>
                                <m:pos m:val="top"/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  <a:cs typeface="Poppins" panose="00000500000000000000" pitchFamily="2" charset="0"/>
                                  </a:rPr>
                                </m:ctrlPr>
                              </m:bar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cs typeface="Poppins" panose="00000500000000000000" pitchFamily="2" charset="0"/>
                                  </a:rPr>
                                  <m:t>𝑦</m:t>
                                </m:r>
                              </m:e>
                            </m:bar>
                          </m:e>
                        </m:d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06EE750-1FBC-B910-20D4-7193D29FA7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86" y="1666810"/>
                <a:ext cx="7820749" cy="1668214"/>
              </a:xfrm>
              <a:prstGeom prst="rect">
                <a:avLst/>
              </a:prstGeom>
              <a:blipFill>
                <a:blip r:embed="rId6"/>
                <a:stretch>
                  <a:fillRect l="-701" t="-365" r="-624" b="-365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142;p26">
            <a:extLst>
              <a:ext uri="{FF2B5EF4-FFF2-40B4-BE49-F238E27FC236}">
                <a16:creationId xmlns:a16="http://schemas.microsoft.com/office/drawing/2014/main" id="{2A7F210E-A9CF-A378-382D-79292D4C7A3C}"/>
              </a:ext>
            </a:extLst>
          </p:cNvPr>
          <p:cNvSpPr/>
          <p:nvPr/>
        </p:nvSpPr>
        <p:spPr>
          <a:xfrm>
            <a:off x="8886389" y="256017"/>
            <a:ext cx="257611" cy="31672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" name="Google Shape;204;p28">
            <a:extLst>
              <a:ext uri="{FF2B5EF4-FFF2-40B4-BE49-F238E27FC236}">
                <a16:creationId xmlns:a16="http://schemas.microsoft.com/office/drawing/2014/main" id="{B92BA5A8-702A-BD99-0AB5-086C362B8EB7}"/>
              </a:ext>
            </a:extLst>
          </p:cNvPr>
          <p:cNvGrpSpPr/>
          <p:nvPr/>
        </p:nvGrpSpPr>
        <p:grpSpPr>
          <a:xfrm>
            <a:off x="9662640" y="1158490"/>
            <a:ext cx="6320838" cy="396861"/>
            <a:chOff x="0" y="1294124"/>
            <a:chExt cx="5320355" cy="529148"/>
          </a:xfrm>
        </p:grpSpPr>
        <p:sp>
          <p:nvSpPr>
            <p:cNvPr id="11" name="Google Shape;205;p28">
              <a:extLst>
                <a:ext uri="{FF2B5EF4-FFF2-40B4-BE49-F238E27FC236}">
                  <a16:creationId xmlns:a16="http://schemas.microsoft.com/office/drawing/2014/main" id="{359BC895-FC93-F03F-BAF0-B8352C3D3BE7}"/>
                </a:ext>
              </a:extLst>
            </p:cNvPr>
            <p:cNvSpPr/>
            <p:nvPr/>
          </p:nvSpPr>
          <p:spPr>
            <a:xfrm>
              <a:off x="0" y="1359772"/>
              <a:ext cx="4649100" cy="463500"/>
            </a:xfrm>
            <a:prstGeom prst="rect">
              <a:avLst/>
            </a:prstGeom>
            <a:gradFill>
              <a:gsLst>
                <a:gs pos="0">
                  <a:srgbClr val="F5F7FC">
                    <a:alpha val="0"/>
                  </a:srgbClr>
                </a:gs>
                <a:gs pos="73000">
                  <a:srgbClr val="F5AA2D"/>
                </a:gs>
                <a:gs pos="100000">
                  <a:srgbClr val="F5AA2D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206;p28">
              <a:extLst>
                <a:ext uri="{FF2B5EF4-FFF2-40B4-BE49-F238E27FC236}">
                  <a16:creationId xmlns:a16="http://schemas.microsoft.com/office/drawing/2014/main" id="{67B90729-6041-4649-D619-4ACED34D7790}"/>
                </a:ext>
              </a:extLst>
            </p:cNvPr>
            <p:cNvSpPr txBox="1"/>
            <p:nvPr/>
          </p:nvSpPr>
          <p:spPr>
            <a:xfrm>
              <a:off x="552155" y="1294124"/>
              <a:ext cx="4768200" cy="5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b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dirty="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(Bridson dan </a:t>
              </a:r>
              <a:r>
                <a:rPr lang="en-US" sz="1800" dirty="0" err="1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Haefliger</a:t>
              </a:r>
              <a:r>
                <a:rPr lang="en-US" sz="1800" dirty="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, 1999)</a:t>
              </a:r>
              <a:endParaRPr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13" name="Google Shape;204;p28">
            <a:extLst>
              <a:ext uri="{FF2B5EF4-FFF2-40B4-BE49-F238E27FC236}">
                <a16:creationId xmlns:a16="http://schemas.microsoft.com/office/drawing/2014/main" id="{FE555098-C219-220F-2D6A-3014A0CB752B}"/>
              </a:ext>
            </a:extLst>
          </p:cNvPr>
          <p:cNvGrpSpPr/>
          <p:nvPr/>
        </p:nvGrpSpPr>
        <p:grpSpPr>
          <a:xfrm>
            <a:off x="-5438649" y="1158490"/>
            <a:ext cx="6320838" cy="396861"/>
            <a:chOff x="0" y="1294124"/>
            <a:chExt cx="5320355" cy="529148"/>
          </a:xfrm>
        </p:grpSpPr>
        <p:sp>
          <p:nvSpPr>
            <p:cNvPr id="14" name="Google Shape;205;p28">
              <a:extLst>
                <a:ext uri="{FF2B5EF4-FFF2-40B4-BE49-F238E27FC236}">
                  <a16:creationId xmlns:a16="http://schemas.microsoft.com/office/drawing/2014/main" id="{949D4147-4CC3-3EF5-062D-66336ED68DA8}"/>
                </a:ext>
              </a:extLst>
            </p:cNvPr>
            <p:cNvSpPr/>
            <p:nvPr/>
          </p:nvSpPr>
          <p:spPr>
            <a:xfrm>
              <a:off x="0" y="1359772"/>
              <a:ext cx="4649100" cy="463500"/>
            </a:xfrm>
            <a:prstGeom prst="rect">
              <a:avLst/>
            </a:prstGeom>
            <a:gradFill>
              <a:gsLst>
                <a:gs pos="0">
                  <a:srgbClr val="F5F7FC">
                    <a:alpha val="0"/>
                  </a:srgbClr>
                </a:gs>
                <a:gs pos="73000">
                  <a:srgbClr val="F5AA2D"/>
                </a:gs>
                <a:gs pos="100000">
                  <a:srgbClr val="F5AA2D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06;p28">
              <a:extLst>
                <a:ext uri="{FF2B5EF4-FFF2-40B4-BE49-F238E27FC236}">
                  <a16:creationId xmlns:a16="http://schemas.microsoft.com/office/drawing/2014/main" id="{654E85C3-ED99-6201-91BF-E7C26ED2F040}"/>
                </a:ext>
              </a:extLst>
            </p:cNvPr>
            <p:cNvSpPr txBox="1"/>
            <p:nvPr/>
          </p:nvSpPr>
          <p:spPr>
            <a:xfrm>
              <a:off x="552155" y="1294124"/>
              <a:ext cx="4768200" cy="5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b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dirty="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(Salisu </a:t>
              </a:r>
              <a:r>
                <a:rPr lang="en-US" sz="1800" dirty="0" err="1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dkk</a:t>
              </a:r>
              <a:r>
                <a:rPr lang="en-US" sz="1800" dirty="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., 2022)</a:t>
              </a:r>
              <a:endParaRPr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59D3B29-3F27-0136-2BA9-7055FB6EECDA}"/>
                  </a:ext>
                </a:extLst>
              </p:cNvPr>
              <p:cNvSpPr txBox="1"/>
              <p:nvPr/>
            </p:nvSpPr>
            <p:spPr>
              <a:xfrm>
                <a:off x="591938" y="3249103"/>
                <a:ext cx="7820749" cy="1463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300"/>
                  </a:spcAft>
                  <a:buSzPct val="100000"/>
                </a:pP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Diberikan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𝑋</m:t>
                        </m:r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adalah ruang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𝐶𝐴</m:t>
                    </m:r>
                    <m:sSub>
                      <m:sSubPr>
                        <m:ctrlPr>
                          <a:rPr lang="en-US" sz="1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sz="1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0</m:t>
                        </m:r>
                      </m:e>
                    </m:d>
                    <m:r>
                      <a:rPr lang="en-US" sz="18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untuk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𝑝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&gt;2</m:t>
                    </m:r>
                    <m:r>
                      <a:rPr lang="en-US" sz="18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dan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adalah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barisan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terbatas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di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𝑋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. </a:t>
                </a:r>
                <a:r>
                  <a:rPr lang="en-US" sz="1800" b="1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Pusat </a:t>
                </a:r>
                <a:r>
                  <a:rPr lang="en-US" sz="1800" b="1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asimtotik</a:t>
                </a:r>
                <a:r>
                  <a:rPr lang="en-US" sz="1800" b="1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dari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barisan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di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𝐶𝐴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didefinisikan</a:t>
                </a:r>
                <a:r>
                  <a:rPr lang="en-US" sz="18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sebagai</a:t>
                </a:r>
                <a:endParaRPr lang="en-US" sz="18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algn="just">
                  <a:spcAft>
                    <a:spcPts val="300"/>
                  </a:spcAft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𝐴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≔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𝑥</m:t>
                          </m:r>
                          <m: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∈</m:t>
                          </m:r>
                          <m: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𝑋</m:t>
                          </m:r>
                          <m: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 | </m:t>
                          </m:r>
                          <m:limLow>
                            <m:limLowPr>
                              <m:ctrlPr>
                                <a:rPr lang="en-US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limsup</m:t>
                              </m:r>
                            </m:e>
                            <m:lim>
                              <m:r>
                                <a:rPr lang="en-US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𝑛</m:t>
                              </m:r>
                              <m:r>
                                <a:rPr lang="en-US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→∞</m:t>
                              </m:r>
                            </m:lim>
                          </m:limLow>
                          <m: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 </m:t>
                          </m:r>
                          <m: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𝑥</m:t>
                              </m:r>
                              <m:r>
                                <a:rPr lang="en-US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inf</m:t>
                                  </m:r>
                                </m:e>
                                <m:lim>
                                  <m:r>
                                    <a:rPr lang="en-US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𝑦</m:t>
                                  </m:r>
                                  <m:r>
                                    <a:rPr lang="en-US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∈</m:t>
                                  </m:r>
                                  <m:r>
                                    <a:rPr lang="en-US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𝑋</m:t>
                                  </m:r>
                                </m:lim>
                              </m:limLow>
                            </m:fName>
                            <m:e>
                              <m:func>
                                <m:funcPr>
                                  <m:ctrlPr>
                                    <a:rPr lang="en-US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1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limsup</m:t>
                                      </m:r>
                                    </m:e>
                                    <m:lim>
                                      <m:r>
                                        <a:rPr lang="en-US" sz="1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𝑛</m:t>
                                      </m:r>
                                      <m:r>
                                        <a:rPr lang="en-US" sz="1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→∞</m:t>
                                      </m:r>
                                    </m:lim>
                                  </m:limLow>
                                </m:fName>
                                <m:e>
                                  <m:r>
                                    <a:rPr lang="en-US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𝑑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𝑦</m:t>
                                      </m:r>
                                      <m:r>
                                        <a:rPr lang="en-US" sz="1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sz="1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func>
                        </m:e>
                      </m:d>
                      <m:r>
                        <a:rPr lang="en-US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.</m:t>
                      </m:r>
                    </m:oMath>
                  </m:oMathPara>
                </a14:m>
                <a:endParaRPr lang="en-US" sz="18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59D3B29-3F27-0136-2BA9-7055FB6EE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938" y="3249103"/>
                <a:ext cx="7820749" cy="1463221"/>
              </a:xfrm>
              <a:prstGeom prst="rect">
                <a:avLst/>
              </a:prstGeom>
              <a:blipFill>
                <a:blip r:embed="rId8"/>
                <a:stretch>
                  <a:fillRect l="-624" t="-2083" r="-701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Google Shape;168;p26">
            <a:extLst>
              <a:ext uri="{FF2B5EF4-FFF2-40B4-BE49-F238E27FC236}">
                <a16:creationId xmlns:a16="http://schemas.microsoft.com/office/drawing/2014/main" id="{CD582E48-AC28-CE5C-645F-14ABBC01D039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22803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7F7DE44D-383C-3119-854D-5C46857CE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descr="Icon&#10;&#10;Description automatically generated">
            <a:extLst>
              <a:ext uri="{FF2B5EF4-FFF2-40B4-BE49-F238E27FC236}">
                <a16:creationId xmlns:a16="http://schemas.microsoft.com/office/drawing/2014/main" id="{BBE3CF7B-8765-74F9-AF13-B6D39B5AE1D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>
            <a:extLst>
              <a:ext uri="{FF2B5EF4-FFF2-40B4-BE49-F238E27FC236}">
                <a16:creationId xmlns:a16="http://schemas.microsoft.com/office/drawing/2014/main" id="{E9DE5950-8D50-9AC5-6E31-9D564984996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7">
            <a:extLst>
              <a:ext uri="{FF2B5EF4-FFF2-40B4-BE49-F238E27FC236}">
                <a16:creationId xmlns:a16="http://schemas.microsoft.com/office/drawing/2014/main" id="{FDFFC251-045D-FF69-566C-49A9CC956DBF}"/>
              </a:ext>
            </a:extLst>
          </p:cNvPr>
          <p:cNvSpPr txBox="1"/>
          <p:nvPr/>
        </p:nvSpPr>
        <p:spPr>
          <a:xfrm>
            <a:off x="4354830" y="81794"/>
            <a:ext cx="45174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Tinjauan</a:t>
            </a: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 Pustaka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1" name="Google Shape;181;p27">
            <a:extLst>
              <a:ext uri="{FF2B5EF4-FFF2-40B4-BE49-F238E27FC236}">
                <a16:creationId xmlns:a16="http://schemas.microsoft.com/office/drawing/2014/main" id="{6BE70F22-43EC-20BF-E080-EEAF6BF0289F}"/>
              </a:ext>
            </a:extLst>
          </p:cNvPr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>
            <a:extLst>
              <a:ext uri="{FF2B5EF4-FFF2-40B4-BE49-F238E27FC236}">
                <a16:creationId xmlns:a16="http://schemas.microsoft.com/office/drawing/2014/main" id="{49C0D435-811A-19C6-02FE-4A1A1B77C40D}"/>
              </a:ext>
            </a:extLst>
          </p:cNvPr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>
            <a:extLst>
              <a:ext uri="{FF2B5EF4-FFF2-40B4-BE49-F238E27FC236}">
                <a16:creationId xmlns:a16="http://schemas.microsoft.com/office/drawing/2014/main" id="{7ECD3E45-7315-2762-39EB-7D26C229551B}"/>
              </a:ext>
            </a:extLst>
          </p:cNvPr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>
            <a:extLst>
              <a:ext uri="{FF2B5EF4-FFF2-40B4-BE49-F238E27FC236}">
                <a16:creationId xmlns:a16="http://schemas.microsoft.com/office/drawing/2014/main" id="{19894472-3F71-182B-E9C9-A5CCA1ECA5A0}"/>
              </a:ext>
            </a:extLst>
          </p:cNvPr>
          <p:cNvSpPr txBox="1"/>
          <p:nvPr/>
        </p:nvSpPr>
        <p:spPr>
          <a:xfrm>
            <a:off x="8730234" y="4871371"/>
            <a:ext cx="41376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B43044FA-ABFF-7D7E-DEA1-E0B7578E6073}"/>
              </a:ext>
            </a:extLst>
          </p:cNvPr>
          <p:cNvSpPr txBox="1">
            <a:spLocks/>
          </p:cNvSpPr>
          <p:nvPr/>
        </p:nvSpPr>
        <p:spPr>
          <a:xfrm>
            <a:off x="530523" y="754216"/>
            <a:ext cx="3522862" cy="4447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err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Beberapa</a:t>
            </a:r>
            <a:r>
              <a:rPr lang="en-US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konsep</a:t>
            </a:r>
            <a:r>
              <a:rPr lang="en-US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di</a:t>
            </a:r>
            <a:endParaRPr lang="en-US" dirty="0">
              <a:solidFill>
                <a:srgbClr val="002060"/>
              </a:solidFill>
              <a:latin typeface="+mj-lt"/>
            </a:endParaRPr>
          </a:p>
        </p:txBody>
      </p:sp>
      <p:grpSp>
        <p:nvGrpSpPr>
          <p:cNvPr id="3" name="Google Shape;204;p28">
            <a:extLst>
              <a:ext uri="{FF2B5EF4-FFF2-40B4-BE49-F238E27FC236}">
                <a16:creationId xmlns:a16="http://schemas.microsoft.com/office/drawing/2014/main" id="{69F093D0-235E-8FBB-9459-44F49AF7C2C0}"/>
              </a:ext>
            </a:extLst>
          </p:cNvPr>
          <p:cNvGrpSpPr/>
          <p:nvPr/>
        </p:nvGrpSpPr>
        <p:grpSpPr>
          <a:xfrm>
            <a:off x="-1" y="1158490"/>
            <a:ext cx="6320838" cy="396861"/>
            <a:chOff x="0" y="1294124"/>
            <a:chExt cx="5320355" cy="529148"/>
          </a:xfrm>
        </p:grpSpPr>
        <p:sp>
          <p:nvSpPr>
            <p:cNvPr id="6" name="Google Shape;205;p28">
              <a:extLst>
                <a:ext uri="{FF2B5EF4-FFF2-40B4-BE49-F238E27FC236}">
                  <a16:creationId xmlns:a16="http://schemas.microsoft.com/office/drawing/2014/main" id="{6FBCE0AC-CC2A-074E-90B0-E72D47335FE7}"/>
                </a:ext>
              </a:extLst>
            </p:cNvPr>
            <p:cNvSpPr/>
            <p:nvPr/>
          </p:nvSpPr>
          <p:spPr>
            <a:xfrm>
              <a:off x="0" y="1359772"/>
              <a:ext cx="4649100" cy="463500"/>
            </a:xfrm>
            <a:prstGeom prst="rect">
              <a:avLst/>
            </a:prstGeom>
            <a:gradFill>
              <a:gsLst>
                <a:gs pos="0">
                  <a:srgbClr val="F5F7FC">
                    <a:alpha val="0"/>
                  </a:srgbClr>
                </a:gs>
                <a:gs pos="73000">
                  <a:srgbClr val="F5AA2D"/>
                </a:gs>
                <a:gs pos="100000">
                  <a:srgbClr val="F5AA2D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206;p28">
              <a:extLst>
                <a:ext uri="{FF2B5EF4-FFF2-40B4-BE49-F238E27FC236}">
                  <a16:creationId xmlns:a16="http://schemas.microsoft.com/office/drawing/2014/main" id="{DAD8E159-23AE-69BF-88B0-EF2EE844F19D}"/>
                </a:ext>
              </a:extLst>
            </p:cNvPr>
            <p:cNvSpPr txBox="1"/>
            <p:nvPr/>
          </p:nvSpPr>
          <p:spPr>
            <a:xfrm>
              <a:off x="552155" y="1294124"/>
              <a:ext cx="4768200" cy="5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b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dirty="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(Salisu </a:t>
              </a:r>
              <a:r>
                <a:rPr lang="en-US" sz="1800" dirty="0" err="1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dkk</a:t>
              </a:r>
              <a:r>
                <a:rPr lang="en-US" sz="1800" dirty="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., 2022)</a:t>
              </a:r>
              <a:endParaRPr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9AEF7F-28B0-9226-5FAE-BC45CAB2B184}"/>
                  </a:ext>
                </a:extLst>
              </p:cNvPr>
              <p:cNvSpPr txBox="1"/>
              <p:nvPr/>
            </p:nvSpPr>
            <p:spPr>
              <a:xfrm>
                <a:off x="655986" y="1666810"/>
                <a:ext cx="7820749" cy="1463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300"/>
                  </a:spcAft>
                  <a:buSzPct val="100000"/>
                </a:pP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Diberikan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𝑋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adalah ruang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𝐶𝐴</m:t>
                    </m:r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0</m:t>
                        </m:r>
                      </m:e>
                    </m:d>
                    <m:r>
                      <a:rPr lang="en-US" sz="1800" b="0" i="0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untuk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𝑝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≥2</m:t>
                    </m:r>
                    <m:r>
                      <a:rPr lang="en-US" sz="1800" b="0" i="0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dan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adalah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barisan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terbatas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di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𝑋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. 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Pusat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asimtotik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dari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barisan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di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𝐶𝐴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didefinisikan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sebagai</a:t>
                </a:r>
                <a:endParaRPr lang="en-US" sz="18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algn="just">
                  <a:spcAft>
                    <a:spcPts val="300"/>
                  </a:spcAft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𝐴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≔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𝑥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∈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𝑋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 | </m:t>
                          </m:r>
                          <m:limLow>
                            <m:limLow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limsup</m:t>
                              </m:r>
                            </m:e>
                            <m:lim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𝑛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→∞</m:t>
                              </m:r>
                            </m:lim>
                          </m:limLow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 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𝑥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inf</m:t>
                                  </m:r>
                                </m:e>
                                <m:lim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𝑦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∈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𝑋</m:t>
                                  </m:r>
                                </m:lim>
                              </m:limLow>
                            </m:fName>
                            <m:e>
                              <m:func>
                                <m:func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 b="0" i="0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limsup</m:t>
                                      </m:r>
                                    </m:e>
                                    <m:lim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𝑛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→∞</m:t>
                                      </m:r>
                                    </m:lim>
                                  </m:limLow>
                                </m:fName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𝑑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𝑦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func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.</m:t>
                      </m:r>
                    </m:oMath>
                  </m:oMathPara>
                </a14:m>
                <a:endParaRPr lang="en-US" sz="18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9AEF7F-28B0-9226-5FAE-BC45CAB2B1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86" y="1666810"/>
                <a:ext cx="7820749" cy="1463221"/>
              </a:xfrm>
              <a:prstGeom prst="rect">
                <a:avLst/>
              </a:prstGeom>
              <a:blipFill>
                <a:blip r:embed="rId5"/>
                <a:stretch>
                  <a:fillRect l="-701" t="-1667" r="-62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142;p26">
            <a:extLst>
              <a:ext uri="{FF2B5EF4-FFF2-40B4-BE49-F238E27FC236}">
                <a16:creationId xmlns:a16="http://schemas.microsoft.com/office/drawing/2014/main" id="{2D2124ED-3146-43EB-FF6B-A6D3E808763C}"/>
              </a:ext>
            </a:extLst>
          </p:cNvPr>
          <p:cNvSpPr/>
          <p:nvPr/>
        </p:nvSpPr>
        <p:spPr>
          <a:xfrm>
            <a:off x="8886389" y="256017"/>
            <a:ext cx="257611" cy="31672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168;p26">
                <a:extLst>
                  <a:ext uri="{FF2B5EF4-FFF2-40B4-BE49-F238E27FC236}">
                    <a16:creationId xmlns:a16="http://schemas.microsoft.com/office/drawing/2014/main" id="{2593F93E-ECF3-DD07-8D89-92DF3EE095CE}"/>
                  </a:ext>
                </a:extLst>
              </p:cNvPr>
              <p:cNvSpPr txBox="1"/>
              <p:nvPr/>
            </p:nvSpPr>
            <p:spPr>
              <a:xfrm>
                <a:off x="530526" y="4908275"/>
                <a:ext cx="6092696" cy="2019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75" tIns="34275" rIns="68575" bIns="34275" anchor="t" anchorCtr="0">
                <a:spAutoFit/>
              </a:bodyPr>
              <a:lstStyle/>
              <a:p>
                <a:pPr lvl="0">
                  <a:buClr>
                    <a:schemeClr val="dk1"/>
                  </a:buClr>
                </a:pPr>
                <a:r>
                  <a:rPr lang="en-US" sz="800" i="1" dirty="0">
                    <a:solidFill>
                      <a:schemeClr val="lt1"/>
                    </a:solidFill>
                  </a:rPr>
                  <a:t>Konvergensi Skema </a:t>
                </a:r>
                <a:r>
                  <a:rPr lang="en-US" sz="800" i="1" dirty="0" err="1">
                    <a:solidFill>
                      <a:schemeClr val="lt1"/>
                    </a:solidFill>
                  </a:rPr>
                  <a:t>Iterasi</a:t>
                </a:r>
                <a:r>
                  <a:rPr lang="en-US" sz="800" i="1" dirty="0">
                    <a:solidFill>
                      <a:schemeClr val="lt1"/>
                    </a:solidFill>
                  </a:rPr>
                  <a:t> Sabri </a:t>
                </a:r>
                <a:r>
                  <a:rPr lang="en-US" sz="800" i="1" dirty="0" err="1">
                    <a:solidFill>
                      <a:schemeClr val="lt1"/>
                    </a:solidFill>
                  </a:rPr>
                  <a:t>untuk</a:t>
                </a:r>
                <a:r>
                  <a:rPr lang="en-US" sz="800" i="1" dirty="0">
                    <a:solidFill>
                      <a:schemeClr val="lt1"/>
                    </a:solidFill>
                  </a:rPr>
                  <a:t> </a:t>
                </a:r>
                <a:r>
                  <a:rPr lang="en-US" sz="800" i="1" dirty="0" err="1">
                    <a:solidFill>
                      <a:schemeClr val="lt1"/>
                    </a:solidFill>
                  </a:rPr>
                  <a:t>Kelas</a:t>
                </a:r>
                <a:r>
                  <a:rPr lang="en-US" sz="800" i="1" dirty="0">
                    <a:solidFill>
                      <a:schemeClr val="lt1"/>
                    </a:solidFill>
                  </a:rPr>
                  <a:t> </a:t>
                </a:r>
                <a:r>
                  <a:rPr lang="en-US" sz="800" i="1" dirty="0" err="1">
                    <a:solidFill>
                      <a:schemeClr val="lt1"/>
                    </a:solidFill>
                  </a:rPr>
                  <a:t>Pemetaan</a:t>
                </a:r>
                <a:r>
                  <a:rPr lang="en-US" sz="800" i="1" dirty="0">
                    <a:solidFill>
                      <a:schemeClr val="lt1"/>
                    </a:solidFill>
                  </a:rPr>
                  <a:t> </a:t>
                </a:r>
                <a:r>
                  <a:rPr lang="en-US" sz="800" i="1" dirty="0" err="1">
                    <a:solidFill>
                      <a:schemeClr val="lt1"/>
                    </a:solidFill>
                  </a:rPr>
                  <a:t>Nonekspansif</a:t>
                </a:r>
                <a:r>
                  <a:rPr lang="en-US" sz="800" i="1" dirty="0">
                    <a:solidFill>
                      <a:schemeClr val="lt1"/>
                    </a:solidFill>
                  </a:rPr>
                  <a:t> </a:t>
                </a:r>
                <a:r>
                  <a:rPr lang="en-US" sz="800" i="1" dirty="0" err="1">
                    <a:solidFill>
                      <a:schemeClr val="lt1"/>
                    </a:solidFill>
                  </a:rPr>
                  <a:t>Diperumum</a:t>
                </a:r>
                <a:r>
                  <a:rPr lang="en-US" sz="800" i="1" dirty="0">
                    <a:solidFill>
                      <a:schemeClr val="lt1"/>
                    </a:solidFill>
                  </a:rPr>
                  <a:t> di Ruang </a:t>
                </a:r>
                <a14:m>
                  <m:oMath xmlns:m="http://schemas.openxmlformats.org/officeDocument/2006/math">
                    <m:r>
                      <a:rPr lang="en-US" sz="800" i="1" dirty="0" smtClean="0">
                        <a:solidFill>
                          <a:schemeClr val="lt1"/>
                        </a:solidFill>
                        <a:latin typeface="Cambria Math" panose="02040503050406030204" pitchFamily="18" charset="0"/>
                      </a:rPr>
                      <m:t>𝐶𝐴</m:t>
                    </m:r>
                    <m:sSub>
                      <m:sSubPr>
                        <m:ctrlPr>
                          <a:rPr lang="en-US" sz="800" i="1" dirty="0" err="1" smtClean="0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i="1" dirty="0" smtClean="0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800" i="1" dirty="0" err="1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800" i="1" dirty="0">
                        <a:solidFill>
                          <a:schemeClr val="lt1"/>
                        </a:solidFill>
                        <a:latin typeface="Cambria Math" panose="02040503050406030204" pitchFamily="18" charset="0"/>
                      </a:rPr>
                      <m:t>(0</m:t>
                    </m:r>
                    <m:r>
                      <a:rPr lang="en-US" sz="800" i="1" dirty="0" smtClean="0">
                        <a:solidFill>
                          <a:schemeClr val="lt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800" i="1" dirty="0">
                    <a:solidFill>
                      <a:schemeClr val="lt1"/>
                    </a:solidFill>
                  </a:rPr>
                  <a:t> </a:t>
                </a:r>
                <a:r>
                  <a:rPr lang="en-US" sz="800" i="1" dirty="0" err="1">
                    <a:solidFill>
                      <a:schemeClr val="lt1"/>
                    </a:solidFill>
                  </a:rPr>
                  <a:t>beserta</a:t>
                </a:r>
                <a:r>
                  <a:rPr lang="en-US" sz="800" i="1" dirty="0">
                    <a:solidFill>
                      <a:schemeClr val="lt1"/>
                    </a:solidFill>
                  </a:rPr>
                  <a:t> </a:t>
                </a:r>
                <a:r>
                  <a:rPr lang="en-US" sz="800" i="1" dirty="0" err="1">
                    <a:solidFill>
                      <a:schemeClr val="lt1"/>
                    </a:solidFill>
                  </a:rPr>
                  <a:t>Aplikasinya</a:t>
                </a:r>
                <a:endParaRPr sz="800" dirty="0">
                  <a:solidFill>
                    <a:schemeClr val="lt1"/>
                  </a:solidFill>
                </a:endParaRPr>
              </a:p>
            </p:txBody>
          </p:sp>
        </mc:Choice>
        <mc:Fallback xmlns="">
          <p:sp>
            <p:nvSpPr>
              <p:cNvPr id="9" name="Google Shape;168;p26">
                <a:extLst>
                  <a:ext uri="{FF2B5EF4-FFF2-40B4-BE49-F238E27FC236}">
                    <a16:creationId xmlns:a16="http://schemas.microsoft.com/office/drawing/2014/main" id="{2593F93E-ECF3-DD07-8D89-92DF3EE09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526" y="4908275"/>
                <a:ext cx="6092696" cy="201948"/>
              </a:xfrm>
              <a:prstGeom prst="rect">
                <a:avLst/>
              </a:prstGeom>
              <a:blipFill>
                <a:blip r:embed="rId6"/>
                <a:stretch>
                  <a:fillRect b="-90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05;p28">
            <a:extLst>
              <a:ext uri="{FF2B5EF4-FFF2-40B4-BE49-F238E27FC236}">
                <a16:creationId xmlns:a16="http://schemas.microsoft.com/office/drawing/2014/main" id="{7A9B565D-FBA6-0010-7E23-F84AD60E469B}"/>
              </a:ext>
            </a:extLst>
          </p:cNvPr>
          <p:cNvSpPr/>
          <p:nvPr/>
        </p:nvSpPr>
        <p:spPr>
          <a:xfrm>
            <a:off x="9685386" y="1209998"/>
            <a:ext cx="5523355" cy="347625"/>
          </a:xfrm>
          <a:prstGeom prst="rect">
            <a:avLst/>
          </a:prstGeom>
          <a:gradFill>
            <a:gsLst>
              <a:gs pos="0">
                <a:srgbClr val="F5F7FC">
                  <a:alpha val="0"/>
                </a:srgbClr>
              </a:gs>
              <a:gs pos="73000">
                <a:srgbClr val="F5AA2D"/>
              </a:gs>
              <a:gs pos="100000">
                <a:srgbClr val="F5AA2D"/>
              </a:gs>
            </a:gsLst>
            <a:lin ang="10800025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06;p28">
            <a:extLst>
              <a:ext uri="{FF2B5EF4-FFF2-40B4-BE49-F238E27FC236}">
                <a16:creationId xmlns:a16="http://schemas.microsoft.com/office/drawing/2014/main" id="{4878B580-01C9-5385-A977-A8F3BAD33FD4}"/>
              </a:ext>
            </a:extLst>
          </p:cNvPr>
          <p:cNvSpPr txBox="1"/>
          <p:nvPr/>
        </p:nvSpPr>
        <p:spPr>
          <a:xfrm>
            <a:off x="10341373" y="1160762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(Khamsi dan Shukri, 2017)</a:t>
            </a: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Placeholder 4">
                <a:extLst>
                  <a:ext uri="{FF2B5EF4-FFF2-40B4-BE49-F238E27FC236}">
                    <a16:creationId xmlns:a16="http://schemas.microsoft.com/office/drawing/2014/main" id="{4B7B454E-EFBB-237D-2538-C55B8CE6CBD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71113" y="781511"/>
                <a:ext cx="2706947" cy="444759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dirty="0">
                    <a:solidFill>
                      <a:srgbClr val="002060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Ruang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𝑪𝑨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𝑻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𝒑</m:t>
                        </m:r>
                      </m:sub>
                    </m:sSub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(</m:t>
                    </m:r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𝟎</m:t>
                    </m:r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2" name="Text Placeholder 4">
                <a:extLst>
                  <a:ext uri="{FF2B5EF4-FFF2-40B4-BE49-F238E27FC236}">
                    <a16:creationId xmlns:a16="http://schemas.microsoft.com/office/drawing/2014/main" id="{4B7B454E-EFBB-237D-2538-C55B8CE6CB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1113" y="781511"/>
                <a:ext cx="2706947" cy="444759"/>
              </a:xfrm>
              <a:prstGeom prst="rect">
                <a:avLst/>
              </a:prstGeom>
              <a:blipFill>
                <a:blip r:embed="rId7"/>
                <a:stretch>
                  <a:fillRect t="-17808" b="-2739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92383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66F9554F-0F2B-4A8C-B9CF-D7F78BBC9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descr="Icon&#10;&#10;Description automatically generated">
            <a:extLst>
              <a:ext uri="{FF2B5EF4-FFF2-40B4-BE49-F238E27FC236}">
                <a16:creationId xmlns:a16="http://schemas.microsoft.com/office/drawing/2014/main" id="{1E5AFD6F-21F4-C8AE-7835-086A1D95754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>
            <a:extLst>
              <a:ext uri="{FF2B5EF4-FFF2-40B4-BE49-F238E27FC236}">
                <a16:creationId xmlns:a16="http://schemas.microsoft.com/office/drawing/2014/main" id="{53CEBFD8-0624-F2F0-6452-423E08EA73B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7">
            <a:extLst>
              <a:ext uri="{FF2B5EF4-FFF2-40B4-BE49-F238E27FC236}">
                <a16:creationId xmlns:a16="http://schemas.microsoft.com/office/drawing/2014/main" id="{DF1BC137-8354-B0FB-1E8B-7083ADC6E385}"/>
              </a:ext>
            </a:extLst>
          </p:cNvPr>
          <p:cNvSpPr txBox="1"/>
          <p:nvPr/>
        </p:nvSpPr>
        <p:spPr>
          <a:xfrm>
            <a:off x="4354830" y="81794"/>
            <a:ext cx="45174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Tinjauan</a:t>
            </a: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 Pustaka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1" name="Google Shape;181;p27">
            <a:extLst>
              <a:ext uri="{FF2B5EF4-FFF2-40B4-BE49-F238E27FC236}">
                <a16:creationId xmlns:a16="http://schemas.microsoft.com/office/drawing/2014/main" id="{BD6DCB50-1346-E14C-0F8A-28157CA9FA23}"/>
              </a:ext>
            </a:extLst>
          </p:cNvPr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>
            <a:extLst>
              <a:ext uri="{FF2B5EF4-FFF2-40B4-BE49-F238E27FC236}">
                <a16:creationId xmlns:a16="http://schemas.microsoft.com/office/drawing/2014/main" id="{4854DD25-29EF-58B1-371A-26F7E439C067}"/>
              </a:ext>
            </a:extLst>
          </p:cNvPr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>
            <a:extLst>
              <a:ext uri="{FF2B5EF4-FFF2-40B4-BE49-F238E27FC236}">
                <a16:creationId xmlns:a16="http://schemas.microsoft.com/office/drawing/2014/main" id="{17372C71-4139-DA75-1F47-F12B28B8CD69}"/>
              </a:ext>
            </a:extLst>
          </p:cNvPr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>
            <a:extLst>
              <a:ext uri="{FF2B5EF4-FFF2-40B4-BE49-F238E27FC236}">
                <a16:creationId xmlns:a16="http://schemas.microsoft.com/office/drawing/2014/main" id="{F10B37BD-56C8-EF74-C0F7-9A080D98D345}"/>
              </a:ext>
            </a:extLst>
          </p:cNvPr>
          <p:cNvSpPr txBox="1"/>
          <p:nvPr/>
        </p:nvSpPr>
        <p:spPr>
          <a:xfrm>
            <a:off x="8730234" y="4871371"/>
            <a:ext cx="41376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" name="Google Shape;204;p28">
            <a:extLst>
              <a:ext uri="{FF2B5EF4-FFF2-40B4-BE49-F238E27FC236}">
                <a16:creationId xmlns:a16="http://schemas.microsoft.com/office/drawing/2014/main" id="{2E2EFA80-1CE0-C6A5-F086-7CB522E3E603}"/>
              </a:ext>
            </a:extLst>
          </p:cNvPr>
          <p:cNvGrpSpPr/>
          <p:nvPr/>
        </p:nvGrpSpPr>
        <p:grpSpPr>
          <a:xfrm>
            <a:off x="-1" y="1158490"/>
            <a:ext cx="6320838" cy="396861"/>
            <a:chOff x="0" y="1294124"/>
            <a:chExt cx="5320355" cy="529148"/>
          </a:xfrm>
        </p:grpSpPr>
        <p:sp>
          <p:nvSpPr>
            <p:cNvPr id="6" name="Google Shape;205;p28">
              <a:extLst>
                <a:ext uri="{FF2B5EF4-FFF2-40B4-BE49-F238E27FC236}">
                  <a16:creationId xmlns:a16="http://schemas.microsoft.com/office/drawing/2014/main" id="{23B344FE-150B-B699-3C2C-42A948460A13}"/>
                </a:ext>
              </a:extLst>
            </p:cNvPr>
            <p:cNvSpPr/>
            <p:nvPr/>
          </p:nvSpPr>
          <p:spPr>
            <a:xfrm>
              <a:off x="0" y="1359772"/>
              <a:ext cx="4649100" cy="463500"/>
            </a:xfrm>
            <a:prstGeom prst="rect">
              <a:avLst/>
            </a:prstGeom>
            <a:gradFill>
              <a:gsLst>
                <a:gs pos="0">
                  <a:srgbClr val="F5F7FC">
                    <a:alpha val="0"/>
                  </a:srgbClr>
                </a:gs>
                <a:gs pos="73000">
                  <a:srgbClr val="F5AA2D"/>
                </a:gs>
                <a:gs pos="100000">
                  <a:srgbClr val="F5AA2D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206;p28">
              <a:extLst>
                <a:ext uri="{FF2B5EF4-FFF2-40B4-BE49-F238E27FC236}">
                  <a16:creationId xmlns:a16="http://schemas.microsoft.com/office/drawing/2014/main" id="{25EDBE7C-C9EB-960E-88BA-DE9D849E9ABC}"/>
                </a:ext>
              </a:extLst>
            </p:cNvPr>
            <p:cNvSpPr txBox="1"/>
            <p:nvPr/>
          </p:nvSpPr>
          <p:spPr>
            <a:xfrm>
              <a:off x="552155" y="1294124"/>
              <a:ext cx="4768200" cy="5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b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dirty="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(Salisu </a:t>
              </a:r>
              <a:r>
                <a:rPr lang="en-US" sz="1800" dirty="0" err="1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dkk</a:t>
              </a:r>
              <a:r>
                <a:rPr lang="en-US" sz="1800" dirty="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., 2022)</a:t>
              </a:r>
              <a:endParaRPr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94FBFA8-E679-CC26-914C-AEC923609951}"/>
                  </a:ext>
                </a:extLst>
              </p:cNvPr>
              <p:cNvSpPr txBox="1"/>
              <p:nvPr/>
            </p:nvSpPr>
            <p:spPr>
              <a:xfrm>
                <a:off x="655986" y="1666810"/>
                <a:ext cx="7820749" cy="12669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300"/>
                  </a:spcAft>
                  <a:buSzPct val="100000"/>
                </a:pP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Diberikan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𝑋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adalah ruang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𝐶𝐴</m:t>
                    </m:r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0</m:t>
                        </m:r>
                      </m:e>
                    </m:d>
                    <m:r>
                      <a:rPr lang="en-US" sz="1800" b="0" i="0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untuk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𝑝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≥2</m:t>
                    </m:r>
                    <m:r>
                      <a:rPr lang="en-US" sz="1800" b="0" i="0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dan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adalah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barisan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di terbatas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𝑋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. Barisan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disebut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konvergen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-</a:t>
                </a:r>
                <a14:m>
                  <m:oMath xmlns:m="http://schemas.openxmlformats.org/officeDocument/2006/math">
                    <m:r>
                      <a:rPr lang="el-GR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oppins" panose="00000500000000000000" pitchFamily="2" charset="0"/>
                      </a:rPr>
                      <m:t>𝜟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ke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suatu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titik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∈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𝑋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jika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adalah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pusat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asimtotik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dari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setiap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subbarisan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𝑥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  <a:cs typeface="Poppins" panose="00000500000000000000" pitchFamily="2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cs typeface="Poppins" panose="00000500000000000000" pitchFamily="2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cs typeface="Poppins" panose="00000500000000000000" pitchFamily="2" charset="0"/>
                                  </a:rPr>
                                  <m:t>𝑘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dari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94FBFA8-E679-CC26-914C-AEC923609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86" y="1666810"/>
                <a:ext cx="7820749" cy="1266950"/>
              </a:xfrm>
              <a:prstGeom prst="rect">
                <a:avLst/>
              </a:prstGeom>
              <a:blipFill>
                <a:blip r:embed="rId5"/>
                <a:stretch>
                  <a:fillRect l="-701" t="-1923" r="-624" b="-480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142;p26">
            <a:extLst>
              <a:ext uri="{FF2B5EF4-FFF2-40B4-BE49-F238E27FC236}">
                <a16:creationId xmlns:a16="http://schemas.microsoft.com/office/drawing/2014/main" id="{3150FF8B-D802-A798-44DD-0BA093DD3CC0}"/>
              </a:ext>
            </a:extLst>
          </p:cNvPr>
          <p:cNvSpPr/>
          <p:nvPr/>
        </p:nvSpPr>
        <p:spPr>
          <a:xfrm>
            <a:off x="8886389" y="256017"/>
            <a:ext cx="257611" cy="31672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168;p26">
                <a:extLst>
                  <a:ext uri="{FF2B5EF4-FFF2-40B4-BE49-F238E27FC236}">
                    <a16:creationId xmlns:a16="http://schemas.microsoft.com/office/drawing/2014/main" id="{EA6AF5B8-FEAB-E60E-12C3-F7EEA9D5107A}"/>
                  </a:ext>
                </a:extLst>
              </p:cNvPr>
              <p:cNvSpPr txBox="1"/>
              <p:nvPr/>
            </p:nvSpPr>
            <p:spPr>
              <a:xfrm>
                <a:off x="530526" y="4908275"/>
                <a:ext cx="6092696" cy="2019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75" tIns="34275" rIns="68575" bIns="34275" anchor="t" anchorCtr="0">
                <a:spAutoFit/>
              </a:bodyPr>
              <a:lstStyle/>
              <a:p>
                <a:pPr lvl="0">
                  <a:buClr>
                    <a:schemeClr val="dk1"/>
                  </a:buClr>
                </a:pPr>
                <a:r>
                  <a:rPr lang="en-US" sz="800" i="1" dirty="0">
                    <a:solidFill>
                      <a:schemeClr val="lt1"/>
                    </a:solidFill>
                  </a:rPr>
                  <a:t>Konvergensi Skema </a:t>
                </a:r>
                <a:r>
                  <a:rPr lang="en-US" sz="800" i="1" dirty="0" err="1">
                    <a:solidFill>
                      <a:schemeClr val="lt1"/>
                    </a:solidFill>
                  </a:rPr>
                  <a:t>Iterasi</a:t>
                </a:r>
                <a:r>
                  <a:rPr lang="en-US" sz="800" i="1" dirty="0">
                    <a:solidFill>
                      <a:schemeClr val="lt1"/>
                    </a:solidFill>
                  </a:rPr>
                  <a:t> Sabri </a:t>
                </a:r>
                <a:r>
                  <a:rPr lang="en-US" sz="800" i="1" dirty="0" err="1">
                    <a:solidFill>
                      <a:schemeClr val="lt1"/>
                    </a:solidFill>
                  </a:rPr>
                  <a:t>untuk</a:t>
                </a:r>
                <a:r>
                  <a:rPr lang="en-US" sz="800" i="1" dirty="0">
                    <a:solidFill>
                      <a:schemeClr val="lt1"/>
                    </a:solidFill>
                  </a:rPr>
                  <a:t> </a:t>
                </a:r>
                <a:r>
                  <a:rPr lang="en-US" sz="800" i="1" dirty="0" err="1">
                    <a:solidFill>
                      <a:schemeClr val="lt1"/>
                    </a:solidFill>
                  </a:rPr>
                  <a:t>Kelas</a:t>
                </a:r>
                <a:r>
                  <a:rPr lang="en-US" sz="800" i="1" dirty="0">
                    <a:solidFill>
                      <a:schemeClr val="lt1"/>
                    </a:solidFill>
                  </a:rPr>
                  <a:t> </a:t>
                </a:r>
                <a:r>
                  <a:rPr lang="en-US" sz="800" i="1" dirty="0" err="1">
                    <a:solidFill>
                      <a:schemeClr val="lt1"/>
                    </a:solidFill>
                  </a:rPr>
                  <a:t>Pemetaan</a:t>
                </a:r>
                <a:r>
                  <a:rPr lang="en-US" sz="800" i="1" dirty="0">
                    <a:solidFill>
                      <a:schemeClr val="lt1"/>
                    </a:solidFill>
                  </a:rPr>
                  <a:t> </a:t>
                </a:r>
                <a:r>
                  <a:rPr lang="en-US" sz="800" i="1" dirty="0" err="1">
                    <a:solidFill>
                      <a:schemeClr val="lt1"/>
                    </a:solidFill>
                  </a:rPr>
                  <a:t>Nonekspansif</a:t>
                </a:r>
                <a:r>
                  <a:rPr lang="en-US" sz="800" i="1" dirty="0">
                    <a:solidFill>
                      <a:schemeClr val="lt1"/>
                    </a:solidFill>
                  </a:rPr>
                  <a:t> </a:t>
                </a:r>
                <a:r>
                  <a:rPr lang="en-US" sz="800" i="1" dirty="0" err="1">
                    <a:solidFill>
                      <a:schemeClr val="lt1"/>
                    </a:solidFill>
                  </a:rPr>
                  <a:t>Diperumum</a:t>
                </a:r>
                <a:r>
                  <a:rPr lang="en-US" sz="800" i="1" dirty="0">
                    <a:solidFill>
                      <a:schemeClr val="lt1"/>
                    </a:solidFill>
                  </a:rPr>
                  <a:t> di Ruang </a:t>
                </a:r>
                <a14:m>
                  <m:oMath xmlns:m="http://schemas.openxmlformats.org/officeDocument/2006/math">
                    <m:r>
                      <a:rPr lang="en-US" sz="800" i="1" dirty="0" smtClean="0">
                        <a:solidFill>
                          <a:schemeClr val="lt1"/>
                        </a:solidFill>
                        <a:latin typeface="Cambria Math" panose="02040503050406030204" pitchFamily="18" charset="0"/>
                      </a:rPr>
                      <m:t>𝐶𝐴</m:t>
                    </m:r>
                    <m:sSub>
                      <m:sSubPr>
                        <m:ctrlPr>
                          <a:rPr lang="en-US" sz="800" i="1" dirty="0" err="1" smtClean="0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i="1" dirty="0" smtClean="0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800" i="1" dirty="0" err="1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800" i="1" dirty="0">
                        <a:solidFill>
                          <a:schemeClr val="lt1"/>
                        </a:solidFill>
                        <a:latin typeface="Cambria Math" panose="02040503050406030204" pitchFamily="18" charset="0"/>
                      </a:rPr>
                      <m:t>(0</m:t>
                    </m:r>
                    <m:r>
                      <a:rPr lang="en-US" sz="800" i="1" dirty="0" smtClean="0">
                        <a:solidFill>
                          <a:schemeClr val="lt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800" i="1" dirty="0">
                    <a:solidFill>
                      <a:schemeClr val="lt1"/>
                    </a:solidFill>
                  </a:rPr>
                  <a:t> </a:t>
                </a:r>
                <a:r>
                  <a:rPr lang="en-US" sz="800" i="1" dirty="0" err="1">
                    <a:solidFill>
                      <a:schemeClr val="lt1"/>
                    </a:solidFill>
                  </a:rPr>
                  <a:t>beserta</a:t>
                </a:r>
                <a:r>
                  <a:rPr lang="en-US" sz="800" i="1" dirty="0">
                    <a:solidFill>
                      <a:schemeClr val="lt1"/>
                    </a:solidFill>
                  </a:rPr>
                  <a:t> </a:t>
                </a:r>
                <a:r>
                  <a:rPr lang="en-US" sz="800" i="1" dirty="0" err="1">
                    <a:solidFill>
                      <a:schemeClr val="lt1"/>
                    </a:solidFill>
                  </a:rPr>
                  <a:t>Aplikasinya</a:t>
                </a:r>
                <a:endParaRPr sz="800" dirty="0">
                  <a:solidFill>
                    <a:schemeClr val="lt1"/>
                  </a:solidFill>
                </a:endParaRPr>
              </a:p>
            </p:txBody>
          </p:sp>
        </mc:Choice>
        <mc:Fallback xmlns="">
          <p:sp>
            <p:nvSpPr>
              <p:cNvPr id="9" name="Google Shape;168;p26">
                <a:extLst>
                  <a:ext uri="{FF2B5EF4-FFF2-40B4-BE49-F238E27FC236}">
                    <a16:creationId xmlns:a16="http://schemas.microsoft.com/office/drawing/2014/main" id="{EA6AF5B8-FEAB-E60E-12C3-F7EEA9D510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526" y="4908275"/>
                <a:ext cx="6092696" cy="201948"/>
              </a:xfrm>
              <a:prstGeom prst="rect">
                <a:avLst/>
              </a:prstGeom>
              <a:blipFill>
                <a:blip r:embed="rId6"/>
                <a:stretch>
                  <a:fillRect b="-90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79D020-692A-DE3B-5242-1E90BE005B0F}"/>
              </a:ext>
            </a:extLst>
          </p:cNvPr>
          <p:cNvSpPr txBox="1">
            <a:spLocks/>
          </p:cNvSpPr>
          <p:nvPr/>
        </p:nvSpPr>
        <p:spPr>
          <a:xfrm>
            <a:off x="530523" y="754216"/>
            <a:ext cx="3522862" cy="4447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err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Beberapa</a:t>
            </a:r>
            <a:r>
              <a:rPr lang="en-US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konsep</a:t>
            </a:r>
            <a:r>
              <a:rPr lang="en-US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di</a:t>
            </a:r>
            <a:endParaRPr lang="en-US" dirty="0">
              <a:solidFill>
                <a:srgbClr val="002060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Placeholder 4">
                <a:extLst>
                  <a:ext uri="{FF2B5EF4-FFF2-40B4-BE49-F238E27FC236}">
                    <a16:creationId xmlns:a16="http://schemas.microsoft.com/office/drawing/2014/main" id="{5425565C-F5C6-D414-CFF5-0259092104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71113" y="781511"/>
                <a:ext cx="2706947" cy="444759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dirty="0">
                    <a:solidFill>
                      <a:srgbClr val="002060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Ruang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𝑪𝑨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𝑻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𝒑</m:t>
                        </m:r>
                      </m:sub>
                    </m:sSub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(</m:t>
                    </m:r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𝟎</m:t>
                    </m:r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0" name="Text Placeholder 4">
                <a:extLst>
                  <a:ext uri="{FF2B5EF4-FFF2-40B4-BE49-F238E27FC236}">
                    <a16:creationId xmlns:a16="http://schemas.microsoft.com/office/drawing/2014/main" id="{5425565C-F5C6-D414-CFF5-025909210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1113" y="781511"/>
                <a:ext cx="2706947" cy="444759"/>
              </a:xfrm>
              <a:prstGeom prst="rect">
                <a:avLst/>
              </a:prstGeom>
              <a:blipFill>
                <a:blip r:embed="rId7"/>
                <a:stretch>
                  <a:fillRect t="-17808" b="-2739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0833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C2257FF2-5413-3DE6-C012-F4499AD1C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descr="Icon&#10;&#10;Description automatically generated">
            <a:extLst>
              <a:ext uri="{FF2B5EF4-FFF2-40B4-BE49-F238E27FC236}">
                <a16:creationId xmlns:a16="http://schemas.microsoft.com/office/drawing/2014/main" id="{906FF0AB-9C82-A485-1B48-3BC61C0CD46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>
            <a:extLst>
              <a:ext uri="{FF2B5EF4-FFF2-40B4-BE49-F238E27FC236}">
                <a16:creationId xmlns:a16="http://schemas.microsoft.com/office/drawing/2014/main" id="{B9466ED3-4E94-EB0A-CBB5-5CE575ADDFB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7">
            <a:extLst>
              <a:ext uri="{FF2B5EF4-FFF2-40B4-BE49-F238E27FC236}">
                <a16:creationId xmlns:a16="http://schemas.microsoft.com/office/drawing/2014/main" id="{7888B965-F342-907E-91FC-CB17CA9348B5}"/>
              </a:ext>
            </a:extLst>
          </p:cNvPr>
          <p:cNvSpPr txBox="1"/>
          <p:nvPr/>
        </p:nvSpPr>
        <p:spPr>
          <a:xfrm>
            <a:off x="4354830" y="81794"/>
            <a:ext cx="45174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Tinjauan</a:t>
            </a: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 Pustaka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1" name="Google Shape;181;p27">
            <a:extLst>
              <a:ext uri="{FF2B5EF4-FFF2-40B4-BE49-F238E27FC236}">
                <a16:creationId xmlns:a16="http://schemas.microsoft.com/office/drawing/2014/main" id="{B419AE96-6807-036E-FF94-7C234E4054FD}"/>
              </a:ext>
            </a:extLst>
          </p:cNvPr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>
            <a:extLst>
              <a:ext uri="{FF2B5EF4-FFF2-40B4-BE49-F238E27FC236}">
                <a16:creationId xmlns:a16="http://schemas.microsoft.com/office/drawing/2014/main" id="{119DD44E-9E8E-30FB-6204-73E7C7933D0A}"/>
              </a:ext>
            </a:extLst>
          </p:cNvPr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>
            <a:extLst>
              <a:ext uri="{FF2B5EF4-FFF2-40B4-BE49-F238E27FC236}">
                <a16:creationId xmlns:a16="http://schemas.microsoft.com/office/drawing/2014/main" id="{1206E32E-526B-47FD-83C7-36B70E431967}"/>
              </a:ext>
            </a:extLst>
          </p:cNvPr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>
            <a:extLst>
              <a:ext uri="{FF2B5EF4-FFF2-40B4-BE49-F238E27FC236}">
                <a16:creationId xmlns:a16="http://schemas.microsoft.com/office/drawing/2014/main" id="{BB2A898A-7CBF-F237-B2E4-6E0CD1C2C65B}"/>
              </a:ext>
            </a:extLst>
          </p:cNvPr>
          <p:cNvSpPr txBox="1"/>
          <p:nvPr/>
        </p:nvSpPr>
        <p:spPr>
          <a:xfrm>
            <a:off x="8730234" y="4871371"/>
            <a:ext cx="41376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" name="Google Shape;204;p28">
            <a:extLst>
              <a:ext uri="{FF2B5EF4-FFF2-40B4-BE49-F238E27FC236}">
                <a16:creationId xmlns:a16="http://schemas.microsoft.com/office/drawing/2014/main" id="{E4121E70-6A42-B701-952E-82D549F642BA}"/>
              </a:ext>
            </a:extLst>
          </p:cNvPr>
          <p:cNvGrpSpPr/>
          <p:nvPr/>
        </p:nvGrpSpPr>
        <p:grpSpPr>
          <a:xfrm>
            <a:off x="-1" y="1158490"/>
            <a:ext cx="6320838" cy="396861"/>
            <a:chOff x="0" y="1294124"/>
            <a:chExt cx="5320355" cy="529148"/>
          </a:xfrm>
        </p:grpSpPr>
        <p:sp>
          <p:nvSpPr>
            <p:cNvPr id="6" name="Google Shape;205;p28">
              <a:extLst>
                <a:ext uri="{FF2B5EF4-FFF2-40B4-BE49-F238E27FC236}">
                  <a16:creationId xmlns:a16="http://schemas.microsoft.com/office/drawing/2014/main" id="{980F229E-1CAC-E9E5-7EE7-90BFD010BC6E}"/>
                </a:ext>
              </a:extLst>
            </p:cNvPr>
            <p:cNvSpPr/>
            <p:nvPr/>
          </p:nvSpPr>
          <p:spPr>
            <a:xfrm>
              <a:off x="0" y="1359772"/>
              <a:ext cx="4649100" cy="463500"/>
            </a:xfrm>
            <a:prstGeom prst="rect">
              <a:avLst/>
            </a:prstGeom>
            <a:gradFill>
              <a:gsLst>
                <a:gs pos="0">
                  <a:srgbClr val="F5F7FC">
                    <a:alpha val="0"/>
                  </a:srgbClr>
                </a:gs>
                <a:gs pos="73000">
                  <a:srgbClr val="F5AA2D"/>
                </a:gs>
                <a:gs pos="100000">
                  <a:srgbClr val="F5AA2D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206;p28">
              <a:extLst>
                <a:ext uri="{FF2B5EF4-FFF2-40B4-BE49-F238E27FC236}">
                  <a16:creationId xmlns:a16="http://schemas.microsoft.com/office/drawing/2014/main" id="{57187AE4-19AF-2BC1-4827-9B3683CAB5BD}"/>
                </a:ext>
              </a:extLst>
            </p:cNvPr>
            <p:cNvSpPr txBox="1"/>
            <p:nvPr/>
          </p:nvSpPr>
          <p:spPr>
            <a:xfrm>
              <a:off x="552155" y="1294124"/>
              <a:ext cx="4768200" cy="5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b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dirty="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(Salisu </a:t>
              </a:r>
              <a:r>
                <a:rPr lang="en-US" sz="1800" dirty="0" err="1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dkk</a:t>
              </a:r>
              <a:r>
                <a:rPr lang="en-US" sz="1800" dirty="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., 2022)</a:t>
              </a:r>
              <a:endParaRPr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DD2C53-8197-B6F1-216E-697937771516}"/>
                  </a:ext>
                </a:extLst>
              </p:cNvPr>
              <p:cNvSpPr txBox="1"/>
              <p:nvPr/>
            </p:nvSpPr>
            <p:spPr>
              <a:xfrm>
                <a:off x="655986" y="1666810"/>
                <a:ext cx="7820749" cy="12217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300"/>
                  </a:spcAft>
                  <a:buSzPct val="100000"/>
                </a:pP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Diberikan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𝑋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adalah ruang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𝐶𝐴</m:t>
                    </m:r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0</m:t>
                        </m:r>
                      </m:e>
                    </m:d>
                    <m:r>
                      <a:rPr lang="en-US" sz="1800" b="0" i="0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untuk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𝑝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&gt;2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.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Pemetaan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𝑇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: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𝑋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→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𝑋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disebut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memiliki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sifat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i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demiclosedness</a:t>
                </a:r>
                <a:r>
                  <a:rPr lang="en-US" sz="1800" b="1" i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jika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untuk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setiap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barisan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⊆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𝑋</m:t>
                    </m:r>
                  </m:oMath>
                </a14:m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yang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konvergen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Δ</m:t>
                    </m:r>
                  </m:oMath>
                </a14:m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dan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memenuhi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800" b="0" i="0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𝑛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𝑑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  <a:cs typeface="Poppins" panose="00000500000000000000" pitchFamily="2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cs typeface="Poppins" panose="00000500000000000000" pitchFamily="2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cs typeface="Poppins" panose="00000500000000000000" pitchFamily="2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,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𝑇</m:t>
                            </m:r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  <a:cs typeface="Poppins" panose="00000500000000000000" pitchFamily="2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cs typeface="Poppins" panose="00000500000000000000" pitchFamily="2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cs typeface="Poppins" panose="00000500000000000000" pitchFamily="2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=0</m:t>
                        </m:r>
                      </m:e>
                    </m:func>
                    <m:r>
                      <a:rPr lang="en-US" sz="1800" b="0" i="0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</m:oMath>
                </a14:m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maka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berlaku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𝑇𝑥</m:t>
                    </m:r>
                    <m:r>
                      <a:rPr lang="en-US" sz="1800" b="0" i="0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.</m:t>
                    </m:r>
                  </m:oMath>
                </a14:m>
                <a:endParaRPr lang="en-US" sz="1800" b="1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DD2C53-8197-B6F1-216E-697937771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86" y="1666810"/>
                <a:ext cx="7820749" cy="1221745"/>
              </a:xfrm>
              <a:prstGeom prst="rect">
                <a:avLst/>
              </a:prstGeom>
              <a:blipFill>
                <a:blip r:embed="rId5"/>
                <a:stretch>
                  <a:fillRect l="-701" t="-1990" r="-624" b="-646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142;p26">
            <a:extLst>
              <a:ext uri="{FF2B5EF4-FFF2-40B4-BE49-F238E27FC236}">
                <a16:creationId xmlns:a16="http://schemas.microsoft.com/office/drawing/2014/main" id="{A1CDFEBB-41EF-BD57-2217-1A2ED5BA36C2}"/>
              </a:ext>
            </a:extLst>
          </p:cNvPr>
          <p:cNvSpPr/>
          <p:nvPr/>
        </p:nvSpPr>
        <p:spPr>
          <a:xfrm>
            <a:off x="8886389" y="256017"/>
            <a:ext cx="257611" cy="31672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168;p26">
                <a:extLst>
                  <a:ext uri="{FF2B5EF4-FFF2-40B4-BE49-F238E27FC236}">
                    <a16:creationId xmlns:a16="http://schemas.microsoft.com/office/drawing/2014/main" id="{598DEDFC-4BC2-3781-E568-0D165BA53BF6}"/>
                  </a:ext>
                </a:extLst>
              </p:cNvPr>
              <p:cNvSpPr txBox="1"/>
              <p:nvPr/>
            </p:nvSpPr>
            <p:spPr>
              <a:xfrm>
                <a:off x="530526" y="4908275"/>
                <a:ext cx="6092696" cy="2019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75" tIns="34275" rIns="68575" bIns="34275" anchor="t" anchorCtr="0">
                <a:spAutoFit/>
              </a:bodyPr>
              <a:lstStyle/>
              <a:p>
                <a:pPr lvl="0">
                  <a:buClr>
                    <a:schemeClr val="dk1"/>
                  </a:buClr>
                </a:pPr>
                <a:r>
                  <a:rPr lang="en-US" sz="800" i="1" dirty="0">
                    <a:solidFill>
                      <a:schemeClr val="lt1"/>
                    </a:solidFill>
                  </a:rPr>
                  <a:t>Konvergensi Skema </a:t>
                </a:r>
                <a:r>
                  <a:rPr lang="en-US" sz="800" i="1" dirty="0" err="1">
                    <a:solidFill>
                      <a:schemeClr val="lt1"/>
                    </a:solidFill>
                  </a:rPr>
                  <a:t>Iterasi</a:t>
                </a:r>
                <a:r>
                  <a:rPr lang="en-US" sz="800" i="1" dirty="0">
                    <a:solidFill>
                      <a:schemeClr val="lt1"/>
                    </a:solidFill>
                  </a:rPr>
                  <a:t> Sabri </a:t>
                </a:r>
                <a:r>
                  <a:rPr lang="en-US" sz="800" i="1" dirty="0" err="1">
                    <a:solidFill>
                      <a:schemeClr val="lt1"/>
                    </a:solidFill>
                  </a:rPr>
                  <a:t>untuk</a:t>
                </a:r>
                <a:r>
                  <a:rPr lang="en-US" sz="800" i="1" dirty="0">
                    <a:solidFill>
                      <a:schemeClr val="lt1"/>
                    </a:solidFill>
                  </a:rPr>
                  <a:t> </a:t>
                </a:r>
                <a:r>
                  <a:rPr lang="en-US" sz="800" i="1" dirty="0" err="1">
                    <a:solidFill>
                      <a:schemeClr val="lt1"/>
                    </a:solidFill>
                  </a:rPr>
                  <a:t>Kelas</a:t>
                </a:r>
                <a:r>
                  <a:rPr lang="en-US" sz="800" i="1" dirty="0">
                    <a:solidFill>
                      <a:schemeClr val="lt1"/>
                    </a:solidFill>
                  </a:rPr>
                  <a:t> </a:t>
                </a:r>
                <a:r>
                  <a:rPr lang="en-US" sz="800" i="1" dirty="0" err="1">
                    <a:solidFill>
                      <a:schemeClr val="lt1"/>
                    </a:solidFill>
                  </a:rPr>
                  <a:t>Pemetaan</a:t>
                </a:r>
                <a:r>
                  <a:rPr lang="en-US" sz="800" i="1" dirty="0">
                    <a:solidFill>
                      <a:schemeClr val="lt1"/>
                    </a:solidFill>
                  </a:rPr>
                  <a:t> </a:t>
                </a:r>
                <a:r>
                  <a:rPr lang="en-US" sz="800" i="1" dirty="0" err="1">
                    <a:solidFill>
                      <a:schemeClr val="lt1"/>
                    </a:solidFill>
                  </a:rPr>
                  <a:t>Nonekspansif</a:t>
                </a:r>
                <a:r>
                  <a:rPr lang="en-US" sz="800" i="1" dirty="0">
                    <a:solidFill>
                      <a:schemeClr val="lt1"/>
                    </a:solidFill>
                  </a:rPr>
                  <a:t> </a:t>
                </a:r>
                <a:r>
                  <a:rPr lang="en-US" sz="800" i="1" dirty="0" err="1">
                    <a:solidFill>
                      <a:schemeClr val="lt1"/>
                    </a:solidFill>
                  </a:rPr>
                  <a:t>Diperumum</a:t>
                </a:r>
                <a:r>
                  <a:rPr lang="en-US" sz="800" i="1" dirty="0">
                    <a:solidFill>
                      <a:schemeClr val="lt1"/>
                    </a:solidFill>
                  </a:rPr>
                  <a:t> di Ruang </a:t>
                </a:r>
                <a14:m>
                  <m:oMath xmlns:m="http://schemas.openxmlformats.org/officeDocument/2006/math">
                    <m:r>
                      <a:rPr lang="en-US" sz="800" i="1" dirty="0" smtClean="0">
                        <a:solidFill>
                          <a:schemeClr val="lt1"/>
                        </a:solidFill>
                        <a:latin typeface="Cambria Math" panose="02040503050406030204" pitchFamily="18" charset="0"/>
                      </a:rPr>
                      <m:t>𝐶𝐴</m:t>
                    </m:r>
                    <m:sSub>
                      <m:sSubPr>
                        <m:ctrlPr>
                          <a:rPr lang="en-US" sz="800" i="1" dirty="0" err="1" smtClean="0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i="1" dirty="0" smtClean="0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800" i="1" dirty="0" err="1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800" i="1" dirty="0">
                        <a:solidFill>
                          <a:schemeClr val="lt1"/>
                        </a:solidFill>
                        <a:latin typeface="Cambria Math" panose="02040503050406030204" pitchFamily="18" charset="0"/>
                      </a:rPr>
                      <m:t>(0</m:t>
                    </m:r>
                    <m:r>
                      <a:rPr lang="en-US" sz="800" i="1" dirty="0" smtClean="0">
                        <a:solidFill>
                          <a:schemeClr val="lt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800" i="1" dirty="0">
                    <a:solidFill>
                      <a:schemeClr val="lt1"/>
                    </a:solidFill>
                  </a:rPr>
                  <a:t> </a:t>
                </a:r>
                <a:r>
                  <a:rPr lang="en-US" sz="800" i="1" dirty="0" err="1">
                    <a:solidFill>
                      <a:schemeClr val="lt1"/>
                    </a:solidFill>
                  </a:rPr>
                  <a:t>beserta</a:t>
                </a:r>
                <a:r>
                  <a:rPr lang="en-US" sz="800" i="1" dirty="0">
                    <a:solidFill>
                      <a:schemeClr val="lt1"/>
                    </a:solidFill>
                  </a:rPr>
                  <a:t> </a:t>
                </a:r>
                <a:r>
                  <a:rPr lang="en-US" sz="800" i="1" dirty="0" err="1">
                    <a:solidFill>
                      <a:schemeClr val="lt1"/>
                    </a:solidFill>
                  </a:rPr>
                  <a:t>Aplikasinya</a:t>
                </a:r>
                <a:endParaRPr sz="800" dirty="0">
                  <a:solidFill>
                    <a:schemeClr val="lt1"/>
                  </a:solidFill>
                </a:endParaRPr>
              </a:p>
            </p:txBody>
          </p:sp>
        </mc:Choice>
        <mc:Fallback xmlns="">
          <p:sp>
            <p:nvSpPr>
              <p:cNvPr id="9" name="Google Shape;168;p26">
                <a:extLst>
                  <a:ext uri="{FF2B5EF4-FFF2-40B4-BE49-F238E27FC236}">
                    <a16:creationId xmlns:a16="http://schemas.microsoft.com/office/drawing/2014/main" id="{598DEDFC-4BC2-3781-E568-0D165BA53B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526" y="4908275"/>
                <a:ext cx="6092696" cy="201948"/>
              </a:xfrm>
              <a:prstGeom prst="rect">
                <a:avLst/>
              </a:prstGeom>
              <a:blipFill>
                <a:blip r:embed="rId6"/>
                <a:stretch>
                  <a:fillRect b="-90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9C0236-A289-4860-AF40-F1812469F1CB}"/>
              </a:ext>
            </a:extLst>
          </p:cNvPr>
          <p:cNvSpPr txBox="1">
            <a:spLocks/>
          </p:cNvSpPr>
          <p:nvPr/>
        </p:nvSpPr>
        <p:spPr>
          <a:xfrm>
            <a:off x="530523" y="754216"/>
            <a:ext cx="3522862" cy="4447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err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Beberapa</a:t>
            </a:r>
            <a:r>
              <a:rPr lang="en-US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konsep</a:t>
            </a:r>
            <a:r>
              <a:rPr lang="en-US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di</a:t>
            </a:r>
            <a:endParaRPr lang="en-US" dirty="0">
              <a:solidFill>
                <a:srgbClr val="002060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Placeholder 4">
                <a:extLst>
                  <a:ext uri="{FF2B5EF4-FFF2-40B4-BE49-F238E27FC236}">
                    <a16:creationId xmlns:a16="http://schemas.microsoft.com/office/drawing/2014/main" id="{CB67412E-4596-78D4-68F0-065C5907467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71113" y="781511"/>
                <a:ext cx="2706947" cy="444759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dirty="0">
                    <a:solidFill>
                      <a:srgbClr val="002060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Ruang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𝑪𝑨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𝑻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𝒑</m:t>
                        </m:r>
                      </m:sub>
                    </m:sSub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(</m:t>
                    </m:r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𝟎</m:t>
                    </m:r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0" name="Text Placeholder 4">
                <a:extLst>
                  <a:ext uri="{FF2B5EF4-FFF2-40B4-BE49-F238E27FC236}">
                    <a16:creationId xmlns:a16="http://schemas.microsoft.com/office/drawing/2014/main" id="{CB67412E-4596-78D4-68F0-065C59074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1113" y="781511"/>
                <a:ext cx="2706947" cy="444759"/>
              </a:xfrm>
              <a:prstGeom prst="rect">
                <a:avLst/>
              </a:prstGeom>
              <a:blipFill>
                <a:blip r:embed="rId7"/>
                <a:stretch>
                  <a:fillRect t="-17808" b="-2739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24135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F5F4904C-A02A-1415-6FC0-51B0059D8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descr="Icon&#10;&#10;Description automatically generated">
            <a:extLst>
              <a:ext uri="{FF2B5EF4-FFF2-40B4-BE49-F238E27FC236}">
                <a16:creationId xmlns:a16="http://schemas.microsoft.com/office/drawing/2014/main" id="{1A6A9D1B-EE16-D703-F5F5-7C67965A1CA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>
            <a:extLst>
              <a:ext uri="{FF2B5EF4-FFF2-40B4-BE49-F238E27FC236}">
                <a16:creationId xmlns:a16="http://schemas.microsoft.com/office/drawing/2014/main" id="{0DFC7CBB-D1C9-0FB0-81AB-3A42110F6AF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7">
            <a:extLst>
              <a:ext uri="{FF2B5EF4-FFF2-40B4-BE49-F238E27FC236}">
                <a16:creationId xmlns:a16="http://schemas.microsoft.com/office/drawing/2014/main" id="{AF4EA3C4-78CE-6813-ADD6-894C5896A8AD}"/>
              </a:ext>
            </a:extLst>
          </p:cNvPr>
          <p:cNvSpPr txBox="1"/>
          <p:nvPr/>
        </p:nvSpPr>
        <p:spPr>
          <a:xfrm>
            <a:off x="4354830" y="81794"/>
            <a:ext cx="45174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Tinjauan</a:t>
            </a: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 Pustaka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1" name="Google Shape;181;p27">
            <a:extLst>
              <a:ext uri="{FF2B5EF4-FFF2-40B4-BE49-F238E27FC236}">
                <a16:creationId xmlns:a16="http://schemas.microsoft.com/office/drawing/2014/main" id="{0388979D-E95A-C904-7198-FE5B5A44C092}"/>
              </a:ext>
            </a:extLst>
          </p:cNvPr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>
            <a:extLst>
              <a:ext uri="{FF2B5EF4-FFF2-40B4-BE49-F238E27FC236}">
                <a16:creationId xmlns:a16="http://schemas.microsoft.com/office/drawing/2014/main" id="{0F78D445-CE8B-8B9A-FE2A-777841F6542A}"/>
              </a:ext>
            </a:extLst>
          </p:cNvPr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>
            <a:extLst>
              <a:ext uri="{FF2B5EF4-FFF2-40B4-BE49-F238E27FC236}">
                <a16:creationId xmlns:a16="http://schemas.microsoft.com/office/drawing/2014/main" id="{84AA7DD0-5AF0-3330-32D0-0BA050DBABD2}"/>
              </a:ext>
            </a:extLst>
          </p:cNvPr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>
            <a:extLst>
              <a:ext uri="{FF2B5EF4-FFF2-40B4-BE49-F238E27FC236}">
                <a16:creationId xmlns:a16="http://schemas.microsoft.com/office/drawing/2014/main" id="{6525CED5-C1BD-4B80-A89C-17CE5A32BBF1}"/>
              </a:ext>
            </a:extLst>
          </p:cNvPr>
          <p:cNvSpPr txBox="1"/>
          <p:nvPr/>
        </p:nvSpPr>
        <p:spPr>
          <a:xfrm>
            <a:off x="8730234" y="4871371"/>
            <a:ext cx="41376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" name="Google Shape;204;p28">
            <a:extLst>
              <a:ext uri="{FF2B5EF4-FFF2-40B4-BE49-F238E27FC236}">
                <a16:creationId xmlns:a16="http://schemas.microsoft.com/office/drawing/2014/main" id="{67A034A1-044A-0DFE-8934-B5325839480F}"/>
              </a:ext>
            </a:extLst>
          </p:cNvPr>
          <p:cNvGrpSpPr/>
          <p:nvPr/>
        </p:nvGrpSpPr>
        <p:grpSpPr>
          <a:xfrm>
            <a:off x="-1" y="1158490"/>
            <a:ext cx="6320838" cy="396861"/>
            <a:chOff x="0" y="1294124"/>
            <a:chExt cx="5320355" cy="529148"/>
          </a:xfrm>
        </p:grpSpPr>
        <p:sp>
          <p:nvSpPr>
            <p:cNvPr id="6" name="Google Shape;205;p28">
              <a:extLst>
                <a:ext uri="{FF2B5EF4-FFF2-40B4-BE49-F238E27FC236}">
                  <a16:creationId xmlns:a16="http://schemas.microsoft.com/office/drawing/2014/main" id="{D0127F3B-6462-C8B0-C2E7-1C40DE6B6553}"/>
                </a:ext>
              </a:extLst>
            </p:cNvPr>
            <p:cNvSpPr/>
            <p:nvPr/>
          </p:nvSpPr>
          <p:spPr>
            <a:xfrm>
              <a:off x="0" y="1359772"/>
              <a:ext cx="4649100" cy="463500"/>
            </a:xfrm>
            <a:prstGeom prst="rect">
              <a:avLst/>
            </a:prstGeom>
            <a:gradFill>
              <a:gsLst>
                <a:gs pos="0">
                  <a:srgbClr val="F5F7FC">
                    <a:alpha val="0"/>
                  </a:srgbClr>
                </a:gs>
                <a:gs pos="73000">
                  <a:srgbClr val="F5AA2D"/>
                </a:gs>
                <a:gs pos="100000">
                  <a:srgbClr val="F5AA2D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206;p28">
              <a:extLst>
                <a:ext uri="{FF2B5EF4-FFF2-40B4-BE49-F238E27FC236}">
                  <a16:creationId xmlns:a16="http://schemas.microsoft.com/office/drawing/2014/main" id="{BCA2CA5A-284A-EE5A-69B0-413175C54265}"/>
                </a:ext>
              </a:extLst>
            </p:cNvPr>
            <p:cNvSpPr txBox="1"/>
            <p:nvPr/>
          </p:nvSpPr>
          <p:spPr>
            <a:xfrm>
              <a:off x="552155" y="1294124"/>
              <a:ext cx="4768200" cy="5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b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dirty="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(Salisu </a:t>
              </a:r>
              <a:r>
                <a:rPr lang="en-US" sz="1800" dirty="0" err="1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dkk</a:t>
              </a:r>
              <a:r>
                <a:rPr lang="en-US" sz="1800" dirty="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., 2022)</a:t>
              </a:r>
              <a:endParaRPr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F77C42B-13E3-E3A7-F720-905AFE62B38F}"/>
                  </a:ext>
                </a:extLst>
              </p:cNvPr>
              <p:cNvSpPr txBox="1"/>
              <p:nvPr/>
            </p:nvSpPr>
            <p:spPr>
              <a:xfrm>
                <a:off x="655986" y="1666810"/>
                <a:ext cx="7820749" cy="12217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300"/>
                  </a:spcAft>
                  <a:buSzPct val="100000"/>
                </a:pP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Diberikan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𝑋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adalah ruang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𝐶𝐴</m:t>
                    </m:r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0</m:t>
                        </m:r>
                      </m:e>
                    </m:d>
                    <m:r>
                      <a:rPr lang="en-US" sz="1800" b="0" i="0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untuk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𝑝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≥2</m:t>
                    </m:r>
                    <m:r>
                      <a:rPr lang="en-US" sz="1800" b="0" i="0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dan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adalah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barisan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di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𝑋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. Barisan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disebut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konvergen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kuat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ke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suatu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titik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∈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𝑋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jika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untuk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setiap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𝜀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&gt;0,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terdapat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𝑛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0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∈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ℕ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sedemikian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sehingga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untuk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setiap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𝑛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≥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𝑛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berlaku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𝑑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𝑥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&lt;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𝜀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.</m:t>
                    </m:r>
                  </m:oMath>
                </a14:m>
                <a:endParaRPr lang="en-US" sz="18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F77C42B-13E3-E3A7-F720-905AFE62B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86" y="1666810"/>
                <a:ext cx="7820749" cy="1221745"/>
              </a:xfrm>
              <a:prstGeom prst="rect">
                <a:avLst/>
              </a:prstGeom>
              <a:blipFill>
                <a:blip r:embed="rId5"/>
                <a:stretch>
                  <a:fillRect l="-701" t="-1990" r="-624" b="-646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142;p26">
            <a:extLst>
              <a:ext uri="{FF2B5EF4-FFF2-40B4-BE49-F238E27FC236}">
                <a16:creationId xmlns:a16="http://schemas.microsoft.com/office/drawing/2014/main" id="{9A8C8D05-C5AA-63A3-443F-4A119DDF3EDA}"/>
              </a:ext>
            </a:extLst>
          </p:cNvPr>
          <p:cNvSpPr/>
          <p:nvPr/>
        </p:nvSpPr>
        <p:spPr>
          <a:xfrm>
            <a:off x="8886389" y="256017"/>
            <a:ext cx="257611" cy="31672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168;p26">
                <a:extLst>
                  <a:ext uri="{FF2B5EF4-FFF2-40B4-BE49-F238E27FC236}">
                    <a16:creationId xmlns:a16="http://schemas.microsoft.com/office/drawing/2014/main" id="{26D400FE-6DE2-203F-76D9-EC5734E2A2A2}"/>
                  </a:ext>
                </a:extLst>
              </p:cNvPr>
              <p:cNvSpPr txBox="1"/>
              <p:nvPr/>
            </p:nvSpPr>
            <p:spPr>
              <a:xfrm>
                <a:off x="530526" y="4908275"/>
                <a:ext cx="6092696" cy="2019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75" tIns="34275" rIns="68575" bIns="34275" anchor="t" anchorCtr="0">
                <a:spAutoFit/>
              </a:bodyPr>
              <a:lstStyle/>
              <a:p>
                <a:pPr lvl="0">
                  <a:buClr>
                    <a:schemeClr val="dk1"/>
                  </a:buClr>
                </a:pPr>
                <a:r>
                  <a:rPr lang="en-US" sz="800" i="1" dirty="0">
                    <a:solidFill>
                      <a:schemeClr val="lt1"/>
                    </a:solidFill>
                  </a:rPr>
                  <a:t>Konvergensi Skema </a:t>
                </a:r>
                <a:r>
                  <a:rPr lang="en-US" sz="800" i="1" dirty="0" err="1">
                    <a:solidFill>
                      <a:schemeClr val="lt1"/>
                    </a:solidFill>
                  </a:rPr>
                  <a:t>Iterasi</a:t>
                </a:r>
                <a:r>
                  <a:rPr lang="en-US" sz="800" i="1" dirty="0">
                    <a:solidFill>
                      <a:schemeClr val="lt1"/>
                    </a:solidFill>
                  </a:rPr>
                  <a:t> Sabri </a:t>
                </a:r>
                <a:r>
                  <a:rPr lang="en-US" sz="800" i="1" dirty="0" err="1">
                    <a:solidFill>
                      <a:schemeClr val="lt1"/>
                    </a:solidFill>
                  </a:rPr>
                  <a:t>untuk</a:t>
                </a:r>
                <a:r>
                  <a:rPr lang="en-US" sz="800" i="1" dirty="0">
                    <a:solidFill>
                      <a:schemeClr val="lt1"/>
                    </a:solidFill>
                  </a:rPr>
                  <a:t> </a:t>
                </a:r>
                <a:r>
                  <a:rPr lang="en-US" sz="800" i="1" dirty="0" err="1">
                    <a:solidFill>
                      <a:schemeClr val="lt1"/>
                    </a:solidFill>
                  </a:rPr>
                  <a:t>Kelas</a:t>
                </a:r>
                <a:r>
                  <a:rPr lang="en-US" sz="800" i="1" dirty="0">
                    <a:solidFill>
                      <a:schemeClr val="lt1"/>
                    </a:solidFill>
                  </a:rPr>
                  <a:t> </a:t>
                </a:r>
                <a:r>
                  <a:rPr lang="en-US" sz="800" i="1" dirty="0" err="1">
                    <a:solidFill>
                      <a:schemeClr val="lt1"/>
                    </a:solidFill>
                  </a:rPr>
                  <a:t>Pemetaan</a:t>
                </a:r>
                <a:r>
                  <a:rPr lang="en-US" sz="800" i="1" dirty="0">
                    <a:solidFill>
                      <a:schemeClr val="lt1"/>
                    </a:solidFill>
                  </a:rPr>
                  <a:t> </a:t>
                </a:r>
                <a:r>
                  <a:rPr lang="en-US" sz="800" i="1" dirty="0" err="1">
                    <a:solidFill>
                      <a:schemeClr val="lt1"/>
                    </a:solidFill>
                  </a:rPr>
                  <a:t>Nonekspansif</a:t>
                </a:r>
                <a:r>
                  <a:rPr lang="en-US" sz="800" i="1" dirty="0">
                    <a:solidFill>
                      <a:schemeClr val="lt1"/>
                    </a:solidFill>
                  </a:rPr>
                  <a:t> </a:t>
                </a:r>
                <a:r>
                  <a:rPr lang="en-US" sz="800" i="1" dirty="0" err="1">
                    <a:solidFill>
                      <a:schemeClr val="lt1"/>
                    </a:solidFill>
                  </a:rPr>
                  <a:t>Diperumum</a:t>
                </a:r>
                <a:r>
                  <a:rPr lang="en-US" sz="800" i="1" dirty="0">
                    <a:solidFill>
                      <a:schemeClr val="lt1"/>
                    </a:solidFill>
                  </a:rPr>
                  <a:t> di Ruang </a:t>
                </a:r>
                <a14:m>
                  <m:oMath xmlns:m="http://schemas.openxmlformats.org/officeDocument/2006/math">
                    <m:r>
                      <a:rPr lang="en-US" sz="800" i="1" dirty="0" smtClean="0">
                        <a:solidFill>
                          <a:schemeClr val="lt1"/>
                        </a:solidFill>
                        <a:latin typeface="Cambria Math" panose="02040503050406030204" pitchFamily="18" charset="0"/>
                      </a:rPr>
                      <m:t>𝐶𝐴</m:t>
                    </m:r>
                    <m:sSub>
                      <m:sSubPr>
                        <m:ctrlPr>
                          <a:rPr lang="en-US" sz="800" i="1" dirty="0" err="1" smtClean="0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i="1" dirty="0" smtClean="0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800" i="1" dirty="0" err="1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800" i="1" dirty="0">
                        <a:solidFill>
                          <a:schemeClr val="lt1"/>
                        </a:solidFill>
                        <a:latin typeface="Cambria Math" panose="02040503050406030204" pitchFamily="18" charset="0"/>
                      </a:rPr>
                      <m:t>(0</m:t>
                    </m:r>
                    <m:r>
                      <a:rPr lang="en-US" sz="800" i="1" dirty="0" smtClean="0">
                        <a:solidFill>
                          <a:schemeClr val="lt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800" i="1" dirty="0">
                    <a:solidFill>
                      <a:schemeClr val="lt1"/>
                    </a:solidFill>
                  </a:rPr>
                  <a:t> </a:t>
                </a:r>
                <a:r>
                  <a:rPr lang="en-US" sz="800" i="1" dirty="0" err="1">
                    <a:solidFill>
                      <a:schemeClr val="lt1"/>
                    </a:solidFill>
                  </a:rPr>
                  <a:t>beserta</a:t>
                </a:r>
                <a:r>
                  <a:rPr lang="en-US" sz="800" i="1" dirty="0">
                    <a:solidFill>
                      <a:schemeClr val="lt1"/>
                    </a:solidFill>
                  </a:rPr>
                  <a:t> </a:t>
                </a:r>
                <a:r>
                  <a:rPr lang="en-US" sz="800" i="1" dirty="0" err="1">
                    <a:solidFill>
                      <a:schemeClr val="lt1"/>
                    </a:solidFill>
                  </a:rPr>
                  <a:t>Aplikasinya</a:t>
                </a:r>
                <a:endParaRPr sz="800" dirty="0">
                  <a:solidFill>
                    <a:schemeClr val="lt1"/>
                  </a:solidFill>
                </a:endParaRPr>
              </a:p>
            </p:txBody>
          </p:sp>
        </mc:Choice>
        <mc:Fallback xmlns="">
          <p:sp>
            <p:nvSpPr>
              <p:cNvPr id="9" name="Google Shape;168;p26">
                <a:extLst>
                  <a:ext uri="{FF2B5EF4-FFF2-40B4-BE49-F238E27FC236}">
                    <a16:creationId xmlns:a16="http://schemas.microsoft.com/office/drawing/2014/main" id="{26D400FE-6DE2-203F-76D9-EC5734E2A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526" y="4908275"/>
                <a:ext cx="6092696" cy="201948"/>
              </a:xfrm>
              <a:prstGeom prst="rect">
                <a:avLst/>
              </a:prstGeom>
              <a:blipFill>
                <a:blip r:embed="rId6"/>
                <a:stretch>
                  <a:fillRect b="-90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86B804-4E16-83F8-E643-60454819E369}"/>
              </a:ext>
            </a:extLst>
          </p:cNvPr>
          <p:cNvSpPr txBox="1">
            <a:spLocks/>
          </p:cNvSpPr>
          <p:nvPr/>
        </p:nvSpPr>
        <p:spPr>
          <a:xfrm>
            <a:off x="530523" y="754216"/>
            <a:ext cx="3522862" cy="4447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err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Beberapa</a:t>
            </a:r>
            <a:r>
              <a:rPr lang="en-US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konsep</a:t>
            </a:r>
            <a:r>
              <a:rPr lang="en-US" dirty="0">
                <a:solidFill>
                  <a:srgbClr val="0020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di</a:t>
            </a:r>
            <a:endParaRPr lang="en-US" dirty="0">
              <a:solidFill>
                <a:srgbClr val="002060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Placeholder 4">
                <a:extLst>
                  <a:ext uri="{FF2B5EF4-FFF2-40B4-BE49-F238E27FC236}">
                    <a16:creationId xmlns:a16="http://schemas.microsoft.com/office/drawing/2014/main" id="{18EAC71A-9BCE-96F1-FFC5-C4461CE7110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71113" y="781511"/>
                <a:ext cx="2706947" cy="444759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dirty="0">
                    <a:solidFill>
                      <a:srgbClr val="002060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Ruang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𝑪𝑨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𝑻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𝒑</m:t>
                        </m:r>
                      </m:sub>
                    </m:sSub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(</m:t>
                    </m:r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𝟎</m:t>
                    </m:r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0" name="Text Placeholder 4">
                <a:extLst>
                  <a:ext uri="{FF2B5EF4-FFF2-40B4-BE49-F238E27FC236}">
                    <a16:creationId xmlns:a16="http://schemas.microsoft.com/office/drawing/2014/main" id="{18EAC71A-9BCE-96F1-FFC5-C4461CE71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1113" y="781511"/>
                <a:ext cx="2706947" cy="444759"/>
              </a:xfrm>
              <a:prstGeom prst="rect">
                <a:avLst/>
              </a:prstGeom>
              <a:blipFill>
                <a:blip r:embed="rId7"/>
                <a:stretch>
                  <a:fillRect t="-17808" b="-2739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10124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/>
          <p:cNvSpPr/>
          <p:nvPr/>
        </p:nvSpPr>
        <p:spPr>
          <a:xfrm>
            <a:off x="0" y="825669"/>
            <a:ext cx="257700" cy="31680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7"/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/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/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/>
          <p:cNvSpPr txBox="1"/>
          <p:nvPr/>
        </p:nvSpPr>
        <p:spPr>
          <a:xfrm>
            <a:off x="8730234" y="4871371"/>
            <a:ext cx="41376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9503371-6BCA-259C-9130-DF3F973CCE94}"/>
                  </a:ext>
                </a:extLst>
              </p:cNvPr>
              <p:cNvSpPr txBox="1"/>
              <p:nvPr/>
            </p:nvSpPr>
            <p:spPr>
              <a:xfrm>
                <a:off x="313178" y="1474643"/>
                <a:ext cx="8417055" cy="30612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just">
                  <a:spcAft>
                    <a:spcPts val="300"/>
                  </a:spcAft>
                  <a:buSzPct val="100000"/>
                  <a:buAutoNum type="arabicPeriod"/>
                </a:pP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Bagaimana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syarat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perlu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dan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cukup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untuk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konvergensi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dari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skema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iterasi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Sabri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di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D" sz="2050" b="1" i="1" dirty="0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𝑪𝑨</m:t>
                    </m:r>
                    <m:sSub>
                      <m:sSubPr>
                        <m:ctrlPr>
                          <a:rPr lang="en-ID" sz="2050" b="1" i="1" dirty="0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ID" sz="2050" b="1" i="1" dirty="0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𝑻</m:t>
                        </m:r>
                      </m:e>
                      <m:sub>
                        <m:r>
                          <a:rPr lang="en-ID" sz="2050" b="1" i="1" dirty="0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𝒑</m:t>
                        </m:r>
                      </m:sub>
                    </m:sSub>
                    <m:r>
                      <a:rPr lang="en-ID" sz="2050" b="1" i="1" dirty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(</m:t>
                    </m:r>
                    <m:r>
                      <a:rPr lang="en-ID" sz="2050" b="1" i="1" dirty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𝟎</m:t>
                    </m:r>
                    <m:r>
                      <a:rPr lang="en-US" sz="2050" b="1" i="1" dirty="0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)</m:t>
                    </m:r>
                  </m:oMath>
                </a14:m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dalam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aproksimasi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titik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tetap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dari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pemetaan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50" b="1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(</m:t>
                    </m:r>
                    <m:r>
                      <a:rPr lang="en-US" sz="2050" b="1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𝜶</m:t>
                    </m:r>
                    <m:r>
                      <a:rPr lang="en-US" sz="2050" b="1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  <m:r>
                      <a:rPr lang="en-US" sz="2050" b="1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𝜷</m:t>
                    </m:r>
                    <m:r>
                      <a:rPr lang="en-US" sz="2050" b="1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  <m:r>
                      <a:rPr lang="en-US" sz="2050" b="1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𝜸</m:t>
                    </m:r>
                    <m:r>
                      <a:rPr lang="en-US" sz="2050" b="1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)</m:t>
                    </m:r>
                  </m:oMath>
                </a14:m>
                <a:r>
                  <a:rPr lang="en-ID" sz="205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-</a:t>
                </a:r>
                <a:r>
                  <a:rPr lang="en-ID" sz="205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nonekspansif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?</a:t>
                </a:r>
              </a:p>
              <a:p>
                <a:pPr marL="342900" indent="-342900" algn="just">
                  <a:spcAft>
                    <a:spcPts val="300"/>
                  </a:spcAft>
                  <a:buSzPct val="100000"/>
                  <a:buAutoNum type="arabicPeriod"/>
                </a:pP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Bagaimana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laju</a:t>
                </a:r>
                <a:r>
                  <a:rPr lang="en-ID" sz="205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konvergensi</a:t>
                </a:r>
                <a:r>
                  <a:rPr lang="en-ID" sz="205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dari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skema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iterasi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Sabri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untuk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pemetaan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50" b="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(</m:t>
                    </m:r>
                    <m:r>
                      <a:rPr lang="en-US" sz="2050" b="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𝛼</m:t>
                    </m:r>
                    <m:r>
                      <a:rPr lang="en-US" sz="2050" b="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  <m:r>
                      <a:rPr lang="en-US" sz="2050" b="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𝛽</m:t>
                    </m:r>
                    <m:r>
                      <a:rPr lang="en-US" sz="2050" b="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  <m:r>
                      <a:rPr lang="en-US" sz="2050" b="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𝛾</m:t>
                    </m:r>
                    <m:r>
                      <a:rPr lang="en-US" sz="2050" b="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)</m:t>
                    </m:r>
                  </m:oMath>
                </a14:m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-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nonekspansif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dibanding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dengan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skema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iterasi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lainnya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secara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numerik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? </a:t>
                </a:r>
              </a:p>
              <a:p>
                <a:pPr marL="342900" indent="-342900" algn="just">
                  <a:spcAft>
                    <a:spcPts val="300"/>
                  </a:spcAft>
                  <a:buSzPct val="100000"/>
                  <a:buAutoNum type="arabicPeriod"/>
                </a:pP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Bagaimana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aplikasi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dari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skema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iterasi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Sabri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untuk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pemetaan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5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(</m:t>
                    </m:r>
                    <m:r>
                      <a:rPr lang="en-US" sz="205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𝛼</m:t>
                    </m:r>
                    <m:r>
                      <a:rPr lang="en-US" sz="205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  <m:r>
                      <a:rPr lang="en-US" sz="205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𝛽</m:t>
                    </m:r>
                    <m:r>
                      <a:rPr lang="en-US" sz="205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  <m:r>
                      <a:rPr lang="en-US" sz="205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𝛾</m:t>
                    </m:r>
                    <m:r>
                      <a:rPr lang="en-US" sz="205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)</m:t>
                    </m:r>
                  </m:oMath>
                </a14:m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-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nonekspansif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di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D" sz="2050" i="1" dirty="0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𝐶𝐴</m:t>
                    </m:r>
                    <m:sSub>
                      <m:sSubPr>
                        <m:ctrlPr>
                          <a:rPr lang="en-ID" sz="2050" i="1" dirty="0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ID" sz="2050" i="1" dirty="0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𝑇</m:t>
                        </m:r>
                      </m:e>
                      <m:sub>
                        <m:r>
                          <a:rPr lang="en-ID" sz="2050" i="1" dirty="0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𝑝</m:t>
                        </m:r>
                      </m:sub>
                    </m:sSub>
                    <m:r>
                      <a:rPr lang="en-ID" sz="2050" i="1" dirty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(0) </m:t>
                    </m:r>
                  </m:oMath>
                </a14:m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pada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masalah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optimasi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?</a:t>
                </a:r>
                <a:endParaRPr lang="en-US" sz="205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9503371-6BCA-259C-9130-DF3F973CCE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78" y="1474643"/>
                <a:ext cx="8417055" cy="3061223"/>
              </a:xfrm>
              <a:prstGeom prst="rect">
                <a:avLst/>
              </a:prstGeom>
              <a:blipFill>
                <a:blip r:embed="rId5"/>
                <a:stretch>
                  <a:fillRect l="-1231" t="-3785" r="-869" b="-2789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Google Shape;143;p26">
            <a:extLst>
              <a:ext uri="{FF2B5EF4-FFF2-40B4-BE49-F238E27FC236}">
                <a16:creationId xmlns:a16="http://schemas.microsoft.com/office/drawing/2014/main" id="{6E6F1245-5DF3-E333-FB12-E976CB526903}"/>
              </a:ext>
            </a:extLst>
          </p:cNvPr>
          <p:cNvSpPr txBox="1"/>
          <p:nvPr/>
        </p:nvSpPr>
        <p:spPr>
          <a:xfrm>
            <a:off x="297744" y="676199"/>
            <a:ext cx="3944741" cy="582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Rumusan</a:t>
            </a: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Masalah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168;p26">
            <a:extLst>
              <a:ext uri="{FF2B5EF4-FFF2-40B4-BE49-F238E27FC236}">
                <a16:creationId xmlns:a16="http://schemas.microsoft.com/office/drawing/2014/main" id="{06553BBF-00D8-4D25-BB72-10C0D92B67F2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08154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7"/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/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/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/>
          <p:cNvSpPr txBox="1"/>
          <p:nvPr/>
        </p:nvSpPr>
        <p:spPr>
          <a:xfrm>
            <a:off x="8730234" y="4871371"/>
            <a:ext cx="41376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86E1C7A-8F74-C4EB-5B10-0D35D649CC11}"/>
                  </a:ext>
                </a:extLst>
              </p:cNvPr>
              <p:cNvSpPr txBox="1"/>
              <p:nvPr/>
            </p:nvSpPr>
            <p:spPr>
              <a:xfrm>
                <a:off x="313179" y="1472435"/>
                <a:ext cx="8158500" cy="33624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 algn="just">
                  <a:spcAft>
                    <a:spcPts val="300"/>
                  </a:spcAft>
                  <a:buSzPct val="100000"/>
                  <a:buAutoNum type="arabicPeriod"/>
                </a:pPr>
                <a:r>
                  <a:rPr lang="en-ID" sz="205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Laju </a:t>
                </a:r>
                <a:r>
                  <a:rPr lang="en-ID" sz="205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konvergensi</a:t>
                </a:r>
                <a:r>
                  <a:rPr lang="en-ID" sz="205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yang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dibandingkan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adalah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laju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dari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skema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iterasi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Sabri, JK, Thakur, dan Agarwal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berdasarkan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banyaknya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iterasi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yang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diperlukan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.   </a:t>
                </a:r>
              </a:p>
              <a:p>
                <a:pPr marL="457200" indent="-457200" algn="just">
                  <a:spcAft>
                    <a:spcPts val="300"/>
                  </a:spcAft>
                  <a:buSzPct val="100000"/>
                  <a:buAutoNum type="arabicPeriod"/>
                </a:pP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Masalah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optimasi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yang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dibahas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:</a:t>
                </a:r>
              </a:p>
              <a:p>
                <a:pPr marL="803275" indent="-358775" algn="just">
                  <a:spcAft>
                    <a:spcPts val="300"/>
                  </a:spcAft>
                  <a:buSzPct val="100000"/>
                  <a:buFont typeface="+mj-lt"/>
                  <a:buAutoNum type="alphaLcPeriod"/>
                </a:pPr>
                <a:r>
                  <a:rPr lang="en-ID" sz="205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minimalisasi</a:t>
                </a:r>
                <a:r>
                  <a:rPr lang="en-ID" sz="205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fungsi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,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yaitu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mencari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titik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𝑥</m:t>
                    </m:r>
                    <m:r>
                      <a:rPr lang="en-US" sz="20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∈</m:t>
                    </m:r>
                    <m:r>
                      <a:rPr lang="en-US" sz="20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𝑋</m:t>
                    </m:r>
                  </m:oMath>
                </a14:m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sehingga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𝑓</m:t>
                    </m:r>
                    <m:d>
                      <m:dPr>
                        <m:ctrlPr>
                          <a:rPr lang="en-US" sz="20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20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𝑥</m:t>
                        </m:r>
                      </m:e>
                    </m:d>
                    <m:r>
                      <a:rPr lang="en-US" sz="20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≤</m:t>
                    </m:r>
                    <m:r>
                      <a:rPr lang="en-US" sz="20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𝑓</m:t>
                    </m:r>
                    <m:d>
                      <m:dPr>
                        <m:ctrlPr>
                          <a:rPr lang="en-US" sz="20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20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untuk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setiap</a:t>
                </a:r>
                <a:r>
                  <a:rPr lang="en-ID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𝑦</m:t>
                    </m:r>
                    <m:r>
                      <a:rPr lang="en-US" sz="20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∈</m:t>
                    </m:r>
                    <m:r>
                      <a:rPr lang="en-US" sz="20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𝑋</m:t>
                    </m:r>
                  </m:oMath>
                </a14:m>
                <a:r>
                  <a:rPr lang="en-US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dengan</a:t>
                </a:r>
                <a:r>
                  <a:rPr lang="en-US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𝑋</m:t>
                    </m:r>
                  </m:oMath>
                </a14:m>
                <a:r>
                  <a:rPr lang="en-US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adalah</a:t>
                </a:r>
                <a:r>
                  <a:rPr lang="en-US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himpunan</a:t>
                </a:r>
                <a:r>
                  <a:rPr lang="en-US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tak</a:t>
                </a:r>
                <a:r>
                  <a:rPr lang="en-US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kosong</a:t>
                </a:r>
                <a:r>
                  <a:rPr lang="en-US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en-US" sz="20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𝑓</m:t>
                    </m:r>
                    <m:r>
                      <a:rPr lang="en-US" sz="20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:</m:t>
                    </m:r>
                    <m:r>
                      <a:rPr lang="en-US" sz="20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𝑋</m:t>
                    </m:r>
                    <m:r>
                      <a:rPr lang="en-US" sz="20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→</m:t>
                    </m:r>
                    <m:r>
                      <a:rPr lang="en-US" sz="20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ℝ</m:t>
                    </m:r>
                    <m:r>
                      <a:rPr lang="en-US" sz="20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∪</m:t>
                    </m:r>
                    <m:r>
                      <m:rPr>
                        <m:lit/>
                      </m:rPr>
                      <a:rPr lang="en-US" sz="20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{</m:t>
                    </m:r>
                    <m:r>
                      <a:rPr lang="en-US" sz="20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+∞</m:t>
                    </m:r>
                    <m:r>
                      <m:rPr>
                        <m:lit/>
                      </m:rPr>
                      <a:rPr lang="en-US" sz="20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}</m:t>
                    </m:r>
                  </m:oMath>
                </a14:m>
                <a:r>
                  <a:rPr lang="en-US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adalah </a:t>
                </a:r>
                <a:r>
                  <a:rPr lang="en-US" sz="205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fungsi</a:t>
                </a:r>
                <a:r>
                  <a:rPr lang="en-US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yang </a:t>
                </a:r>
                <a:r>
                  <a:rPr lang="en-US" sz="205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konveks</a:t>
                </a:r>
                <a:r>
                  <a:rPr lang="en-US" sz="205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2050" b="1" i="1" dirty="0">
                    <a:latin typeface="Poppins" panose="00000500000000000000" pitchFamily="2" charset="0"/>
                    <a:cs typeface="Poppins" panose="00000500000000000000" pitchFamily="2" charset="0"/>
                  </a:rPr>
                  <a:t>proper lower semicontinuous</a:t>
                </a:r>
                <a:r>
                  <a:rPr lang="en-US" sz="2050" i="1" dirty="0">
                    <a:latin typeface="Poppins" panose="00000500000000000000" pitchFamily="2" charset="0"/>
                    <a:cs typeface="Poppins" panose="00000500000000000000" pitchFamily="2" charset="0"/>
                  </a:rPr>
                  <a:t>,</a:t>
                </a:r>
              </a:p>
              <a:p>
                <a:pPr marL="803275" indent="-358775" algn="just">
                  <a:spcAft>
                    <a:spcPts val="300"/>
                  </a:spcAft>
                  <a:buSzPct val="100000"/>
                  <a:buFont typeface="+mj-lt"/>
                  <a:buAutoNum type="alphaLcPeriod"/>
                </a:pPr>
                <a:r>
                  <a:rPr lang="en-US" sz="2050" i="1" dirty="0">
                    <a:latin typeface="Poppins" panose="00000500000000000000" pitchFamily="2" charset="0"/>
                    <a:cs typeface="Poppins" panose="00000500000000000000" pitchFamily="2" charset="0"/>
                  </a:rPr>
                  <a:t>split feasibility problem</a:t>
                </a:r>
                <a:r>
                  <a:rPr lang="en-US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, yang </a:t>
                </a:r>
                <a:r>
                  <a:rPr lang="en-US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kemudian</a:t>
                </a:r>
                <a:r>
                  <a:rPr lang="en-US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diterapkan</a:t>
                </a:r>
                <a:r>
                  <a:rPr lang="en-US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20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dalam</a:t>
                </a:r>
                <a:r>
                  <a:rPr lang="en-US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205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rekonstruksi</a:t>
                </a:r>
                <a:r>
                  <a:rPr lang="en-US" sz="205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205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citra</a:t>
                </a:r>
                <a:r>
                  <a:rPr lang="en-US" sz="205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205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tomografi</a:t>
                </a:r>
                <a:r>
                  <a:rPr lang="en-US" sz="2050" dirty="0">
                    <a:latin typeface="Poppins" panose="00000500000000000000" pitchFamily="2" charset="0"/>
                    <a:cs typeface="Poppins" panose="00000500000000000000" pitchFamily="2" charset="0"/>
                  </a:rPr>
                  <a:t>.</a:t>
                </a:r>
                <a:endParaRPr lang="en-US" sz="2050" i="1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86E1C7A-8F74-C4EB-5B10-0D35D649C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79" y="1472435"/>
                <a:ext cx="8158500" cy="3362459"/>
              </a:xfrm>
              <a:prstGeom prst="rect">
                <a:avLst/>
              </a:prstGeom>
              <a:blipFill>
                <a:blip r:embed="rId5"/>
                <a:stretch>
                  <a:fillRect l="-1270" t="-3448" r="-822" b="-2541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Google Shape;142;p26">
            <a:extLst>
              <a:ext uri="{FF2B5EF4-FFF2-40B4-BE49-F238E27FC236}">
                <a16:creationId xmlns:a16="http://schemas.microsoft.com/office/drawing/2014/main" id="{C30E5D27-FA54-65BB-7837-0FA552C41929}"/>
              </a:ext>
            </a:extLst>
          </p:cNvPr>
          <p:cNvSpPr/>
          <p:nvPr/>
        </p:nvSpPr>
        <p:spPr>
          <a:xfrm>
            <a:off x="0" y="839261"/>
            <a:ext cx="257611" cy="31672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43;p26">
            <a:extLst>
              <a:ext uri="{FF2B5EF4-FFF2-40B4-BE49-F238E27FC236}">
                <a16:creationId xmlns:a16="http://schemas.microsoft.com/office/drawing/2014/main" id="{6E6F1245-5DF3-E333-FB12-E976CB526903}"/>
              </a:ext>
            </a:extLst>
          </p:cNvPr>
          <p:cNvSpPr txBox="1"/>
          <p:nvPr/>
        </p:nvSpPr>
        <p:spPr>
          <a:xfrm>
            <a:off x="297744" y="676199"/>
            <a:ext cx="3944741" cy="582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Batasan </a:t>
            </a: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Masalah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168;p26">
            <a:extLst>
              <a:ext uri="{FF2B5EF4-FFF2-40B4-BE49-F238E27FC236}">
                <a16:creationId xmlns:a16="http://schemas.microsoft.com/office/drawing/2014/main" id="{E104CE1F-D7A7-E329-01BF-5B131E660402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58430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7"/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/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/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/>
          <p:cNvSpPr txBox="1"/>
          <p:nvPr/>
        </p:nvSpPr>
        <p:spPr>
          <a:xfrm>
            <a:off x="8730233" y="4871371"/>
            <a:ext cx="339625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9503371-6BCA-259C-9130-DF3F973CCE94}"/>
                  </a:ext>
                </a:extLst>
              </p:cNvPr>
              <p:cNvSpPr txBox="1"/>
              <p:nvPr/>
            </p:nvSpPr>
            <p:spPr>
              <a:xfrm>
                <a:off x="313179" y="1474643"/>
                <a:ext cx="8417054" cy="32982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just">
                  <a:spcAft>
                    <a:spcPts val="300"/>
                  </a:spcAft>
                  <a:buSzPct val="100000"/>
                  <a:buAutoNum type="arabicPeriod"/>
                </a:pP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Mendapatkan </a:t>
                </a:r>
                <a:r>
                  <a:rPr lang="en-ID" sz="20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syarat</a:t>
                </a: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perlu</a:t>
                </a: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dan </a:t>
                </a:r>
                <a:r>
                  <a:rPr lang="en-ID" sz="20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cukup</a:t>
                </a: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untuk</a:t>
                </a: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konvergensi</a:t>
                </a: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dari</a:t>
                </a: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skema</a:t>
                </a: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iterasi</a:t>
                </a: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Sabri</a:t>
                </a: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di </a:t>
                </a:r>
                <a:r>
                  <a:rPr lang="en-ID" sz="20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D" sz="2000" b="1" i="1" dirty="0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𝑪𝑨</m:t>
                    </m:r>
                    <m:sSub>
                      <m:sSubPr>
                        <m:ctrlPr>
                          <a:rPr lang="en-ID" sz="2000" b="1" i="1" dirty="0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ID" sz="2000" b="1" i="1" dirty="0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𝑻</m:t>
                        </m:r>
                      </m:e>
                      <m:sub>
                        <m:r>
                          <a:rPr lang="en-ID" sz="2000" b="1" i="1" dirty="0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𝒑</m:t>
                        </m:r>
                      </m:sub>
                    </m:sSub>
                    <m:r>
                      <a:rPr lang="en-ID" sz="2000" b="1" i="1" dirty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(</m:t>
                    </m:r>
                    <m:r>
                      <a:rPr lang="en-ID" sz="2000" b="1" i="1" dirty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𝟎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)</m:t>
                    </m:r>
                  </m:oMath>
                </a14:m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dalam</a:t>
                </a: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aproksimasi</a:t>
                </a: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titik</a:t>
                </a: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tetap</a:t>
                </a: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dari</a:t>
                </a: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pemetaan</a:t>
                </a: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(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𝜶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𝜷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𝜸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)</m:t>
                    </m:r>
                  </m:oMath>
                </a14:m>
                <a:r>
                  <a:rPr lang="en-ID" sz="20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-</a:t>
                </a:r>
                <a:r>
                  <a:rPr lang="en-ID" sz="20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nonekspansif</a:t>
                </a: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?</a:t>
                </a:r>
              </a:p>
              <a:p>
                <a:pPr marL="342900" indent="-342900" algn="just">
                  <a:spcAft>
                    <a:spcPts val="300"/>
                  </a:spcAft>
                  <a:buSzPct val="100000"/>
                  <a:buAutoNum type="arabicPeriod"/>
                </a:pPr>
                <a:r>
                  <a:rPr lang="en-ID" sz="20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Mengetahui</a:t>
                </a: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laju</a:t>
                </a:r>
                <a:r>
                  <a:rPr lang="en-ID" sz="20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konvergensi</a:t>
                </a:r>
                <a:r>
                  <a:rPr lang="en-ID" sz="20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dari</a:t>
                </a: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skema</a:t>
                </a: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iterasi</a:t>
                </a: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Sabri </a:t>
                </a:r>
                <a:r>
                  <a:rPr lang="en-ID" sz="20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untuk</a:t>
                </a: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mendapatkan</a:t>
                </a: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aproksimasi</a:t>
                </a: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titik</a:t>
                </a: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tetap</a:t>
                </a: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dari</a:t>
                </a: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pemetaan</a:t>
                </a: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2000" b="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𝛼</m:t>
                        </m:r>
                        <m:r>
                          <a:rPr lang="en-US" sz="2000" b="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r>
                          <a:rPr lang="en-US" sz="2000" b="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𝛽</m:t>
                        </m:r>
                        <m:r>
                          <a:rPr lang="en-US" sz="2000" b="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r>
                          <a:rPr lang="en-US" sz="2000" b="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𝛾</m:t>
                        </m:r>
                      </m:e>
                    </m:d>
                  </m:oMath>
                </a14:m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-</a:t>
                </a:r>
                <a:r>
                  <a:rPr lang="en-ID" sz="20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nonekspansif</a:t>
                </a: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dibanding</a:t>
                </a: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dengan</a:t>
                </a: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skema</a:t>
                </a: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iterasi</a:t>
                </a: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lainnya</a:t>
                </a: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secara</a:t>
                </a: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numerik</a:t>
                </a:r>
                <a:endParaRPr lang="en-ID" sz="20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marL="342900" indent="-342900" algn="just">
                  <a:spcAft>
                    <a:spcPts val="300"/>
                  </a:spcAft>
                  <a:buSzPct val="100000"/>
                  <a:buAutoNum type="arabicPeriod"/>
                </a:pPr>
                <a:r>
                  <a:rPr lang="en-ID" sz="20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Mendapatkan</a:t>
                </a: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aplikasi</a:t>
                </a: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dari</a:t>
                </a: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skema</a:t>
                </a: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iterasi</a:t>
                </a: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Sabri </a:t>
                </a:r>
                <a:r>
                  <a:rPr lang="en-ID" sz="20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untuk</a:t>
                </a: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pemetaan</a:t>
                </a: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(</m:t>
                    </m:r>
                    <m:r>
                      <a:rPr lang="en-US" sz="2000" b="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𝛼</m:t>
                    </m:r>
                    <m:r>
                      <a:rPr lang="en-US" sz="2000" b="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  <m:r>
                      <a:rPr lang="en-US" sz="2000" b="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𝛽</m:t>
                    </m:r>
                    <m:r>
                      <a:rPr lang="en-US" sz="2000" b="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  <m:r>
                      <a:rPr lang="en-US" sz="2000" b="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𝛾</m:t>
                    </m:r>
                    <m:r>
                      <a:rPr lang="en-US" sz="2000" b="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)</m:t>
                    </m:r>
                  </m:oMath>
                </a14:m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-</a:t>
                </a:r>
                <a:r>
                  <a:rPr lang="en-ID" sz="20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nonekspansif </a:t>
                </a: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di </a:t>
                </a:r>
                <a:r>
                  <a:rPr lang="en-ID" sz="20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D" sz="2000" i="1" dirty="0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𝐶𝐴</m:t>
                    </m:r>
                    <m:sSub>
                      <m:sSubPr>
                        <m:ctrlPr>
                          <a:rPr lang="en-ID" sz="2000" i="1" dirty="0" err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ID" sz="2000" i="1" dirty="0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𝑇</m:t>
                        </m:r>
                      </m:e>
                      <m:sub>
                        <m:r>
                          <a:rPr lang="en-ID" sz="2000" i="1" dirty="0" err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𝑝</m:t>
                        </m:r>
                      </m:sub>
                    </m:sSub>
                    <m:r>
                      <a:rPr lang="en-ID" sz="2000" i="1" dirty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(0</m:t>
                    </m:r>
                    <m:r>
                      <a:rPr lang="en-ID" sz="2000" i="1" dirty="0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)</m:t>
                    </m:r>
                  </m:oMath>
                </a14:m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pada </a:t>
                </a:r>
                <a:r>
                  <a:rPr lang="en-ID" sz="20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masalah</a:t>
                </a: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0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optimasi</a:t>
                </a:r>
                <a:r>
                  <a:rPr lang="en-ID" sz="2000" dirty="0">
                    <a:latin typeface="Poppins" panose="00000500000000000000" pitchFamily="2" charset="0"/>
                    <a:cs typeface="Poppins" panose="00000500000000000000" pitchFamily="2" charset="0"/>
                  </a:rPr>
                  <a:t>?</a:t>
                </a:r>
                <a:endParaRPr lang="en-US" sz="20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9503371-6BCA-259C-9130-DF3F973CCE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79" y="1474643"/>
                <a:ext cx="8417054" cy="3298211"/>
              </a:xfrm>
              <a:prstGeom prst="rect">
                <a:avLst/>
              </a:prstGeom>
              <a:blipFill>
                <a:blip r:embed="rId5"/>
                <a:stretch>
                  <a:fillRect l="-1231" t="-3512" r="-797" b="-240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Google Shape;142;p26">
            <a:extLst>
              <a:ext uri="{FF2B5EF4-FFF2-40B4-BE49-F238E27FC236}">
                <a16:creationId xmlns:a16="http://schemas.microsoft.com/office/drawing/2014/main" id="{C30E5D27-FA54-65BB-7837-0FA552C41929}"/>
              </a:ext>
            </a:extLst>
          </p:cNvPr>
          <p:cNvSpPr/>
          <p:nvPr/>
        </p:nvSpPr>
        <p:spPr>
          <a:xfrm>
            <a:off x="0" y="839261"/>
            <a:ext cx="257611" cy="31672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43;p26">
            <a:extLst>
              <a:ext uri="{FF2B5EF4-FFF2-40B4-BE49-F238E27FC236}">
                <a16:creationId xmlns:a16="http://schemas.microsoft.com/office/drawing/2014/main" id="{6E6F1245-5DF3-E333-FB12-E976CB526903}"/>
              </a:ext>
            </a:extLst>
          </p:cNvPr>
          <p:cNvSpPr txBox="1"/>
          <p:nvPr/>
        </p:nvSpPr>
        <p:spPr>
          <a:xfrm>
            <a:off x="297744" y="676199"/>
            <a:ext cx="3944741" cy="582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Tujuan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168;p26">
            <a:extLst>
              <a:ext uri="{FF2B5EF4-FFF2-40B4-BE49-F238E27FC236}">
                <a16:creationId xmlns:a16="http://schemas.microsoft.com/office/drawing/2014/main" id="{A7D01185-E276-958A-E958-1E0934508EA5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8513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7"/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/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/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/>
          <p:cNvSpPr txBox="1"/>
          <p:nvPr/>
        </p:nvSpPr>
        <p:spPr>
          <a:xfrm>
            <a:off x="8730234" y="4871371"/>
            <a:ext cx="41376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9503371-6BCA-259C-9130-DF3F973CCE94}"/>
                  </a:ext>
                </a:extLst>
              </p:cNvPr>
              <p:cNvSpPr txBox="1"/>
              <p:nvPr/>
            </p:nvSpPr>
            <p:spPr>
              <a:xfrm>
                <a:off x="313179" y="1474643"/>
                <a:ext cx="8158500" cy="30777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 algn="just">
                  <a:spcAft>
                    <a:spcPts val="300"/>
                  </a:spcAft>
                  <a:buSzPct val="100000"/>
                  <a:buAutoNum type="arabicPeriod"/>
                </a:pPr>
                <a:r>
                  <a:rPr lang="en-ID" sz="2100" dirty="0">
                    <a:latin typeface="Poppins" panose="00000500000000000000" pitchFamily="2" charset="0"/>
                    <a:cs typeface="Poppins" panose="00000500000000000000" pitchFamily="2" charset="0"/>
                  </a:rPr>
                  <a:t>Sebagai </a:t>
                </a:r>
                <a:r>
                  <a:rPr lang="en-ID" sz="21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kontribusi</a:t>
                </a:r>
                <a:r>
                  <a:rPr lang="en-ID" sz="2100" dirty="0">
                    <a:latin typeface="Poppins" panose="00000500000000000000" pitchFamily="2" charset="0"/>
                    <a:cs typeface="Poppins" panose="00000500000000000000" pitchFamily="2" charset="0"/>
                  </a:rPr>
                  <a:t> pada </a:t>
                </a:r>
                <a:r>
                  <a:rPr lang="en-ID" sz="21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pengembangan</a:t>
                </a:r>
                <a:r>
                  <a:rPr lang="en-ID" sz="21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1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teori</a:t>
                </a:r>
                <a:r>
                  <a:rPr lang="en-ID" sz="21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1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titik</a:t>
                </a:r>
                <a:r>
                  <a:rPr lang="en-ID" sz="21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1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tetap</a:t>
                </a:r>
                <a:r>
                  <a:rPr lang="en-ID" sz="2100" dirty="0">
                    <a:latin typeface="Poppins" panose="00000500000000000000" pitchFamily="2" charset="0"/>
                    <a:cs typeface="Poppins" panose="00000500000000000000" pitchFamily="2" charset="0"/>
                  </a:rPr>
                  <a:t>, </a:t>
                </a:r>
                <a:r>
                  <a:rPr lang="en-ID" sz="21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khususnya</a:t>
                </a:r>
                <a:r>
                  <a:rPr lang="en-ID" sz="2100" dirty="0">
                    <a:latin typeface="Poppins" panose="00000500000000000000" pitchFamily="2" charset="0"/>
                    <a:cs typeface="Poppins" panose="00000500000000000000" pitchFamily="2" charset="0"/>
                  </a:rPr>
                  <a:t> pada </a:t>
                </a:r>
                <a:r>
                  <a:rPr lang="en-ID" sz="21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analisis</a:t>
                </a:r>
                <a:r>
                  <a:rPr lang="en-ID" sz="21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1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konvergensi</a:t>
                </a:r>
                <a:r>
                  <a:rPr lang="en-ID" sz="21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1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skema</a:t>
                </a:r>
                <a:r>
                  <a:rPr lang="en-ID" sz="21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1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iterasi</a:t>
                </a:r>
                <a:r>
                  <a:rPr lang="en-ID" sz="21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1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untuk</a:t>
                </a:r>
                <a:r>
                  <a:rPr lang="en-ID" sz="21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1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kelas</a:t>
                </a:r>
                <a:r>
                  <a:rPr lang="en-ID" sz="21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1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pemetaan</a:t>
                </a:r>
                <a:r>
                  <a:rPr lang="en-ID" sz="2100" dirty="0">
                    <a:latin typeface="Poppins" panose="00000500000000000000" pitchFamily="2" charset="0"/>
                    <a:cs typeface="Poppins" panose="00000500000000000000" pitchFamily="2" charset="0"/>
                  </a:rPr>
                  <a:t> yang </a:t>
                </a:r>
                <a:r>
                  <a:rPr lang="en-ID" sz="21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lebih</a:t>
                </a:r>
                <a:r>
                  <a:rPr lang="en-ID" sz="21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1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umum</a:t>
                </a:r>
                <a:r>
                  <a:rPr lang="en-ID" sz="21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dan </a:t>
                </a:r>
                <a:r>
                  <a:rPr lang="en-ID" sz="21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ID" sz="2100" dirty="0">
                    <a:latin typeface="Poppins" panose="00000500000000000000" pitchFamily="2" charset="0"/>
                    <a:cs typeface="Poppins" panose="00000500000000000000" pitchFamily="2" charset="0"/>
                  </a:rPr>
                  <a:t> yang </a:t>
                </a:r>
                <a:r>
                  <a:rPr lang="en-ID" sz="21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lebih</a:t>
                </a:r>
                <a:r>
                  <a:rPr lang="en-ID" sz="21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1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umum</a:t>
                </a:r>
                <a:r>
                  <a:rPr lang="en-ID" sz="2100" dirty="0">
                    <a:latin typeface="Poppins" panose="00000500000000000000" pitchFamily="2" charset="0"/>
                    <a:cs typeface="Poppins" panose="00000500000000000000" pitchFamily="2" charset="0"/>
                  </a:rPr>
                  <a:t>, </a:t>
                </a:r>
                <a:r>
                  <a:rPr lang="en-ID" sz="21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yaitu</a:t>
                </a:r>
                <a:r>
                  <a:rPr lang="en-ID" sz="21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1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pemetaan</a:t>
                </a:r>
                <a:r>
                  <a:rPr lang="en-ID" sz="21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D" sz="2100" i="1" dirty="0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(</m:t>
                    </m:r>
                    <m:r>
                      <a:rPr lang="en-ID" sz="2100" i="1" dirty="0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𝛼</m:t>
                    </m:r>
                    <m:r>
                      <a:rPr lang="en-ID" sz="2100" i="1" dirty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  <m:r>
                      <a:rPr lang="en-ID" sz="2100" i="1" dirty="0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𝛽</m:t>
                    </m:r>
                    <m:r>
                      <a:rPr lang="en-ID" sz="2100" i="1" dirty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  <m:r>
                      <a:rPr lang="en-ID" sz="2100" i="1" dirty="0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𝛾</m:t>
                    </m:r>
                    <m:r>
                      <a:rPr lang="en-ID" sz="2100" i="1" dirty="0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)</m:t>
                    </m:r>
                  </m:oMath>
                </a14:m>
                <a:r>
                  <a:rPr lang="en-ID" sz="2100" dirty="0">
                    <a:latin typeface="Poppins" panose="00000500000000000000" pitchFamily="2" charset="0"/>
                    <a:cs typeface="Poppins" panose="00000500000000000000" pitchFamily="2" charset="0"/>
                  </a:rPr>
                  <a:t>-</a:t>
                </a:r>
                <a:r>
                  <a:rPr lang="en-ID" sz="21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nonekspansif</a:t>
                </a:r>
                <a:r>
                  <a:rPr lang="en-ID" sz="21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di </a:t>
                </a:r>
                <a:r>
                  <a:rPr lang="en-ID" sz="21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ID" sz="21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D" sz="2100" i="1" dirty="0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𝐶𝐴</m:t>
                    </m:r>
                    <m:sSub>
                      <m:sSubPr>
                        <m:ctrlPr>
                          <a:rPr lang="en-ID" sz="2100" i="1" dirty="0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ID" sz="2100" i="1" dirty="0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𝑇</m:t>
                        </m:r>
                      </m:e>
                      <m:sub>
                        <m:r>
                          <a:rPr lang="en-ID" sz="2100" i="1" dirty="0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sz="2100" b="0" i="1" dirty="0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2100" b="0" i="1" dirty="0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0</m:t>
                        </m:r>
                      </m:e>
                    </m:d>
                    <m:r>
                      <a:rPr lang="en-US" sz="2100" b="0" i="1" dirty="0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.</m:t>
                    </m:r>
                  </m:oMath>
                </a14:m>
                <a:endParaRPr lang="en-ID" sz="21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marL="457200" indent="-457200" algn="just">
                  <a:spcAft>
                    <a:spcPts val="300"/>
                  </a:spcAft>
                  <a:buSzPct val="100000"/>
                  <a:buAutoNum type="arabicPeriod"/>
                </a:pPr>
                <a:r>
                  <a:rPr lang="en-ID" sz="21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Sebagai</a:t>
                </a:r>
                <a:r>
                  <a:rPr lang="en-ID" sz="21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1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bahan</a:t>
                </a:r>
                <a:r>
                  <a:rPr lang="en-ID" sz="21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1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kajian</a:t>
                </a:r>
                <a:r>
                  <a:rPr lang="en-ID" sz="21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100" dirty="0">
                    <a:latin typeface="Poppins" panose="00000500000000000000" pitchFamily="2" charset="0"/>
                    <a:cs typeface="Poppins" panose="00000500000000000000" pitchFamily="2" charset="0"/>
                  </a:rPr>
                  <a:t>dan </a:t>
                </a:r>
                <a:r>
                  <a:rPr lang="en-ID" sz="21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perbandingan</a:t>
                </a:r>
                <a:r>
                  <a:rPr lang="en-ID" sz="21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1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mengenai</a:t>
                </a:r>
                <a:r>
                  <a:rPr lang="en-ID" sz="21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1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tingkat</a:t>
                </a:r>
                <a:r>
                  <a:rPr lang="en-ID" sz="21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1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kecepatan</a:t>
                </a:r>
                <a:r>
                  <a:rPr lang="en-ID" sz="21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1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konvergensi</a:t>
                </a:r>
                <a:r>
                  <a:rPr lang="en-ID" sz="21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1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antara</a:t>
                </a:r>
                <a:r>
                  <a:rPr lang="en-ID" sz="21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1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skema</a:t>
                </a:r>
                <a:r>
                  <a:rPr lang="en-ID" sz="21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1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iterasi</a:t>
                </a:r>
                <a:r>
                  <a:rPr lang="en-ID" sz="2100" dirty="0">
                    <a:latin typeface="Poppins" panose="00000500000000000000" pitchFamily="2" charset="0"/>
                    <a:cs typeface="Poppins" panose="00000500000000000000" pitchFamily="2" charset="0"/>
                  </a:rPr>
                  <a:t> Sabri </a:t>
                </a:r>
                <a:r>
                  <a:rPr lang="en-ID" sz="21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dengan</a:t>
                </a:r>
                <a:r>
                  <a:rPr lang="en-ID" sz="21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1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skema</a:t>
                </a:r>
                <a:r>
                  <a:rPr lang="en-ID" sz="21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1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iterasi</a:t>
                </a:r>
                <a:r>
                  <a:rPr lang="en-ID" sz="21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1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lainnya</a:t>
                </a:r>
                <a:r>
                  <a:rPr lang="en-ID" sz="21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1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secara</a:t>
                </a:r>
                <a:r>
                  <a:rPr lang="en-ID" sz="21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1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numerik</a:t>
                </a:r>
                <a:r>
                  <a:rPr lang="en-ID" sz="2100" dirty="0">
                    <a:latin typeface="Poppins" panose="00000500000000000000" pitchFamily="2" charset="0"/>
                    <a:cs typeface="Poppins" panose="00000500000000000000" pitchFamily="2" charset="0"/>
                  </a:rPr>
                  <a:t>.    </a:t>
                </a:r>
              </a:p>
              <a:p>
                <a:pPr marL="457200" indent="-457200" algn="just">
                  <a:spcAft>
                    <a:spcPts val="300"/>
                  </a:spcAft>
                  <a:buSzPct val="100000"/>
                  <a:buAutoNum type="arabicPeriod"/>
                </a:pPr>
                <a:r>
                  <a:rPr lang="en-ID" sz="21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Sebagai</a:t>
                </a:r>
                <a:r>
                  <a:rPr lang="en-ID" sz="21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1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alternatif</a:t>
                </a:r>
                <a:r>
                  <a:rPr lang="en-ID" sz="21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1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penyelesaian</a:t>
                </a:r>
                <a:r>
                  <a:rPr lang="en-ID" sz="21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1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masalah</a:t>
                </a:r>
                <a:r>
                  <a:rPr lang="en-ID" sz="21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ID" sz="21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optimasi</a:t>
                </a:r>
                <a:r>
                  <a:rPr lang="en-ID" sz="2100" dirty="0">
                    <a:latin typeface="Poppins" panose="00000500000000000000" pitchFamily="2" charset="0"/>
                    <a:cs typeface="Poppins" panose="00000500000000000000" pitchFamily="2" charset="0"/>
                  </a:rPr>
                  <a:t>. </a:t>
                </a:r>
                <a:endParaRPr lang="en-US" sz="21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9503371-6BCA-259C-9130-DF3F973CCE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79" y="1474643"/>
                <a:ext cx="8158500" cy="3077766"/>
              </a:xfrm>
              <a:prstGeom prst="rect">
                <a:avLst/>
              </a:prstGeom>
              <a:blipFill>
                <a:blip r:embed="rId5"/>
                <a:stretch>
                  <a:fillRect l="-1344" t="-4158" r="-822" b="-554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Google Shape;142;p26">
            <a:extLst>
              <a:ext uri="{FF2B5EF4-FFF2-40B4-BE49-F238E27FC236}">
                <a16:creationId xmlns:a16="http://schemas.microsoft.com/office/drawing/2014/main" id="{C30E5D27-FA54-65BB-7837-0FA552C41929}"/>
              </a:ext>
            </a:extLst>
          </p:cNvPr>
          <p:cNvSpPr/>
          <p:nvPr/>
        </p:nvSpPr>
        <p:spPr>
          <a:xfrm>
            <a:off x="0" y="839261"/>
            <a:ext cx="257611" cy="31672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43;p26">
            <a:extLst>
              <a:ext uri="{FF2B5EF4-FFF2-40B4-BE49-F238E27FC236}">
                <a16:creationId xmlns:a16="http://schemas.microsoft.com/office/drawing/2014/main" id="{6E6F1245-5DF3-E333-FB12-E976CB526903}"/>
              </a:ext>
            </a:extLst>
          </p:cNvPr>
          <p:cNvSpPr txBox="1"/>
          <p:nvPr/>
        </p:nvSpPr>
        <p:spPr>
          <a:xfrm>
            <a:off x="297744" y="676199"/>
            <a:ext cx="3944741" cy="582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Manfaat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168;p26">
            <a:extLst>
              <a:ext uri="{FF2B5EF4-FFF2-40B4-BE49-F238E27FC236}">
                <a16:creationId xmlns:a16="http://schemas.microsoft.com/office/drawing/2014/main" id="{2F92D7BF-6035-9B32-7629-0032ABE59A93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366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/>
          <p:cNvSpPr/>
          <p:nvPr/>
        </p:nvSpPr>
        <p:spPr>
          <a:xfrm>
            <a:off x="8886389" y="256207"/>
            <a:ext cx="257700" cy="31680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7"/>
          <p:cNvSpPr txBox="1"/>
          <p:nvPr/>
        </p:nvSpPr>
        <p:spPr>
          <a:xfrm>
            <a:off x="4354830" y="81794"/>
            <a:ext cx="45174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Metodologi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1" name="Google Shape;181;p27"/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/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/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/>
          <p:cNvSpPr txBox="1"/>
          <p:nvPr/>
        </p:nvSpPr>
        <p:spPr>
          <a:xfrm>
            <a:off x="8730234" y="4871371"/>
            <a:ext cx="41376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5A5A5"/>
                </a:solidFill>
              </a:rPr>
              <a:t>21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71CE81-78B1-483B-D34A-61753756B2F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3668"/>
          <a:stretch>
            <a:fillRect/>
          </a:stretch>
        </p:blipFill>
        <p:spPr>
          <a:xfrm>
            <a:off x="1245413" y="1262879"/>
            <a:ext cx="2845337" cy="25752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893D13-A93D-E0DB-BCDE-7AB42A6B2D1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8305"/>
          <a:stretch>
            <a:fillRect/>
          </a:stretch>
        </p:blipFill>
        <p:spPr>
          <a:xfrm>
            <a:off x="4687330" y="1474838"/>
            <a:ext cx="2845337" cy="2363320"/>
          </a:xfrm>
          <a:prstGeom prst="rect">
            <a:avLst/>
          </a:prstGeom>
        </p:spPr>
      </p:pic>
      <p:sp>
        <p:nvSpPr>
          <p:cNvPr id="7" name="Google Shape;168;p26">
            <a:extLst>
              <a:ext uri="{FF2B5EF4-FFF2-40B4-BE49-F238E27FC236}">
                <a16:creationId xmlns:a16="http://schemas.microsoft.com/office/drawing/2014/main" id="{9221B9BD-8489-23EC-4F51-20A75873341F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17577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/>
          <p:cNvSpPr/>
          <p:nvPr/>
        </p:nvSpPr>
        <p:spPr>
          <a:xfrm>
            <a:off x="8886389" y="256207"/>
            <a:ext cx="257700" cy="31680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7"/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/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/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/>
          <p:cNvSpPr txBox="1"/>
          <p:nvPr/>
        </p:nvSpPr>
        <p:spPr>
          <a:xfrm>
            <a:off x="8730234" y="4871371"/>
            <a:ext cx="41376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7;p27">
            <a:extLst>
              <a:ext uri="{FF2B5EF4-FFF2-40B4-BE49-F238E27FC236}">
                <a16:creationId xmlns:a16="http://schemas.microsoft.com/office/drawing/2014/main" id="{22DEF70D-1D3B-99E4-384D-19195F8788DA}"/>
              </a:ext>
            </a:extLst>
          </p:cNvPr>
          <p:cNvSpPr txBox="1"/>
          <p:nvPr/>
        </p:nvSpPr>
        <p:spPr>
          <a:xfrm>
            <a:off x="4077730" y="81794"/>
            <a:ext cx="47945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Hasil dan </a:t>
            </a: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Pembahasan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4">
                <a:extLst>
                  <a:ext uri="{FF2B5EF4-FFF2-40B4-BE49-F238E27FC236}">
                    <a16:creationId xmlns:a16="http://schemas.microsoft.com/office/drawing/2014/main" id="{57EA0E3E-1401-07B9-D460-46DA6F350E4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3179" y="730194"/>
                <a:ext cx="7413913" cy="444759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solidFill>
                      <a:srgbClr val="002060"/>
                    </a:solidFill>
                    <a:latin typeface="Poppins SemiBold" panose="00000700000000000000" pitchFamily="2" charset="0"/>
                    <a:cs typeface="Poppins SemiBold" panose="00000700000000000000" pitchFamily="2" charset="0"/>
                  </a:rPr>
                  <a:t>1. </a:t>
                </a:r>
                <a:r>
                  <a:rPr lang="en-US" dirty="0" err="1">
                    <a:solidFill>
                      <a:srgbClr val="002060"/>
                    </a:solidFill>
                    <a:latin typeface="Poppins SemiBold" panose="00000700000000000000" pitchFamily="2" charset="0"/>
                    <a:cs typeface="Poppins SemiBold" panose="00000700000000000000" pitchFamily="2" charset="0"/>
                  </a:rPr>
                  <a:t>Pemetaan</a:t>
                </a:r>
                <a:r>
                  <a:rPr lang="en-US" dirty="0">
                    <a:solidFill>
                      <a:srgbClr val="002060"/>
                    </a:solidFill>
                    <a:latin typeface="Poppins SemiBold" panose="00000700000000000000" pitchFamily="2" charset="0"/>
                    <a:cs typeface="Poppins SemiBold" panose="000007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Poppins SemiBold" panose="00000700000000000000" pitchFamily="2" charset="0"/>
                      </a:rPr>
                      <m:t>(</m:t>
                    </m:r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Poppins SemiBold" panose="00000700000000000000" pitchFamily="2" charset="0"/>
                      </a:rPr>
                      <m:t>𝜶</m:t>
                    </m:r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Poppins SemiBold" panose="00000700000000000000" pitchFamily="2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Poppins SemiBold" panose="00000700000000000000" pitchFamily="2" charset="0"/>
                      </a:rPr>
                      <m:t>𝜷</m:t>
                    </m:r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Poppins SemiBold" panose="00000700000000000000" pitchFamily="2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Poppins SemiBold" panose="00000700000000000000" pitchFamily="2" charset="0"/>
                      </a:rPr>
                      <m:t>𝜸</m:t>
                    </m:r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Poppins SemiBold" panose="00000700000000000000" pitchFamily="2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  <a:latin typeface="Poppins SemiBold" panose="00000700000000000000" pitchFamily="2" charset="0"/>
                    <a:cs typeface="Poppins SemiBold" panose="00000700000000000000" pitchFamily="2" charset="0"/>
                  </a:rPr>
                  <a:t>-nonekspansif</a:t>
                </a:r>
              </a:p>
            </p:txBody>
          </p:sp>
        </mc:Choice>
        <mc:Fallback xmlns="">
          <p:sp>
            <p:nvSpPr>
              <p:cNvPr id="6" name="Text Placeholder 4">
                <a:extLst>
                  <a:ext uri="{FF2B5EF4-FFF2-40B4-BE49-F238E27FC236}">
                    <a16:creationId xmlns:a16="http://schemas.microsoft.com/office/drawing/2014/main" id="{57EA0E3E-1401-07B9-D460-46DA6F350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79" y="730194"/>
                <a:ext cx="7413913" cy="444759"/>
              </a:xfrm>
              <a:prstGeom prst="rect">
                <a:avLst/>
              </a:prstGeom>
              <a:blipFill>
                <a:blip r:embed="rId6"/>
                <a:stretch>
                  <a:fillRect l="-1233" t="-12329" b="-3287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oogle Shape;204;p28">
            <a:extLst>
              <a:ext uri="{FF2B5EF4-FFF2-40B4-BE49-F238E27FC236}">
                <a16:creationId xmlns:a16="http://schemas.microsoft.com/office/drawing/2014/main" id="{CF73C4FE-B326-E228-AB00-A73067300466}"/>
              </a:ext>
            </a:extLst>
          </p:cNvPr>
          <p:cNvGrpSpPr/>
          <p:nvPr/>
        </p:nvGrpSpPr>
        <p:grpSpPr>
          <a:xfrm>
            <a:off x="1" y="1200145"/>
            <a:ext cx="7620000" cy="396861"/>
            <a:chOff x="0" y="1294124"/>
            <a:chExt cx="5239394" cy="529148"/>
          </a:xfrm>
        </p:grpSpPr>
        <p:sp>
          <p:nvSpPr>
            <p:cNvPr id="8" name="Google Shape;205;p28">
              <a:extLst>
                <a:ext uri="{FF2B5EF4-FFF2-40B4-BE49-F238E27FC236}">
                  <a16:creationId xmlns:a16="http://schemas.microsoft.com/office/drawing/2014/main" id="{10727BCC-1682-73D0-FC6D-D9E4CD2F2A00}"/>
                </a:ext>
              </a:extLst>
            </p:cNvPr>
            <p:cNvSpPr/>
            <p:nvPr/>
          </p:nvSpPr>
          <p:spPr>
            <a:xfrm>
              <a:off x="0" y="1359772"/>
              <a:ext cx="5050263" cy="463500"/>
            </a:xfrm>
            <a:prstGeom prst="rect">
              <a:avLst/>
            </a:prstGeom>
            <a:gradFill>
              <a:gsLst>
                <a:gs pos="0">
                  <a:srgbClr val="F5F7FC">
                    <a:alpha val="0"/>
                  </a:srgbClr>
                </a:gs>
                <a:gs pos="73000">
                  <a:srgbClr val="F5AA2D"/>
                </a:gs>
                <a:gs pos="100000">
                  <a:srgbClr val="F5AA2D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Google Shape;206;p28">
                  <a:extLst>
                    <a:ext uri="{FF2B5EF4-FFF2-40B4-BE49-F238E27FC236}">
                      <a16:creationId xmlns:a16="http://schemas.microsoft.com/office/drawing/2014/main" id="{8F65831F-7D44-0B9B-C887-3415B55F9672}"/>
                    </a:ext>
                  </a:extLst>
                </p:cNvPr>
                <p:cNvSpPr txBox="1"/>
                <p:nvPr/>
              </p:nvSpPr>
              <p:spPr>
                <a:xfrm>
                  <a:off x="471193" y="1294124"/>
                  <a:ext cx="4768201" cy="5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68575" tIns="34275" rIns="68575" bIns="34275" anchor="b" anchorCtr="0">
                  <a:noAutofit/>
                </a:bodyPr>
                <a:lstStyle/>
                <a:p>
                  <a:pPr marL="0" marR="0" lvl="0" indent="0" algn="l" rtl="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lang="en-US" sz="1800" dirty="0">
                      <a:latin typeface="Poppins SemiBold" panose="00000700000000000000" pitchFamily="2" charset="0"/>
                      <a:cs typeface="Poppins SemiBold" panose="00000700000000000000" pitchFamily="2" charset="0"/>
                    </a:rPr>
                    <a:t>Definisi </a:t>
                  </a:r>
                  <a:r>
                    <a:rPr lang="en-US" sz="1800" dirty="0" err="1">
                      <a:latin typeface="Poppins SemiBold" panose="00000700000000000000" pitchFamily="2" charset="0"/>
                      <a:cs typeface="Poppins SemiBold" panose="00000700000000000000" pitchFamily="2" charset="0"/>
                    </a:rPr>
                    <a:t>Pemetaan</a:t>
                  </a:r>
                  <a:r>
                    <a:rPr lang="en-US" sz="1800" dirty="0">
                      <a:latin typeface="Poppins SemiBold" panose="00000700000000000000" pitchFamily="2" charset="0"/>
                      <a:cs typeface="Poppins SemiBold" panose="00000700000000000000" pitchFamily="2" charset="0"/>
                    </a:rPr>
                    <a:t>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Poppins SemiBold" panose="00000700000000000000" pitchFamily="2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Poppins SemiBold" panose="00000700000000000000" pitchFamily="2" charset="0"/>
                            </a:rPr>
                            <m:t>𝛼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Poppins SemiBold" panose="00000700000000000000" pitchFamily="2" charset="0"/>
                            </a:rPr>
                            <m:t>,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Poppins SemiBold" panose="00000700000000000000" pitchFamily="2" charset="0"/>
                            </a:rPr>
                            <m:t>𝛽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Poppins SemiBold" panose="00000700000000000000" pitchFamily="2" charset="0"/>
                            </a:rPr>
                            <m:t>,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Poppins SemiBold" panose="00000700000000000000" pitchFamily="2" charset="0"/>
                            </a:rPr>
                            <m:t>𝛾</m:t>
                          </m:r>
                        </m:e>
                      </m:d>
                    </m:oMath>
                  </a14:m>
                  <a:r>
                    <a:rPr lang="en-US" sz="1800" dirty="0">
                      <a:solidFill>
                        <a:schemeClr val="dk1"/>
                      </a:solidFill>
                      <a:latin typeface="Poppins SemiBold" panose="00000700000000000000" pitchFamily="2" charset="0"/>
                      <a:ea typeface="Poppins SemiBold"/>
                      <a:cs typeface="Poppins SemiBold" panose="00000700000000000000" pitchFamily="2" charset="0"/>
                      <a:sym typeface="Poppins SemiBold"/>
                    </a:rPr>
                    <a:t>-</a:t>
                  </a:r>
                  <a:r>
                    <a:rPr lang="en-US" sz="1800" dirty="0" err="1">
                      <a:solidFill>
                        <a:schemeClr val="dk1"/>
                      </a:solidFill>
                      <a:latin typeface="Poppins SemiBold" panose="00000700000000000000" pitchFamily="2" charset="0"/>
                      <a:ea typeface="Poppins SemiBold"/>
                      <a:cs typeface="Poppins SemiBold" panose="00000700000000000000" pitchFamily="2" charset="0"/>
                      <a:sym typeface="Poppins SemiBold"/>
                    </a:rPr>
                    <a:t>nonekspansif</a:t>
                  </a:r>
                  <a:r>
                    <a:rPr lang="en-US" sz="1800" dirty="0">
                      <a:solidFill>
                        <a:schemeClr val="dk1"/>
                      </a:solidFill>
                      <a:latin typeface="Poppins SemiBold" panose="00000700000000000000" pitchFamily="2" charset="0"/>
                      <a:ea typeface="Poppins SemiBold"/>
                      <a:cs typeface="Poppins SemiBold" panose="00000700000000000000" pitchFamily="2" charset="0"/>
                      <a:sym typeface="Poppins SemiBold"/>
                    </a:rPr>
                    <a:t> di Ruang </a:t>
                  </a:r>
                  <a14:m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Poppins SemiBold"/>
                          <a:cs typeface="Poppins SemiBold" panose="00000700000000000000" pitchFamily="2" charset="0"/>
                          <a:sym typeface="Poppins SemiBold"/>
                        </a:rPr>
                        <m:t>𝐶𝐴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Poppins SemiBold"/>
                              <a:cs typeface="Poppins SemiBold" panose="00000700000000000000" pitchFamily="2" charset="0"/>
                              <a:sym typeface="Poppins SemiBold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Poppins SemiBold"/>
                              <a:cs typeface="Poppins SemiBold" panose="00000700000000000000" pitchFamily="2" charset="0"/>
                              <a:sym typeface="Poppins SemiBold"/>
                            </a:rPr>
                            <m:t>𝑇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Poppins SemiBold"/>
                              <a:cs typeface="Poppins SemiBold" panose="00000700000000000000" pitchFamily="2" charset="0"/>
                              <a:sym typeface="Poppins SemiBold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18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Poppins SemiBold"/>
                              <a:cs typeface="Poppins SemiBold" panose="00000700000000000000" pitchFamily="2" charset="0"/>
                              <a:sym typeface="Poppins SemiBold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Poppins SemiBold"/>
                              <a:cs typeface="Poppins SemiBold" panose="00000700000000000000" pitchFamily="2" charset="0"/>
                              <a:sym typeface="Poppins SemiBold"/>
                            </a:rPr>
                            <m:t>0</m:t>
                          </m:r>
                        </m:e>
                      </m:d>
                    </m:oMath>
                  </a14:m>
                  <a:endParaRPr sz="1800" dirty="0">
                    <a:solidFill>
                      <a:schemeClr val="dk1"/>
                    </a:solidFill>
                    <a:latin typeface="Poppins SemiBold" panose="00000700000000000000" pitchFamily="2" charset="0"/>
                    <a:ea typeface="Poppins SemiBold"/>
                    <a:cs typeface="Poppins SemiBold" panose="00000700000000000000" pitchFamily="2" charset="0"/>
                    <a:sym typeface="Poppins SemiBold"/>
                  </a:endParaRPr>
                </a:p>
              </p:txBody>
            </p:sp>
          </mc:Choice>
          <mc:Fallback xmlns="">
            <p:sp>
              <p:nvSpPr>
                <p:cNvPr id="9" name="Google Shape;206;p28">
                  <a:extLst>
                    <a:ext uri="{FF2B5EF4-FFF2-40B4-BE49-F238E27FC236}">
                      <a16:creationId xmlns:a16="http://schemas.microsoft.com/office/drawing/2014/main" id="{8F65831F-7D44-0B9B-C887-3415B55F96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1193" y="1294124"/>
                  <a:ext cx="4768201" cy="528600"/>
                </a:xfrm>
                <a:prstGeom prst="rect">
                  <a:avLst/>
                </a:prstGeom>
                <a:blipFill>
                  <a:blip r:embed="rId7"/>
                  <a:stretch>
                    <a:fillRect l="-1054" b="-2461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D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8B4DC84-261D-8E7B-FB60-51E20A33623C}"/>
                  </a:ext>
                </a:extLst>
              </p:cNvPr>
              <p:cNvSpPr txBox="1"/>
              <p:nvPr/>
            </p:nvSpPr>
            <p:spPr>
              <a:xfrm>
                <a:off x="655986" y="1666810"/>
                <a:ext cx="7999126" cy="17989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SzPct val="100000"/>
                </a:pP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Diberikan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𝑋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adalah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𝐶𝐴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𝑇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𝑊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himpunan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bagian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tak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kosong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dari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𝑋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,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pemetaan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𝑓</m:t>
                    </m:r>
                    <m: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:</m:t>
                    </m:r>
                    <m: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𝑊</m:t>
                    </m:r>
                    <m: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→</m:t>
                    </m:r>
                    <m: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𝑊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disebut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sebagai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pemetaan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1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1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𝜶</m:t>
                        </m:r>
                        <m:r>
                          <a:rPr lang="en-US" sz="1800" b="1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r>
                          <a:rPr lang="en-US" sz="1800" b="1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𝜷</m:t>
                        </m:r>
                        <m:r>
                          <a:rPr lang="en-US" sz="1800" b="1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r>
                          <a:rPr lang="en-US" sz="1800" b="1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𝜸</m:t>
                        </m:r>
                      </m:e>
                    </m:d>
                  </m:oMath>
                </a14:m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-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nonekspansif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jika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terdapat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bilangan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real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𝛼</m:t>
                    </m:r>
                    <m: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  <m: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𝛽</m:t>
                    </m:r>
                    <m: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  <m: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𝛾</m:t>
                    </m:r>
                    <m: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∈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ℝ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+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dengan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𝛼</m:t>
                    </m:r>
                    <m: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+</m:t>
                    </m:r>
                    <m: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𝛾</m:t>
                    </m:r>
                    <m: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≤1,</m:t>
                    </m:r>
                    <m: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𝛾</m:t>
                    </m:r>
                    <m: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∈</m:t>
                    </m:r>
                    <m:d>
                      <m:dPr>
                        <m:begChr m:val="["/>
                        <m:ctrlPr>
                          <a:rPr lang="en-US" sz="180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sehingga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untuk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setiap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𝑥</m:t>
                    </m:r>
                    <m: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  <m: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𝑦</m:t>
                    </m:r>
                    <m: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∈</m:t>
                    </m:r>
                    <m: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𝑊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berlaku</a:t>
                </a:r>
              </a:p>
              <a:p>
                <a:pPr algn="just">
                  <a:buSzPct val="100000"/>
                </a:pPr>
                <a:endParaRPr lang="en-US" sz="18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algn="just"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𝑑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𝑇𝑥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,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𝑇𝑦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≤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𝛼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𝑑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𝑥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,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𝑦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+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𝛽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𝑑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𝑥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,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𝑇𝑥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+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𝛾</m:t>
                      </m:r>
                      <m:r>
                        <a:rPr lang="en-US" sz="1800" i="1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𝑑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𝑥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,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𝑇𝑦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.</m:t>
                      </m:r>
                    </m:oMath>
                  </m:oMathPara>
                </a14:m>
                <a:endParaRPr lang="en-US" sz="18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8B4DC84-261D-8E7B-FB60-51E20A3362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86" y="1666810"/>
                <a:ext cx="7999126" cy="1798954"/>
              </a:xfrm>
              <a:prstGeom prst="rect">
                <a:avLst/>
              </a:prstGeom>
              <a:blipFill>
                <a:blip r:embed="rId8"/>
                <a:stretch>
                  <a:fillRect l="-686" t="-1351" r="-610" b="-33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Google Shape;168;p26">
            <a:extLst>
              <a:ext uri="{FF2B5EF4-FFF2-40B4-BE49-F238E27FC236}">
                <a16:creationId xmlns:a16="http://schemas.microsoft.com/office/drawing/2014/main" id="{B9334A5E-C8AA-B924-5B62-69B8C70E708A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29111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1616B2EA-DFF8-BA97-B66C-940F4E353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descr="Icon&#10;&#10;Description automatically generated">
            <a:extLst>
              <a:ext uri="{FF2B5EF4-FFF2-40B4-BE49-F238E27FC236}">
                <a16:creationId xmlns:a16="http://schemas.microsoft.com/office/drawing/2014/main" id="{0A4B1D26-7ED1-8D10-0CB1-DCD1BBFBD81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>
            <a:extLst>
              <a:ext uri="{FF2B5EF4-FFF2-40B4-BE49-F238E27FC236}">
                <a16:creationId xmlns:a16="http://schemas.microsoft.com/office/drawing/2014/main" id="{68D50C96-DDAB-087F-1A67-3A852C11FE4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>
            <a:extLst>
              <a:ext uri="{FF2B5EF4-FFF2-40B4-BE49-F238E27FC236}">
                <a16:creationId xmlns:a16="http://schemas.microsoft.com/office/drawing/2014/main" id="{13EDC33B-CEDE-FBB5-6F6C-99E40B87938D}"/>
              </a:ext>
            </a:extLst>
          </p:cNvPr>
          <p:cNvSpPr/>
          <p:nvPr/>
        </p:nvSpPr>
        <p:spPr>
          <a:xfrm>
            <a:off x="8886389" y="256207"/>
            <a:ext cx="257700" cy="31680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7">
            <a:extLst>
              <a:ext uri="{FF2B5EF4-FFF2-40B4-BE49-F238E27FC236}">
                <a16:creationId xmlns:a16="http://schemas.microsoft.com/office/drawing/2014/main" id="{2900AA49-F15A-E11D-80B5-C27F4085413D}"/>
              </a:ext>
            </a:extLst>
          </p:cNvPr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>
            <a:extLst>
              <a:ext uri="{FF2B5EF4-FFF2-40B4-BE49-F238E27FC236}">
                <a16:creationId xmlns:a16="http://schemas.microsoft.com/office/drawing/2014/main" id="{FAD7CE4F-FD92-DC58-7A07-71CFFC2B103A}"/>
              </a:ext>
            </a:extLst>
          </p:cNvPr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>
            <a:extLst>
              <a:ext uri="{FF2B5EF4-FFF2-40B4-BE49-F238E27FC236}">
                <a16:creationId xmlns:a16="http://schemas.microsoft.com/office/drawing/2014/main" id="{E4A3AFE8-80A1-DA9C-7DC6-7A6FD997E291}"/>
              </a:ext>
            </a:extLst>
          </p:cNvPr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>
            <a:extLst>
              <a:ext uri="{FF2B5EF4-FFF2-40B4-BE49-F238E27FC236}">
                <a16:creationId xmlns:a16="http://schemas.microsoft.com/office/drawing/2014/main" id="{6DDF9770-0547-A308-5908-C6A4BD2579AD}"/>
              </a:ext>
            </a:extLst>
          </p:cNvPr>
          <p:cNvSpPr txBox="1"/>
          <p:nvPr/>
        </p:nvSpPr>
        <p:spPr>
          <a:xfrm>
            <a:off x="8730234" y="4871371"/>
            <a:ext cx="41376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5A5A5"/>
                </a:solidFill>
              </a:rPr>
              <a:t>23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7;p27">
            <a:extLst>
              <a:ext uri="{FF2B5EF4-FFF2-40B4-BE49-F238E27FC236}">
                <a16:creationId xmlns:a16="http://schemas.microsoft.com/office/drawing/2014/main" id="{C2716D1C-D5E2-B454-7419-F5C418075422}"/>
              </a:ext>
            </a:extLst>
          </p:cNvPr>
          <p:cNvSpPr txBox="1"/>
          <p:nvPr/>
        </p:nvSpPr>
        <p:spPr>
          <a:xfrm>
            <a:off x="4077730" y="81794"/>
            <a:ext cx="47945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Hasil dan </a:t>
            </a: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Pembahasan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4">
                <a:extLst>
                  <a:ext uri="{FF2B5EF4-FFF2-40B4-BE49-F238E27FC236}">
                    <a16:creationId xmlns:a16="http://schemas.microsoft.com/office/drawing/2014/main" id="{EB70ECFE-0E72-6909-9E24-72568CE143F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3179" y="730194"/>
                <a:ext cx="7413913" cy="444759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solidFill>
                      <a:srgbClr val="002060"/>
                    </a:solidFill>
                    <a:latin typeface="Poppins SemiBold" panose="00000700000000000000" pitchFamily="2" charset="0"/>
                    <a:cs typeface="Poppins SemiBold" panose="00000700000000000000" pitchFamily="2" charset="0"/>
                  </a:rPr>
                  <a:t>1. </a:t>
                </a:r>
                <a:r>
                  <a:rPr lang="en-US" dirty="0" err="1">
                    <a:solidFill>
                      <a:srgbClr val="002060"/>
                    </a:solidFill>
                    <a:latin typeface="Poppins SemiBold" panose="00000700000000000000" pitchFamily="2" charset="0"/>
                    <a:cs typeface="Poppins SemiBold" panose="00000700000000000000" pitchFamily="2" charset="0"/>
                  </a:rPr>
                  <a:t>Pemetaan</a:t>
                </a:r>
                <a:r>
                  <a:rPr lang="en-US" dirty="0">
                    <a:solidFill>
                      <a:srgbClr val="002060"/>
                    </a:solidFill>
                    <a:latin typeface="Poppins SemiBold" panose="00000700000000000000" pitchFamily="2" charset="0"/>
                    <a:cs typeface="Poppins SemiBold" panose="000007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Poppins SemiBold" panose="00000700000000000000" pitchFamily="2" charset="0"/>
                      </a:rPr>
                      <m:t>(</m:t>
                    </m:r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Poppins SemiBold" panose="00000700000000000000" pitchFamily="2" charset="0"/>
                      </a:rPr>
                      <m:t>𝜶</m:t>
                    </m:r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Poppins SemiBold" panose="00000700000000000000" pitchFamily="2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Poppins SemiBold" panose="00000700000000000000" pitchFamily="2" charset="0"/>
                      </a:rPr>
                      <m:t>𝜷</m:t>
                    </m:r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Poppins SemiBold" panose="00000700000000000000" pitchFamily="2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Poppins SemiBold" panose="00000700000000000000" pitchFamily="2" charset="0"/>
                      </a:rPr>
                      <m:t>𝜸</m:t>
                    </m:r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Poppins SemiBold" panose="00000700000000000000" pitchFamily="2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  <a:latin typeface="Poppins SemiBold" panose="00000700000000000000" pitchFamily="2" charset="0"/>
                    <a:cs typeface="Poppins SemiBold" panose="00000700000000000000" pitchFamily="2" charset="0"/>
                  </a:rPr>
                  <a:t>-nonekspansif</a:t>
                </a:r>
              </a:p>
            </p:txBody>
          </p:sp>
        </mc:Choice>
        <mc:Fallback xmlns="">
          <p:sp>
            <p:nvSpPr>
              <p:cNvPr id="6" name="Text Placeholder 4">
                <a:extLst>
                  <a:ext uri="{FF2B5EF4-FFF2-40B4-BE49-F238E27FC236}">
                    <a16:creationId xmlns:a16="http://schemas.microsoft.com/office/drawing/2014/main" id="{EB70ECFE-0E72-6909-9E24-72568CE14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79" y="730194"/>
                <a:ext cx="7413913" cy="444759"/>
              </a:xfrm>
              <a:prstGeom prst="rect">
                <a:avLst/>
              </a:prstGeom>
              <a:blipFill>
                <a:blip r:embed="rId6"/>
                <a:stretch>
                  <a:fillRect l="-1233" t="-12329" b="-3287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oogle Shape;204;p28">
            <a:extLst>
              <a:ext uri="{FF2B5EF4-FFF2-40B4-BE49-F238E27FC236}">
                <a16:creationId xmlns:a16="http://schemas.microsoft.com/office/drawing/2014/main" id="{35D58855-95B9-541B-F1A6-43F9CBC0B62F}"/>
              </a:ext>
            </a:extLst>
          </p:cNvPr>
          <p:cNvGrpSpPr/>
          <p:nvPr/>
        </p:nvGrpSpPr>
        <p:grpSpPr>
          <a:xfrm>
            <a:off x="1" y="1200145"/>
            <a:ext cx="7620000" cy="396861"/>
            <a:chOff x="0" y="1294124"/>
            <a:chExt cx="5239394" cy="529148"/>
          </a:xfrm>
        </p:grpSpPr>
        <p:sp>
          <p:nvSpPr>
            <p:cNvPr id="8" name="Google Shape;205;p28">
              <a:extLst>
                <a:ext uri="{FF2B5EF4-FFF2-40B4-BE49-F238E27FC236}">
                  <a16:creationId xmlns:a16="http://schemas.microsoft.com/office/drawing/2014/main" id="{AE849E5F-EDBF-6F6B-E41B-5484659E7B69}"/>
                </a:ext>
              </a:extLst>
            </p:cNvPr>
            <p:cNvSpPr/>
            <p:nvPr/>
          </p:nvSpPr>
          <p:spPr>
            <a:xfrm>
              <a:off x="0" y="1359772"/>
              <a:ext cx="5050263" cy="463500"/>
            </a:xfrm>
            <a:prstGeom prst="rect">
              <a:avLst/>
            </a:prstGeom>
            <a:gradFill>
              <a:gsLst>
                <a:gs pos="0">
                  <a:srgbClr val="F5F7FC">
                    <a:alpha val="0"/>
                  </a:srgbClr>
                </a:gs>
                <a:gs pos="73000">
                  <a:srgbClr val="F5AA2D"/>
                </a:gs>
                <a:gs pos="100000">
                  <a:srgbClr val="F5AA2D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206;p28">
              <a:extLst>
                <a:ext uri="{FF2B5EF4-FFF2-40B4-BE49-F238E27FC236}">
                  <a16:creationId xmlns:a16="http://schemas.microsoft.com/office/drawing/2014/main" id="{A16C282B-FFFA-4B43-C3FE-D8B2AFC2E1AF}"/>
                </a:ext>
              </a:extLst>
            </p:cNvPr>
            <p:cNvSpPr txBox="1"/>
            <p:nvPr/>
          </p:nvSpPr>
          <p:spPr>
            <a:xfrm>
              <a:off x="471193" y="1294124"/>
              <a:ext cx="4768201" cy="5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b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dirty="0" err="1">
                  <a:latin typeface="Poppins SemiBold" panose="00000700000000000000" pitchFamily="2" charset="0"/>
                  <a:cs typeface="Poppins SemiBold" panose="00000700000000000000" pitchFamily="2" charset="0"/>
                </a:rPr>
                <a:t>Contoh</a:t>
              </a:r>
              <a:r>
                <a:rPr lang="en-US" sz="18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 Ruang dan </a:t>
              </a:r>
              <a:r>
                <a:rPr lang="en-US" sz="1800" dirty="0" err="1">
                  <a:latin typeface="Poppins SemiBold" panose="00000700000000000000" pitchFamily="2" charset="0"/>
                  <a:cs typeface="Poppins SemiBold" panose="00000700000000000000" pitchFamily="2" charset="0"/>
                </a:rPr>
                <a:t>Pemetaan</a:t>
              </a:r>
              <a:endParaRPr sz="1800" dirty="0">
                <a:solidFill>
                  <a:schemeClr val="dk1"/>
                </a:solidFill>
                <a:latin typeface="Poppins SemiBold" panose="00000700000000000000" pitchFamily="2" charset="0"/>
                <a:ea typeface="Poppins SemiBold"/>
                <a:cs typeface="Poppins SemiBold" panose="00000700000000000000" pitchFamily="2" charset="0"/>
                <a:sym typeface="Poppins SemiBold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FD13EFB-8212-0A17-8F4A-41D5EC14842E}"/>
                  </a:ext>
                </a:extLst>
              </p:cNvPr>
              <p:cNvSpPr txBox="1"/>
              <p:nvPr/>
            </p:nvSpPr>
            <p:spPr>
              <a:xfrm>
                <a:off x="655986" y="1666810"/>
                <a:ext cx="7999126" cy="31604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SzPct val="100000"/>
                </a:pPr>
                <a:r>
                  <a:rPr lang="en-US" sz="1750" dirty="0">
                    <a:latin typeface="Poppins" panose="00000500000000000000" pitchFamily="2" charset="0"/>
                    <a:cs typeface="Poppins" panose="00000500000000000000" pitchFamily="2" charset="0"/>
                  </a:rPr>
                  <a:t>Contoh 1. </a:t>
                </a:r>
                <a:r>
                  <a:rPr lang="en-US" sz="17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Diberikan</a:t>
                </a:r>
                <a:r>
                  <a:rPr lang="en-US" sz="17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7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𝑋</m:t>
                    </m:r>
                    <m:r>
                      <a:rPr lang="en-US" sz="17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sepChr m:val="∣"/>
                        <m:ctrlP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175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750" b="0" i="1" smtClean="0">
                                    <a:latin typeface="Cambria Math" panose="02040503050406030204" pitchFamily="18" charset="0"/>
                                    <a:cs typeface="Poppins" panose="00000500000000000000" pitchFamily="2" charset="0"/>
                                  </a:rPr>
                                </m:ctrlPr>
                              </m:sSubPr>
                              <m:e>
                                <m:r>
                                  <a:rPr lang="en-US" sz="1750" b="0" i="1" smtClean="0">
                                    <a:latin typeface="Cambria Math" panose="02040503050406030204" pitchFamily="18" charset="0"/>
                                    <a:cs typeface="Poppins" panose="00000500000000000000" pitchFamily="2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750" b="0" i="1" smtClean="0">
                                    <a:latin typeface="Cambria Math" panose="02040503050406030204" pitchFamily="18" charset="0"/>
                                    <a:cs typeface="Poppins" panose="00000500000000000000" pitchFamily="2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75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750" b="0" i="1" smtClean="0">
                                    <a:latin typeface="Cambria Math" panose="02040503050406030204" pitchFamily="18" charset="0"/>
                                    <a:cs typeface="Poppins" panose="00000500000000000000" pitchFamily="2" charset="0"/>
                                  </a:rPr>
                                </m:ctrlPr>
                              </m:sSubPr>
                              <m:e>
                                <m:r>
                                  <a:rPr lang="en-US" sz="1750" b="0" i="1" smtClean="0">
                                    <a:latin typeface="Cambria Math" panose="02040503050406030204" pitchFamily="18" charset="0"/>
                                    <a:cs typeface="Poppins" panose="00000500000000000000" pitchFamily="2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750" b="0" i="1" smtClean="0">
                                    <a:latin typeface="Cambria Math" panose="02040503050406030204" pitchFamily="18" charset="0"/>
                                    <a:cs typeface="Poppins" panose="00000500000000000000" pitchFamily="2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75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,…</m:t>
                            </m:r>
                          </m:e>
                        </m:d>
                      </m:e>
                      <m:e>
                        <m:sSub>
                          <m:sSubPr>
                            <m:ctrlPr>
                              <a:rPr lang="en-US" sz="175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75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75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∈</m:t>
                        </m:r>
                        <m: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ℝ</m:t>
                        </m:r>
                        <m: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 </m:t>
                        </m:r>
                        <m:nary>
                          <m:naryPr>
                            <m:chr m:val="∑"/>
                            <m:ctrlPr>
                              <a:rPr lang="en-US" sz="175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175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𝑖</m:t>
                            </m:r>
                            <m:r>
                              <a:rPr lang="en-US" sz="175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75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∞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1750" b="0" i="1" smtClean="0">
                                    <a:latin typeface="Cambria Math" panose="02040503050406030204" pitchFamily="18" charset="0"/>
                                    <a:cs typeface="Poppins" panose="00000500000000000000" pitchFamily="2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750" b="0" i="1" smtClean="0">
                                        <a:latin typeface="Cambria Math" panose="02040503050406030204" pitchFamily="18" charset="0"/>
                                        <a:cs typeface="Poppins" panose="00000500000000000000" pitchFamily="2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750" b="0" i="1" smtClean="0">
                                            <a:latin typeface="Cambria Math" panose="02040503050406030204" pitchFamily="18" charset="0"/>
                                            <a:cs typeface="Poppins" panose="00000500000000000000" pitchFamily="2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750" b="0" i="1" smtClean="0">
                                            <a:latin typeface="Cambria Math" panose="02040503050406030204" pitchFamily="18" charset="0"/>
                                            <a:cs typeface="Poppins" panose="00000500000000000000" pitchFamily="2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750" b="0" i="1" smtClean="0">
                                            <a:latin typeface="Cambria Math" panose="02040503050406030204" pitchFamily="18" charset="0"/>
                                            <a:cs typeface="Poppins" panose="00000500000000000000" pitchFamily="2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1750" b="0" i="1" smtClean="0">
                                    <a:latin typeface="Cambria Math" panose="02040503050406030204" pitchFamily="18" charset="0"/>
                                    <a:cs typeface="Poppins" panose="00000500000000000000" pitchFamily="2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US" sz="175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&lt;∞</m:t>
                            </m:r>
                          </m:e>
                        </m:nary>
                      </m:e>
                    </m:d>
                  </m:oMath>
                </a14:m>
                <a:r>
                  <a:rPr lang="en-US" sz="1750" dirty="0">
                    <a:latin typeface="Poppins" panose="00000500000000000000" pitchFamily="2" charset="0"/>
                    <a:cs typeface="Poppins" panose="00000500000000000000" pitchFamily="2" charset="0"/>
                  </a:rPr>
                  <a:t> dan </a:t>
                </a:r>
                <a:r>
                  <a:rPr lang="en-US" sz="17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untuk</a:t>
                </a:r>
                <a:r>
                  <a:rPr lang="en-US" sz="17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7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setiap</a:t>
                </a:r>
                <a:r>
                  <a:rPr lang="en-US" sz="17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7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𝑥</m:t>
                    </m:r>
                    <m:r>
                      <a:rPr lang="en-US" sz="17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=</m:t>
                    </m:r>
                    <m:d>
                      <m:dPr>
                        <m:ctrlP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75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75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75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75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75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75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75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75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75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,…</m:t>
                        </m:r>
                      </m:e>
                    </m:d>
                    <m:r>
                      <a:rPr lang="en-US" sz="17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  <m:r>
                      <a:rPr lang="en-US" sz="17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𝑦</m:t>
                    </m:r>
                    <m:r>
                      <a:rPr lang="en-US" sz="17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=</m:t>
                    </m:r>
                    <m:d>
                      <m:dPr>
                        <m:ctrlP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75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75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75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75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75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75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75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75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75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,…</m:t>
                        </m:r>
                      </m:e>
                    </m:d>
                    <m:r>
                      <a:rPr lang="en-US" sz="17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∈</m:t>
                    </m:r>
                    <m:r>
                      <a:rPr lang="en-US" sz="17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𝑋</m:t>
                    </m:r>
                  </m:oMath>
                </a14:m>
                <a:r>
                  <a:rPr lang="en-US" sz="17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7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didefinisikan</a:t>
                </a:r>
                <a:r>
                  <a:rPr lang="en-US" sz="17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7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metrik</a:t>
                </a:r>
                <a:r>
                  <a:rPr lang="en-US" sz="17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</a:p>
              <a:p>
                <a:pPr algn="just"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5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𝑑</m:t>
                      </m:r>
                      <m:d>
                        <m:dPr>
                          <m:ctrlPr>
                            <a:rPr lang="en-US" sz="175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</m:ctrlPr>
                        </m:dPr>
                        <m:e>
                          <m:r>
                            <a:rPr lang="en-US" sz="175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𝑥</m:t>
                          </m:r>
                          <m:r>
                            <a:rPr lang="en-US" sz="175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,</m:t>
                          </m:r>
                          <m:r>
                            <a:rPr lang="en-US" sz="175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𝑦</m:t>
                          </m:r>
                        </m:e>
                      </m:d>
                      <m:r>
                        <a:rPr lang="en-US" sz="175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=</m:t>
                      </m:r>
                      <m:sSup>
                        <m:sSupPr>
                          <m:ctrlPr>
                            <a:rPr lang="en-US" sz="175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75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75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75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750" b="0" i="1" smtClean="0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750" b="0" i="1" smtClean="0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750" b="0" i="1" smtClean="0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175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750" b="0" i="1" smtClean="0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750" b="0" i="1" smtClean="0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1750" b="0" i="1" smtClean="0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175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175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75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sz="1750" b="0" i="1" smtClean="0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750" b="0" i="1" smtClean="0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750" b="0" i="1" smtClean="0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sz="1750" b="0" i="1" smtClean="0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3</m:t>
                                          </m:r>
                                        </m:sup>
                                      </m:sSubSup>
                                      <m:r>
                                        <a:rPr lang="en-US" sz="175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750" b="0" i="1" smtClean="0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750" b="0" i="1" smtClean="0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750" b="0" i="1" smtClean="0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sz="175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1750" b="0" i="1" smtClean="0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750" b="0" i="1" smtClean="0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1750" b="0" i="1" smtClean="0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sz="1750" b="0" i="1" smtClean="0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3</m:t>
                                          </m:r>
                                        </m:sup>
                                      </m:sSubSup>
                                      <m:r>
                                        <a:rPr lang="en-US" sz="175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sz="1750" b="0" i="1" smtClean="0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750" b="0" i="1" smtClean="0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1750" b="0" i="1" smtClean="0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175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sz="175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175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𝑖</m:t>
                                  </m:r>
                                  <m:r>
                                    <a:rPr lang="en-US" sz="175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=3</m:t>
                                  </m:r>
                                </m:sub>
                                <m:sup>
                                  <m:r>
                                    <a:rPr lang="en-US" sz="175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∞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175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1750" b="0" i="1" smtClean="0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750" b="0" i="1" smtClean="0">
                                                  <a:latin typeface="Cambria Math" panose="02040503050406030204" pitchFamily="18" charset="0"/>
                                                  <a:cs typeface="Poppins" panose="00000500000000000000" pitchFamily="2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750" b="0" i="1" smtClean="0">
                                                  <a:latin typeface="Cambria Math" panose="02040503050406030204" pitchFamily="18" charset="0"/>
                                                  <a:cs typeface="Poppins" panose="00000500000000000000" pitchFamily="2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750" b="0" i="1" smtClean="0">
                                                  <a:latin typeface="Cambria Math" panose="02040503050406030204" pitchFamily="18" charset="0"/>
                                                  <a:cs typeface="Poppins" panose="00000500000000000000" pitchFamily="2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750" b="0" i="1" smtClean="0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750" b="0" i="1" smtClean="0">
                                                  <a:latin typeface="Cambria Math" panose="02040503050406030204" pitchFamily="18" charset="0"/>
                                                  <a:cs typeface="Poppins" panose="00000500000000000000" pitchFamily="2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750" b="0" i="1" smtClean="0">
                                                  <a:latin typeface="Cambria Math" panose="02040503050406030204" pitchFamily="18" charset="0"/>
                                                  <a:cs typeface="Poppins" panose="00000500000000000000" pitchFamily="2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750" b="0" i="1" smtClean="0">
                                                  <a:latin typeface="Cambria Math" panose="02040503050406030204" pitchFamily="18" charset="0"/>
                                                  <a:cs typeface="Poppins" panose="00000500000000000000" pitchFamily="2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75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sz="175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</m:ctrlPr>
                            </m:fPr>
                            <m:num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en-US" sz="175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.</m:t>
                      </m:r>
                    </m:oMath>
                  </m:oMathPara>
                </a14:m>
                <a:endParaRPr lang="en-US" sz="175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algn="just">
                  <a:buSzPct val="100000"/>
                </a:pPr>
                <a:r>
                  <a:rPr lang="en-US" sz="1750" dirty="0">
                    <a:latin typeface="Poppins" panose="00000500000000000000" pitchFamily="2" charset="0"/>
                    <a:cs typeface="Poppins" panose="00000500000000000000" pitchFamily="2" charset="0"/>
                  </a:rPr>
                  <a:t>Jalur </a:t>
                </a:r>
                <a:r>
                  <a:rPr lang="en-US" sz="175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geodesik</a:t>
                </a:r>
                <a:r>
                  <a:rPr lang="en-US" sz="1750" dirty="0">
                    <a:latin typeface="Poppins" panose="00000500000000000000" pitchFamily="2" charset="0"/>
                    <a:cs typeface="Poppins" panose="00000500000000000000" pitchFamily="2" charset="0"/>
                  </a:rPr>
                  <a:t> yang </a:t>
                </a:r>
                <a:r>
                  <a:rPr lang="en-US" sz="17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menghubungkan</a:t>
                </a:r>
                <a:r>
                  <a:rPr lang="en-US" sz="17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7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𝑤</m:t>
                    </m:r>
                    <m:r>
                      <a:rPr lang="en-US" sz="17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=</m:t>
                    </m:r>
                    <m:d>
                      <m:dPr>
                        <m:ctrlP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75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75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75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75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75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75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,…</m:t>
                        </m:r>
                      </m:e>
                    </m:d>
                  </m:oMath>
                </a14:m>
                <a:r>
                  <a:rPr lang="en-US" sz="1750" dirty="0">
                    <a:latin typeface="Poppins" panose="00000500000000000000" pitchFamily="2" charset="0"/>
                    <a:cs typeface="Poppins" panose="00000500000000000000" pitchFamily="2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en-US" sz="17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𝑧</m:t>
                    </m:r>
                    <m:r>
                      <a:rPr lang="en-US" sz="17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=(</m:t>
                    </m:r>
                    <m:sSub>
                      <m:sSubPr>
                        <m:ctrlP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𝑧</m:t>
                        </m:r>
                      </m:e>
                      <m:sub>
                        <m: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1</m:t>
                        </m:r>
                      </m:sub>
                    </m:sSub>
                    <m:r>
                      <a:rPr lang="en-US" sz="17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  <m:sSub>
                      <m:sSubPr>
                        <m:ctrlP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𝑧</m:t>
                        </m:r>
                      </m:e>
                      <m:sub>
                        <m: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2</m:t>
                        </m:r>
                      </m:sub>
                    </m:sSub>
                    <m:r>
                      <a:rPr lang="en-US" sz="17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,…)</m:t>
                    </m:r>
                  </m:oMath>
                </a14:m>
                <a:r>
                  <a:rPr lang="en-US" sz="1750" dirty="0">
                    <a:latin typeface="Poppins" panose="00000500000000000000" pitchFamily="2" charset="0"/>
                    <a:cs typeface="Poppins" panose="00000500000000000000" pitchFamily="2" charset="0"/>
                  </a:rPr>
                  <a:t>, </a:t>
                </a:r>
                <a:r>
                  <a:rPr lang="en-US" sz="17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yaitu</a:t>
                </a:r>
                <a:r>
                  <a:rPr lang="en-US" sz="17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7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𝛾</m:t>
                    </m:r>
                    <m:r>
                      <a:rPr lang="en-US" sz="17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:</m:t>
                    </m:r>
                    <m:d>
                      <m:dPr>
                        <m:begChr m:val="["/>
                        <m:endChr m:val="]"/>
                        <m:ctrlP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0,1</m:t>
                        </m:r>
                      </m:e>
                    </m:d>
                    <m:r>
                      <a:rPr lang="en-US" sz="17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→</m:t>
                    </m:r>
                    <m:r>
                      <a:rPr lang="en-US" sz="17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𝑋</m:t>
                    </m:r>
                  </m:oMath>
                </a14:m>
                <a:r>
                  <a:rPr lang="en-US" sz="17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7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dengan</a:t>
                </a:r>
                <a:r>
                  <a:rPr lang="en-US" sz="17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7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𝛾</m:t>
                    </m:r>
                    <m:d>
                      <m:dPr>
                        <m:ctrlP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𝑡</m:t>
                        </m:r>
                      </m:e>
                    </m:d>
                    <m:r>
                      <a:rPr lang="en-US" sz="17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≔</m:t>
                    </m:r>
                    <m:d>
                      <m:dPr>
                        <m:ctrlP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1−</m:t>
                        </m:r>
                        <m: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𝑡</m:t>
                        </m:r>
                      </m:e>
                    </m:d>
                    <m:r>
                      <a:rPr lang="en-US" sz="17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𝑤</m:t>
                    </m:r>
                    <m:r>
                      <a:rPr lang="en-US" sz="17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⊕</m:t>
                    </m:r>
                    <m:r>
                      <a:rPr lang="en-US" sz="17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𝑡𝑧</m:t>
                    </m:r>
                  </m:oMath>
                </a14:m>
                <a:r>
                  <a:rPr lang="en-US" sz="17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7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sebagai</a:t>
                </a:r>
                <a:r>
                  <a:rPr lang="en-US" sz="17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</a:p>
              <a:p>
                <a:pPr algn="just"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5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𝛾</m:t>
                      </m:r>
                      <m:d>
                        <m:dPr>
                          <m:ctrlPr>
                            <a:rPr lang="en-US" sz="175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</m:ctrlPr>
                        </m:dPr>
                        <m:e>
                          <m:r>
                            <a:rPr lang="en-US" sz="175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𝑡</m:t>
                          </m:r>
                        </m:e>
                      </m:d>
                      <m:r>
                        <a:rPr lang="en-US" sz="175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=</m:t>
                      </m:r>
                      <m:d>
                        <m:dPr>
                          <m:ctrlPr>
                            <a:rPr lang="en-US" sz="175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75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75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</m:ctrlPr>
                            </m:dPr>
                            <m:e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175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75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75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75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5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175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175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</m:ctrlPr>
                            </m:dPr>
                            <m:e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1−</m:t>
                              </m:r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𝑡</m:t>
                              </m:r>
                            </m:e>
                          </m:d>
                          <m:d>
                            <m:dPr>
                              <m:ctrlPr>
                                <a:rPr lang="en-US" sz="175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175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75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75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75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75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75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75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75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−</m:t>
                          </m:r>
                          <m:r>
                            <a:rPr lang="en-US" sz="175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𝑡</m:t>
                          </m:r>
                          <m:d>
                            <m:dPr>
                              <m:ctrlPr>
                                <a:rPr lang="en-US" sz="175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175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75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75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75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3</m:t>
                                  </m:r>
                                </m:sup>
                              </m:sSubSup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75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75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75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75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75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3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75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</m:ctrlPr>
                            </m:dPr>
                            <m:e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175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75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4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75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</m:ctrlPr>
                            </m:dPr>
                            <m:e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175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,…</m:t>
                          </m:r>
                        </m:e>
                      </m:d>
                      <m:r>
                        <a:rPr lang="en-US" sz="175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,</m:t>
                      </m:r>
                    </m:oMath>
                  </m:oMathPara>
                </a14:m>
                <a:endParaRPr lang="en-US" sz="175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algn="just">
                  <a:buSzPct val="100000"/>
                </a:pPr>
                <a:r>
                  <a:rPr lang="en-US" sz="17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dengan</a:t>
                </a:r>
                <a:r>
                  <a:rPr lang="en-US" sz="17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𝛼</m:t>
                        </m:r>
                      </m:e>
                      <m:sub>
                        <m: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𝑡</m:t>
                        </m:r>
                      </m:e>
                    </m:d>
                    <m:r>
                      <a:rPr lang="en-US" sz="17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=</m:t>
                    </m:r>
                    <m:d>
                      <m:dPr>
                        <m:ctrlP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1−</m:t>
                        </m:r>
                        <m: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𝑡</m:t>
                        </m:r>
                      </m:e>
                    </m:d>
                    <m:sSub>
                      <m:sSubPr>
                        <m:ctrlP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𝑤</m:t>
                        </m:r>
                      </m:e>
                      <m:sub>
                        <m: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𝑖</m:t>
                        </m:r>
                      </m:sub>
                    </m:sSub>
                    <m:r>
                      <a:rPr lang="en-US" sz="17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+</m:t>
                    </m:r>
                    <m:r>
                      <a:rPr lang="en-US" sz="17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𝑡</m:t>
                    </m:r>
                    <m:sSub>
                      <m:sSubPr>
                        <m:ctrlP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𝑧</m:t>
                        </m:r>
                      </m:e>
                      <m:sub>
                        <m: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7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7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untuk</a:t>
                </a:r>
                <a:r>
                  <a:rPr lang="en-US" sz="17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7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𝑖</m:t>
                    </m:r>
                    <m:r>
                      <a:rPr lang="en-US" sz="17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=1,3,4,5,….</m:t>
                    </m:r>
                  </m:oMath>
                </a14:m>
                <a:endParaRPr lang="en-US" sz="1750" b="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algn="just">
                  <a:buSzPct val="100000"/>
                </a:pPr>
                <a:r>
                  <a:rPr lang="en-US" sz="1750" dirty="0">
                    <a:latin typeface="Poppins" panose="00000500000000000000" pitchFamily="2" charset="0"/>
                    <a:cs typeface="Poppins" panose="00000500000000000000" pitchFamily="2" charset="0"/>
                  </a:rPr>
                  <a:t>Ruang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𝑋</m:t>
                        </m:r>
                        <m: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sz="17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7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merupakan</a:t>
                </a:r>
                <a:r>
                  <a:rPr lang="en-US" sz="17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75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US" sz="175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750" b="1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𝑪𝑨</m:t>
                    </m:r>
                    <m:sSub>
                      <m:sSubPr>
                        <m:ctrlPr>
                          <a:rPr lang="en-US" sz="175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75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𝑻</m:t>
                        </m:r>
                      </m:e>
                      <m:sub>
                        <m:r>
                          <a:rPr lang="en-US" sz="175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𝒑</m:t>
                        </m:r>
                      </m:sub>
                    </m:sSub>
                    <m:d>
                      <m:dPr>
                        <m:ctrlPr>
                          <a:rPr lang="en-US" sz="175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75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𝟎</m:t>
                        </m:r>
                      </m:e>
                    </m:d>
                    <m:r>
                      <a:rPr lang="en-US" sz="1750" b="0" i="0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</m:oMath>
                </a14:m>
                <a:r>
                  <a:rPr lang="en-US" sz="17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7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tetapi</a:t>
                </a:r>
                <a:r>
                  <a:rPr lang="en-US" sz="17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75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bukan</a:t>
                </a:r>
                <a:r>
                  <a:rPr lang="en-US" sz="175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75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US" sz="175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Banach </a:t>
                </a:r>
                <a:r>
                  <a:rPr lang="en-US" sz="1750" dirty="0">
                    <a:latin typeface="Poppins" panose="00000500000000000000" pitchFamily="2" charset="0"/>
                    <a:cs typeface="Poppins" panose="00000500000000000000" pitchFamily="2" charset="0"/>
                  </a:rPr>
                  <a:t>dan </a:t>
                </a:r>
                <a:r>
                  <a:rPr lang="en-US" sz="175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bukan</a:t>
                </a:r>
                <a:r>
                  <a:rPr lang="en-US" sz="175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75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US" sz="175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750" b="1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𝑪𝑨𝑻</m:t>
                    </m:r>
                    <m:d>
                      <m:dPr>
                        <m:ctrlPr>
                          <a:rPr lang="en-US" sz="175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75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𝟎</m:t>
                        </m:r>
                      </m:e>
                    </m:d>
                  </m:oMath>
                </a14:m>
                <a:r>
                  <a:rPr lang="en-US" sz="1750" dirty="0">
                    <a:latin typeface="Poppins" panose="00000500000000000000" pitchFamily="2" charset="0"/>
                    <a:cs typeface="Poppins" panose="00000500000000000000" pitchFamily="2" charset="0"/>
                  </a:rPr>
                  <a:t>.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FD13EFB-8212-0A17-8F4A-41D5EC148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86" y="1666810"/>
                <a:ext cx="7999126" cy="3160417"/>
              </a:xfrm>
              <a:prstGeom prst="rect">
                <a:avLst/>
              </a:prstGeom>
              <a:blipFill>
                <a:blip r:embed="rId7"/>
                <a:stretch>
                  <a:fillRect l="-534" t="-12717" r="-534" b="-192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Google Shape;168;p26">
            <a:extLst>
              <a:ext uri="{FF2B5EF4-FFF2-40B4-BE49-F238E27FC236}">
                <a16:creationId xmlns:a16="http://schemas.microsoft.com/office/drawing/2014/main" id="{70192FDC-EBBF-AD1A-FCF5-0E68D689E938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91119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69646BFB-E019-7439-B578-1590E41C8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descr="Icon&#10;&#10;Description automatically generated">
            <a:extLst>
              <a:ext uri="{FF2B5EF4-FFF2-40B4-BE49-F238E27FC236}">
                <a16:creationId xmlns:a16="http://schemas.microsoft.com/office/drawing/2014/main" id="{7DBA3D4C-80F4-B924-08C1-66AD448025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>
            <a:extLst>
              <a:ext uri="{FF2B5EF4-FFF2-40B4-BE49-F238E27FC236}">
                <a16:creationId xmlns:a16="http://schemas.microsoft.com/office/drawing/2014/main" id="{446B785D-A7AB-0334-7D70-E6C4B188455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>
            <a:extLst>
              <a:ext uri="{FF2B5EF4-FFF2-40B4-BE49-F238E27FC236}">
                <a16:creationId xmlns:a16="http://schemas.microsoft.com/office/drawing/2014/main" id="{61455401-8C01-5CE7-D1A2-BE2012CB36AA}"/>
              </a:ext>
            </a:extLst>
          </p:cNvPr>
          <p:cNvSpPr/>
          <p:nvPr/>
        </p:nvSpPr>
        <p:spPr>
          <a:xfrm>
            <a:off x="8886389" y="256207"/>
            <a:ext cx="257700" cy="31680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7">
            <a:extLst>
              <a:ext uri="{FF2B5EF4-FFF2-40B4-BE49-F238E27FC236}">
                <a16:creationId xmlns:a16="http://schemas.microsoft.com/office/drawing/2014/main" id="{49A14930-3A62-FE1A-F1EE-73266D98E44D}"/>
              </a:ext>
            </a:extLst>
          </p:cNvPr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>
            <a:extLst>
              <a:ext uri="{FF2B5EF4-FFF2-40B4-BE49-F238E27FC236}">
                <a16:creationId xmlns:a16="http://schemas.microsoft.com/office/drawing/2014/main" id="{11B04D65-68F4-B3AA-51E8-1EE4D56706BD}"/>
              </a:ext>
            </a:extLst>
          </p:cNvPr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>
            <a:extLst>
              <a:ext uri="{FF2B5EF4-FFF2-40B4-BE49-F238E27FC236}">
                <a16:creationId xmlns:a16="http://schemas.microsoft.com/office/drawing/2014/main" id="{2AC354D3-9AF4-DF23-AEB6-7558246CD6E0}"/>
              </a:ext>
            </a:extLst>
          </p:cNvPr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>
            <a:extLst>
              <a:ext uri="{FF2B5EF4-FFF2-40B4-BE49-F238E27FC236}">
                <a16:creationId xmlns:a16="http://schemas.microsoft.com/office/drawing/2014/main" id="{84E37F20-E402-E9EA-FDBD-4F01DEEBFF81}"/>
              </a:ext>
            </a:extLst>
          </p:cNvPr>
          <p:cNvSpPr txBox="1"/>
          <p:nvPr/>
        </p:nvSpPr>
        <p:spPr>
          <a:xfrm>
            <a:off x="8730234" y="4871371"/>
            <a:ext cx="41376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7;p27">
            <a:extLst>
              <a:ext uri="{FF2B5EF4-FFF2-40B4-BE49-F238E27FC236}">
                <a16:creationId xmlns:a16="http://schemas.microsoft.com/office/drawing/2014/main" id="{E95F9E22-04E9-3944-4B20-FD0670FB69CE}"/>
              </a:ext>
            </a:extLst>
          </p:cNvPr>
          <p:cNvSpPr txBox="1"/>
          <p:nvPr/>
        </p:nvSpPr>
        <p:spPr>
          <a:xfrm>
            <a:off x="4077730" y="81794"/>
            <a:ext cx="47945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Hasil dan </a:t>
            </a: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Pembahasan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4">
                <a:extLst>
                  <a:ext uri="{FF2B5EF4-FFF2-40B4-BE49-F238E27FC236}">
                    <a16:creationId xmlns:a16="http://schemas.microsoft.com/office/drawing/2014/main" id="{EC7E0C1C-F539-BC34-76C0-C35BDFBB4E3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3179" y="730194"/>
                <a:ext cx="7413913" cy="444759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solidFill>
                      <a:srgbClr val="002060"/>
                    </a:solidFill>
                    <a:latin typeface="Poppins SemiBold" panose="00000700000000000000" pitchFamily="2" charset="0"/>
                    <a:cs typeface="Poppins SemiBold" panose="00000700000000000000" pitchFamily="2" charset="0"/>
                  </a:rPr>
                  <a:t>1. </a:t>
                </a:r>
                <a:r>
                  <a:rPr lang="en-US" dirty="0" err="1">
                    <a:solidFill>
                      <a:srgbClr val="002060"/>
                    </a:solidFill>
                    <a:latin typeface="Poppins SemiBold" panose="00000700000000000000" pitchFamily="2" charset="0"/>
                    <a:cs typeface="Poppins SemiBold" panose="00000700000000000000" pitchFamily="2" charset="0"/>
                  </a:rPr>
                  <a:t>Pemetaan</a:t>
                </a:r>
                <a:r>
                  <a:rPr lang="en-US" dirty="0">
                    <a:solidFill>
                      <a:srgbClr val="002060"/>
                    </a:solidFill>
                    <a:latin typeface="Poppins SemiBold" panose="00000700000000000000" pitchFamily="2" charset="0"/>
                    <a:cs typeface="Poppins SemiBold" panose="000007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Poppins SemiBold" panose="00000700000000000000" pitchFamily="2" charset="0"/>
                      </a:rPr>
                      <m:t>(</m:t>
                    </m:r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Poppins SemiBold" panose="00000700000000000000" pitchFamily="2" charset="0"/>
                      </a:rPr>
                      <m:t>𝜶</m:t>
                    </m:r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Poppins SemiBold" panose="00000700000000000000" pitchFamily="2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Poppins SemiBold" panose="00000700000000000000" pitchFamily="2" charset="0"/>
                      </a:rPr>
                      <m:t>𝜷</m:t>
                    </m:r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Poppins SemiBold" panose="00000700000000000000" pitchFamily="2" charset="0"/>
                      </a:rPr>
                      <m:t>,</m:t>
                    </m:r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Poppins SemiBold" panose="00000700000000000000" pitchFamily="2" charset="0"/>
                      </a:rPr>
                      <m:t>𝜸</m:t>
                    </m:r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Poppins SemiBold" panose="00000700000000000000" pitchFamily="2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  <a:latin typeface="Poppins SemiBold" panose="00000700000000000000" pitchFamily="2" charset="0"/>
                    <a:cs typeface="Poppins SemiBold" panose="00000700000000000000" pitchFamily="2" charset="0"/>
                  </a:rPr>
                  <a:t>-nonekspansif</a:t>
                </a:r>
              </a:p>
            </p:txBody>
          </p:sp>
        </mc:Choice>
        <mc:Fallback xmlns="">
          <p:sp>
            <p:nvSpPr>
              <p:cNvPr id="6" name="Text Placeholder 4">
                <a:extLst>
                  <a:ext uri="{FF2B5EF4-FFF2-40B4-BE49-F238E27FC236}">
                    <a16:creationId xmlns:a16="http://schemas.microsoft.com/office/drawing/2014/main" id="{EC7E0C1C-F539-BC34-76C0-C35BDFBB4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79" y="730194"/>
                <a:ext cx="7413913" cy="444759"/>
              </a:xfrm>
              <a:prstGeom prst="rect">
                <a:avLst/>
              </a:prstGeom>
              <a:blipFill>
                <a:blip r:embed="rId6"/>
                <a:stretch>
                  <a:fillRect l="-1233" t="-12329" b="-3287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oogle Shape;204;p28">
            <a:extLst>
              <a:ext uri="{FF2B5EF4-FFF2-40B4-BE49-F238E27FC236}">
                <a16:creationId xmlns:a16="http://schemas.microsoft.com/office/drawing/2014/main" id="{04276664-3C91-90B1-730F-6C43FDBEEF20}"/>
              </a:ext>
            </a:extLst>
          </p:cNvPr>
          <p:cNvGrpSpPr/>
          <p:nvPr/>
        </p:nvGrpSpPr>
        <p:grpSpPr>
          <a:xfrm>
            <a:off x="1" y="1200145"/>
            <a:ext cx="7620000" cy="396861"/>
            <a:chOff x="0" y="1294124"/>
            <a:chExt cx="5239394" cy="529148"/>
          </a:xfrm>
        </p:grpSpPr>
        <p:sp>
          <p:nvSpPr>
            <p:cNvPr id="8" name="Google Shape;205;p28">
              <a:extLst>
                <a:ext uri="{FF2B5EF4-FFF2-40B4-BE49-F238E27FC236}">
                  <a16:creationId xmlns:a16="http://schemas.microsoft.com/office/drawing/2014/main" id="{313BE70B-2739-1C5F-24B7-01E6C04F81D0}"/>
                </a:ext>
              </a:extLst>
            </p:cNvPr>
            <p:cNvSpPr/>
            <p:nvPr/>
          </p:nvSpPr>
          <p:spPr>
            <a:xfrm>
              <a:off x="0" y="1359772"/>
              <a:ext cx="5050263" cy="463500"/>
            </a:xfrm>
            <a:prstGeom prst="rect">
              <a:avLst/>
            </a:prstGeom>
            <a:gradFill>
              <a:gsLst>
                <a:gs pos="0">
                  <a:srgbClr val="F5F7FC">
                    <a:alpha val="0"/>
                  </a:srgbClr>
                </a:gs>
                <a:gs pos="73000">
                  <a:srgbClr val="F5AA2D"/>
                </a:gs>
                <a:gs pos="100000">
                  <a:srgbClr val="F5AA2D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206;p28">
              <a:extLst>
                <a:ext uri="{FF2B5EF4-FFF2-40B4-BE49-F238E27FC236}">
                  <a16:creationId xmlns:a16="http://schemas.microsoft.com/office/drawing/2014/main" id="{6F4CE064-C73E-9F7E-D3A2-D6E08606AF51}"/>
                </a:ext>
              </a:extLst>
            </p:cNvPr>
            <p:cNvSpPr txBox="1"/>
            <p:nvPr/>
          </p:nvSpPr>
          <p:spPr>
            <a:xfrm>
              <a:off x="471193" y="1294124"/>
              <a:ext cx="4768201" cy="5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b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dirty="0" err="1">
                  <a:latin typeface="Poppins SemiBold" panose="00000700000000000000" pitchFamily="2" charset="0"/>
                  <a:cs typeface="Poppins SemiBold" panose="00000700000000000000" pitchFamily="2" charset="0"/>
                </a:rPr>
                <a:t>Contoh</a:t>
              </a:r>
              <a:r>
                <a:rPr lang="en-US" sz="18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 Ruang dan </a:t>
              </a:r>
              <a:r>
                <a:rPr lang="en-US" sz="1800" dirty="0" err="1">
                  <a:latin typeface="Poppins SemiBold" panose="00000700000000000000" pitchFamily="2" charset="0"/>
                  <a:cs typeface="Poppins SemiBold" panose="00000700000000000000" pitchFamily="2" charset="0"/>
                </a:rPr>
                <a:t>Pemetaan</a:t>
              </a:r>
              <a:endParaRPr sz="1800" dirty="0">
                <a:solidFill>
                  <a:schemeClr val="dk1"/>
                </a:solidFill>
                <a:latin typeface="Poppins SemiBold" panose="00000700000000000000" pitchFamily="2" charset="0"/>
                <a:ea typeface="Poppins SemiBold"/>
                <a:cs typeface="Poppins SemiBold" panose="00000700000000000000" pitchFamily="2" charset="0"/>
                <a:sym typeface="Poppins SemiBold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D1562B9-F146-F70E-5FB8-FC5765BDDCCD}"/>
                  </a:ext>
                </a:extLst>
              </p:cNvPr>
              <p:cNvSpPr txBox="1"/>
              <p:nvPr/>
            </p:nvSpPr>
            <p:spPr>
              <a:xfrm>
                <a:off x="655986" y="1666810"/>
                <a:ext cx="7999126" cy="28530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SzPct val="100000"/>
                </a:pPr>
                <a:r>
                  <a:rPr lang="en-US" sz="17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Contoh</a:t>
                </a:r>
                <a:r>
                  <a:rPr lang="en-US" sz="1750" dirty="0">
                    <a:latin typeface="Poppins" panose="00000500000000000000" pitchFamily="2" charset="0"/>
                    <a:cs typeface="Poppins" panose="00000500000000000000" pitchFamily="2" charset="0"/>
                  </a:rPr>
                  <a:t> 2. </a:t>
                </a:r>
                <a:r>
                  <a:rPr lang="en-US" sz="17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Diberikan</a:t>
                </a:r>
                <a:r>
                  <a:rPr lang="en-US" sz="17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7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US" sz="17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7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𝐶𝐴</m:t>
                    </m:r>
                    <m:sSub>
                      <m:sSubPr>
                        <m:ctrlP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𝑇</m:t>
                        </m:r>
                      </m:e>
                      <m:sub>
                        <m: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17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7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sebagaimana</a:t>
                </a:r>
                <a:r>
                  <a:rPr lang="en-US" sz="17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7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contoh</a:t>
                </a:r>
                <a:r>
                  <a:rPr lang="en-US" sz="17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7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sebelumnya</a:t>
                </a:r>
                <a:r>
                  <a:rPr lang="en-US" sz="1750" dirty="0">
                    <a:latin typeface="Poppins" panose="00000500000000000000" pitchFamily="2" charset="0"/>
                    <a:cs typeface="Poppins" panose="00000500000000000000" pitchFamily="2" charset="0"/>
                  </a:rPr>
                  <a:t>, dan </a:t>
                </a:r>
                <a14:m>
                  <m:oMath xmlns:m="http://schemas.openxmlformats.org/officeDocument/2006/math">
                    <m:r>
                      <a:rPr lang="en-US" sz="17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𝑊</m:t>
                    </m:r>
                    <m:r>
                      <a:rPr lang="en-US" sz="17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=</m:t>
                    </m:r>
                    <m:r>
                      <m:rPr>
                        <m:lit/>
                      </m:rPr>
                      <a:rPr lang="en-US" sz="17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{</m:t>
                    </m:r>
                    <m:d>
                      <m:dPr>
                        <m:ctrlP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75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75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75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75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75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75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 0, 0, …</m:t>
                        </m:r>
                      </m:e>
                    </m:d>
                    <m:r>
                      <a:rPr lang="en-US" sz="17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∣</m:t>
                    </m:r>
                    <m:sSub>
                      <m:sSubPr>
                        <m:ctrlP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𝑤</m:t>
                        </m:r>
                      </m:e>
                      <m:sub>
                        <m: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1</m:t>
                        </m:r>
                      </m:sub>
                    </m:sSub>
                    <m:r>
                      <a:rPr lang="en-US" sz="17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1,5</m:t>
                        </m:r>
                      </m:e>
                    </m:d>
                    <m:r>
                      <a:rPr lang="en-US" sz="17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  <m:sSub>
                      <m:sSubPr>
                        <m:ctrlP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𝑤</m:t>
                        </m:r>
                      </m:e>
                      <m:sub>
                        <m: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2</m:t>
                        </m:r>
                      </m:sub>
                    </m:sSub>
                    <m:r>
                      <a:rPr lang="en-US" sz="17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75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1,125</m:t>
                        </m:r>
                      </m:e>
                    </m:d>
                    <m:r>
                      <a:rPr lang="en-US" sz="17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}⊂</m:t>
                    </m:r>
                    <m:r>
                      <a:rPr lang="en-US" sz="17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𝑋</m:t>
                    </m:r>
                    <m:r>
                      <a:rPr lang="en-US" sz="17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.</m:t>
                    </m:r>
                  </m:oMath>
                </a14:m>
                <a:r>
                  <a:rPr lang="en-US" sz="17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7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Pemetaan</a:t>
                </a:r>
                <a:r>
                  <a:rPr lang="en-US" sz="17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7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𝑇</m:t>
                    </m:r>
                    <m:r>
                      <a:rPr lang="en-US" sz="17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:</m:t>
                    </m:r>
                    <m:r>
                      <a:rPr lang="en-US" sz="17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𝑊</m:t>
                    </m:r>
                    <m:r>
                      <a:rPr lang="en-US" sz="17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→</m:t>
                    </m:r>
                    <m:r>
                      <a:rPr lang="en-US" sz="175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𝑊</m:t>
                    </m:r>
                  </m:oMath>
                </a14:m>
                <a:r>
                  <a:rPr lang="en-US" sz="1750" dirty="0">
                    <a:latin typeface="Poppins" panose="00000500000000000000" pitchFamily="2" charset="0"/>
                    <a:cs typeface="Poppins" panose="00000500000000000000" pitchFamily="2" charset="0"/>
                  </a:rPr>
                  <a:t> yang </a:t>
                </a:r>
                <a:r>
                  <a:rPr lang="en-US" sz="17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didefinisikan</a:t>
                </a:r>
                <a:r>
                  <a:rPr lang="en-US" sz="17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7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sebagai</a:t>
                </a:r>
                <a:r>
                  <a:rPr lang="en-US" sz="17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</a:p>
              <a:p>
                <a:pPr algn="just"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5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𝑇</m:t>
                      </m:r>
                      <m:d>
                        <m:dPr>
                          <m:ctrlPr>
                            <a:rPr lang="en-US" sz="175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175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75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75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75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75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75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75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,0, 0, …</m:t>
                              </m:r>
                            </m:e>
                          </m:d>
                        </m:e>
                      </m:d>
                      <m:r>
                        <a:rPr lang="en-US" sz="175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75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75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ctrlPr>
                                    <a:rPr lang="en-US" sz="175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75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sz="1750" b="0" i="1" smtClean="0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750" b="0" i="1" smtClean="0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sz="1750" b="0" i="1" smtClean="0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175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+3</m:t>
                                      </m:r>
                                    </m:num>
                                    <m:den>
                                      <m:r>
                                        <a:rPr lang="en-US" sz="175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  <m:r>
                                    <a:rPr lang="en-US" sz="175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,</m:t>
                                  </m:r>
                                  <m:f>
                                    <m:fPr>
                                      <m:ctrlPr>
                                        <a:rPr lang="en-US" sz="175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1750" b="0" i="1" smtClean="0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sz="1750" b="0" i="1" smtClean="0">
                                                  <a:latin typeface="Cambria Math" panose="02040503050406030204" pitchFamily="18" charset="0"/>
                                                  <a:cs typeface="Poppins" panose="00000500000000000000" pitchFamily="2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1750" b="0" i="1" smtClean="0">
                                                      <a:latin typeface="Cambria Math" panose="02040503050406030204" pitchFamily="18" charset="0"/>
                                                      <a:cs typeface="Poppins" panose="00000500000000000000" pitchFamily="2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750" b="0" i="1" smtClean="0">
                                                      <a:latin typeface="Cambria Math" panose="02040503050406030204" pitchFamily="18" charset="0"/>
                                                      <a:cs typeface="Poppins" panose="00000500000000000000" pitchFamily="2" charset="0"/>
                                                    </a:rPr>
                                                    <m:t>𝑤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750" b="0" i="1" smtClean="0">
                                                      <a:latin typeface="Cambria Math" panose="02040503050406030204" pitchFamily="18" charset="0"/>
                                                      <a:cs typeface="Poppins" panose="00000500000000000000" pitchFamily="2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1750" b="0" i="1" smtClean="0">
                                                  <a:latin typeface="Cambria Math" panose="02040503050406030204" pitchFamily="18" charset="0"/>
                                                  <a:cs typeface="Poppins" panose="00000500000000000000" pitchFamily="2" charset="0"/>
                                                </a:rPr>
                                                <m:t>+3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sz="1750" b="0" i="1" smtClean="0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3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US" sz="175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64</m:t>
                                      </m:r>
                                    </m:den>
                                  </m:f>
                                  <m:r>
                                    <a:rPr lang="en-US" sz="175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, 0, 0, …</m:t>
                                  </m:r>
                                </m:e>
                              </m:d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,        </m:t>
                              </m:r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𝑗𝑖𝑘𝑎</m:t>
                              </m:r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175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75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75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75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∈</m:t>
                              </m:r>
                              <m:d>
                                <m:dPr>
                                  <m:begChr m:val="["/>
                                  <m:ctrlPr>
                                    <a:rPr lang="en-US" sz="175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5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1,3</m:t>
                                  </m:r>
                                </m:e>
                              </m:d>
                            </m:e>
                            <m:e>
                              <m:d>
                                <m:dPr>
                                  <m:ctrlPr>
                                    <a:rPr lang="en-US" sz="1750" i="1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750" i="1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sz="1750" i="1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750" i="1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sz="1750" i="1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1750" i="1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+</m:t>
                                      </m:r>
                                      <m:r>
                                        <a:rPr lang="en-US" sz="175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en-US" sz="1750" i="1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  <m:r>
                                    <a:rPr lang="en-US" sz="1750" i="1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,</m:t>
                                  </m:r>
                                  <m:f>
                                    <m:fPr>
                                      <m:ctrlPr>
                                        <a:rPr lang="en-US" sz="1750" i="1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1750" i="1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sz="1750" i="1">
                                                  <a:latin typeface="Cambria Math" panose="02040503050406030204" pitchFamily="18" charset="0"/>
                                                  <a:cs typeface="Poppins" panose="00000500000000000000" pitchFamily="2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1750" i="1">
                                                      <a:latin typeface="Cambria Math" panose="02040503050406030204" pitchFamily="18" charset="0"/>
                                                      <a:cs typeface="Poppins" panose="00000500000000000000" pitchFamily="2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750" i="1">
                                                      <a:latin typeface="Cambria Math" panose="02040503050406030204" pitchFamily="18" charset="0"/>
                                                      <a:cs typeface="Poppins" panose="00000500000000000000" pitchFamily="2" charset="0"/>
                                                    </a:rPr>
                                                    <m:t>𝑤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750" i="1">
                                                      <a:latin typeface="Cambria Math" panose="02040503050406030204" pitchFamily="18" charset="0"/>
                                                      <a:cs typeface="Poppins" panose="00000500000000000000" pitchFamily="2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1750" i="1">
                                                  <a:latin typeface="Cambria Math" panose="02040503050406030204" pitchFamily="18" charset="0"/>
                                                  <a:cs typeface="Poppins" panose="00000500000000000000" pitchFamily="2" charset="0"/>
                                                </a:rPr>
                                                <m:t>+</m:t>
                                              </m:r>
                                              <m:r>
                                                <a:rPr lang="en-US" sz="1750" b="0" i="1" smtClean="0">
                                                  <a:latin typeface="Cambria Math" panose="02040503050406030204" pitchFamily="18" charset="0"/>
                                                  <a:cs typeface="Poppins" panose="00000500000000000000" pitchFamily="2" charset="0"/>
                                                </a:rPr>
                                                <m:t>2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sz="1750" i="1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3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US" sz="1750" i="1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64</m:t>
                                      </m:r>
                                    </m:den>
                                  </m:f>
                                  <m:r>
                                    <a:rPr lang="en-US" sz="1750" i="1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, 0, 0, …</m:t>
                                  </m:r>
                                </m:e>
                              </m:d>
                              <m:r>
                                <a:rPr lang="en-US" sz="1750" i="1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,        </m:t>
                              </m:r>
                              <m:r>
                                <a:rPr lang="en-US" sz="1750" i="1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𝑗𝑖𝑘𝑎</m:t>
                              </m:r>
                              <m:r>
                                <a:rPr lang="en-US" sz="1750" i="1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1750" i="1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750" i="1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75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750" i="1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∈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75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5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3,5</m:t>
                                  </m:r>
                                </m:e>
                              </m:d>
                            </m:e>
                          </m:eqArr>
                          <m:r>
                            <a:rPr lang="en-US" sz="175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,</m:t>
                          </m:r>
                        </m:e>
                      </m:d>
                    </m:oMath>
                  </m:oMathPara>
                </a14:m>
                <a:endParaRPr lang="en-US" sz="1750" b="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algn="just">
                  <a:buSzPct val="100000"/>
                </a:pPr>
                <a:r>
                  <a:rPr lang="en-US" sz="17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adalah</a:t>
                </a:r>
                <a:r>
                  <a:rPr lang="en-US" sz="17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75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pemetaan</a:t>
                </a:r>
                <a:r>
                  <a:rPr lang="en-US" sz="175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75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750" b="1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fPr>
                          <m:num>
                            <m:r>
                              <a:rPr lang="en-US" sz="1750" b="1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1750" b="1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𝟒</m:t>
                            </m:r>
                          </m:den>
                        </m:f>
                        <m:r>
                          <a:rPr lang="en-US" sz="175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f>
                          <m:fPr>
                            <m:ctrlPr>
                              <a:rPr lang="en-US" sz="1750" b="1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fPr>
                          <m:num>
                            <m:r>
                              <a:rPr lang="en-US" sz="1750" b="1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1750" b="1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𝟑</m:t>
                            </m:r>
                          </m:den>
                        </m:f>
                        <m:r>
                          <a:rPr lang="en-US" sz="175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f>
                          <m:fPr>
                            <m:ctrlPr>
                              <a:rPr lang="en-US" sz="1750" b="1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fPr>
                          <m:num>
                            <m:r>
                              <a:rPr lang="en-US" sz="1750" b="1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𝟑</m:t>
                            </m:r>
                          </m:num>
                          <m:den>
                            <m:r>
                              <a:rPr lang="en-US" sz="1750" b="1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𝟒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175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-</a:t>
                </a:r>
                <a:r>
                  <a:rPr lang="en-US" sz="175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nonekspansif</a:t>
                </a:r>
                <a:r>
                  <a:rPr lang="en-US" sz="1750" dirty="0">
                    <a:latin typeface="Poppins" panose="00000500000000000000" pitchFamily="2" charset="0"/>
                    <a:cs typeface="Poppins" panose="00000500000000000000" pitchFamily="2" charset="0"/>
                  </a:rPr>
                  <a:t>, </a:t>
                </a:r>
                <a:r>
                  <a:rPr lang="en-US" sz="175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tetapi</a:t>
                </a:r>
                <a:r>
                  <a:rPr lang="en-US" sz="175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75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bukan</a:t>
                </a:r>
                <a:r>
                  <a:rPr lang="en-US" sz="175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75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pemetaan</a:t>
                </a:r>
                <a:r>
                  <a:rPr lang="en-US" sz="175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75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nonekspansif</a:t>
                </a:r>
                <a:r>
                  <a:rPr lang="en-US" sz="1750" dirty="0">
                    <a:latin typeface="Poppins" panose="00000500000000000000" pitchFamily="2" charset="0"/>
                    <a:cs typeface="Poppins" panose="00000500000000000000" pitchFamily="2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D1562B9-F146-F70E-5FB8-FC5765BDDC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86" y="1666810"/>
                <a:ext cx="7999126" cy="2853089"/>
              </a:xfrm>
              <a:prstGeom prst="rect">
                <a:avLst/>
              </a:prstGeom>
              <a:blipFill>
                <a:blip r:embed="rId7"/>
                <a:stretch>
                  <a:fillRect l="-534" t="-214" r="-534" b="-213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Google Shape;168;p26">
            <a:extLst>
              <a:ext uri="{FF2B5EF4-FFF2-40B4-BE49-F238E27FC236}">
                <a16:creationId xmlns:a16="http://schemas.microsoft.com/office/drawing/2014/main" id="{9E4A3688-BBF3-5666-B911-2EEF9745AEDB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12056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0B59BFA0-3E02-3CEA-87C2-627C36249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descr="Icon&#10;&#10;Description automatically generated">
            <a:extLst>
              <a:ext uri="{FF2B5EF4-FFF2-40B4-BE49-F238E27FC236}">
                <a16:creationId xmlns:a16="http://schemas.microsoft.com/office/drawing/2014/main" id="{F98B58B7-C440-6CCC-EC8E-F62CB927C04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>
            <a:extLst>
              <a:ext uri="{FF2B5EF4-FFF2-40B4-BE49-F238E27FC236}">
                <a16:creationId xmlns:a16="http://schemas.microsoft.com/office/drawing/2014/main" id="{805942E4-D3D3-6763-6022-0A417CB3979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>
            <a:extLst>
              <a:ext uri="{FF2B5EF4-FFF2-40B4-BE49-F238E27FC236}">
                <a16:creationId xmlns:a16="http://schemas.microsoft.com/office/drawing/2014/main" id="{C356BCDB-728F-DF76-5113-C7C7BF8DC25B}"/>
              </a:ext>
            </a:extLst>
          </p:cNvPr>
          <p:cNvSpPr/>
          <p:nvPr/>
        </p:nvSpPr>
        <p:spPr>
          <a:xfrm>
            <a:off x="8886389" y="256207"/>
            <a:ext cx="257700" cy="31680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7">
            <a:extLst>
              <a:ext uri="{FF2B5EF4-FFF2-40B4-BE49-F238E27FC236}">
                <a16:creationId xmlns:a16="http://schemas.microsoft.com/office/drawing/2014/main" id="{76ED02E5-86EE-A01D-4E31-1071B9D1A1C7}"/>
              </a:ext>
            </a:extLst>
          </p:cNvPr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>
            <a:extLst>
              <a:ext uri="{FF2B5EF4-FFF2-40B4-BE49-F238E27FC236}">
                <a16:creationId xmlns:a16="http://schemas.microsoft.com/office/drawing/2014/main" id="{55E66213-B53F-0C96-B03C-CC00D377DF1D}"/>
              </a:ext>
            </a:extLst>
          </p:cNvPr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>
            <a:extLst>
              <a:ext uri="{FF2B5EF4-FFF2-40B4-BE49-F238E27FC236}">
                <a16:creationId xmlns:a16="http://schemas.microsoft.com/office/drawing/2014/main" id="{C2CCF94B-AB2F-4B33-866E-9EF0889756DE}"/>
              </a:ext>
            </a:extLst>
          </p:cNvPr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>
            <a:extLst>
              <a:ext uri="{FF2B5EF4-FFF2-40B4-BE49-F238E27FC236}">
                <a16:creationId xmlns:a16="http://schemas.microsoft.com/office/drawing/2014/main" id="{B992423A-A6FE-BC58-B945-56624FA87389}"/>
              </a:ext>
            </a:extLst>
          </p:cNvPr>
          <p:cNvSpPr txBox="1"/>
          <p:nvPr/>
        </p:nvSpPr>
        <p:spPr>
          <a:xfrm>
            <a:off x="8730234" y="4871371"/>
            <a:ext cx="41376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205;p28">
            <a:extLst>
              <a:ext uri="{FF2B5EF4-FFF2-40B4-BE49-F238E27FC236}">
                <a16:creationId xmlns:a16="http://schemas.microsoft.com/office/drawing/2014/main" id="{16031AC8-D036-2501-7A77-1A90A861F1E2}"/>
              </a:ext>
            </a:extLst>
          </p:cNvPr>
          <p:cNvSpPr/>
          <p:nvPr/>
        </p:nvSpPr>
        <p:spPr>
          <a:xfrm>
            <a:off x="0" y="1244462"/>
            <a:ext cx="5523355" cy="347625"/>
          </a:xfrm>
          <a:prstGeom prst="rect">
            <a:avLst/>
          </a:prstGeom>
          <a:gradFill>
            <a:gsLst>
              <a:gs pos="0">
                <a:srgbClr val="F5F7FC">
                  <a:alpha val="0"/>
                </a:srgbClr>
              </a:gs>
              <a:gs pos="73000">
                <a:srgbClr val="F5AA2D"/>
              </a:gs>
              <a:gs pos="100000">
                <a:srgbClr val="F5AA2D"/>
              </a:gs>
            </a:gsLst>
            <a:lin ang="10800025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DF0E76-8B19-48C3-C870-398D11CF7D4D}"/>
                  </a:ext>
                </a:extLst>
              </p:cNvPr>
              <p:cNvSpPr txBox="1"/>
              <p:nvPr/>
            </p:nvSpPr>
            <p:spPr>
              <a:xfrm>
                <a:off x="727889" y="2823761"/>
                <a:ext cx="8158500" cy="16719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180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&amp;=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⊕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𝑇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,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&amp;=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𝑇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 ,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𝑛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&amp;=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𝑇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⊕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𝑇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,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18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algn="just">
                  <a:buSzPct val="100000"/>
                </a:pPr>
                <a:endParaRPr lang="en-US" sz="18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algn="just">
                  <a:buSzPct val="100000"/>
                </a:pP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dengan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⊆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dan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⊆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DF0E76-8B19-48C3-C870-398D11CF7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889" y="2823761"/>
                <a:ext cx="8158500" cy="1671996"/>
              </a:xfrm>
              <a:prstGeom prst="rect">
                <a:avLst/>
              </a:prstGeom>
              <a:blipFill>
                <a:blip r:embed="rId5"/>
                <a:stretch>
                  <a:fillRect l="-597" b="-474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Google Shape;206;p28">
            <a:extLst>
              <a:ext uri="{FF2B5EF4-FFF2-40B4-BE49-F238E27FC236}">
                <a16:creationId xmlns:a16="http://schemas.microsoft.com/office/drawing/2014/main" id="{8965DFC2-D86E-A011-8A83-5E3BFC5A30D4}"/>
              </a:ext>
            </a:extLst>
          </p:cNvPr>
          <p:cNvSpPr txBox="1"/>
          <p:nvPr/>
        </p:nvSpPr>
        <p:spPr>
          <a:xfrm>
            <a:off x="655987" y="1195227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Skema </a:t>
            </a:r>
            <a:r>
              <a:rPr lang="en-US" sz="1800" dirty="0" err="1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Iterasi</a:t>
            </a: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206;p28">
                <a:extLst>
                  <a:ext uri="{FF2B5EF4-FFF2-40B4-BE49-F238E27FC236}">
                    <a16:creationId xmlns:a16="http://schemas.microsoft.com/office/drawing/2014/main" id="{339CD2FD-F564-A45B-2E06-CB385FFBD47E}"/>
                  </a:ext>
                </a:extLst>
              </p:cNvPr>
              <p:cNvSpPr txBox="1"/>
              <p:nvPr/>
            </p:nvSpPr>
            <p:spPr>
              <a:xfrm>
                <a:off x="2245530" y="1197153"/>
                <a:ext cx="5664851" cy="396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75" tIns="34275" rIns="68575" bIns="34275" anchor="b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lang="en-US" sz="1800" dirty="0">
                    <a:solidFill>
                      <a:schemeClr val="dk1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 Sabri di Ruang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Poppins SemiBold"/>
                        <a:cs typeface="Poppins SemiBold"/>
                        <a:sym typeface="Poppins SemiBold"/>
                      </a:rPr>
                      <m:t>𝐶𝐴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Poppins SemiBold"/>
                            <a:cs typeface="Poppins SemiBold"/>
                            <a:sym typeface="Poppins SemiBold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Poppins SemiBold"/>
                            <a:cs typeface="Poppins SemiBold"/>
                            <a:sym typeface="Poppins SemiBold"/>
                          </a:rPr>
                          <m:t>𝑇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Poppins SemiBold"/>
                            <a:cs typeface="Poppins SemiBold"/>
                            <a:sym typeface="Poppins SemiBold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Poppins SemiBold"/>
                            <a:cs typeface="Poppins SemiBold"/>
                            <a:sym typeface="Poppins SemiBold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Poppins SemiBold"/>
                            <a:cs typeface="Poppins SemiBold"/>
                            <a:sym typeface="Poppins SemiBold"/>
                          </a:rPr>
                          <m:t>0</m:t>
                        </m:r>
                      </m:e>
                    </m:d>
                  </m:oMath>
                </a14:m>
                <a:endParaRPr sz="1800" dirty="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</mc:Choice>
        <mc:Fallback xmlns="">
          <p:sp>
            <p:nvSpPr>
              <p:cNvPr id="5" name="Google Shape;206;p28">
                <a:extLst>
                  <a:ext uri="{FF2B5EF4-FFF2-40B4-BE49-F238E27FC236}">
                    <a16:creationId xmlns:a16="http://schemas.microsoft.com/office/drawing/2014/main" id="{339CD2FD-F564-A45B-2E06-CB385FFBD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5530" y="1197153"/>
                <a:ext cx="5664851" cy="396450"/>
              </a:xfrm>
              <a:prstGeom prst="rect">
                <a:avLst/>
              </a:prstGeom>
              <a:blipFill>
                <a:blip r:embed="rId7"/>
                <a:stretch>
                  <a:fillRect l="-323" b="-2615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3857B5C-51D7-72BE-5324-1F4B4EEF46DD}"/>
                  </a:ext>
                </a:extLst>
              </p:cNvPr>
              <p:cNvSpPr txBox="1"/>
              <p:nvPr/>
            </p:nvSpPr>
            <p:spPr>
              <a:xfrm>
                <a:off x="655986" y="1666810"/>
                <a:ext cx="8158500" cy="12431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SzPct val="100000"/>
                </a:pP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Diberikan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𝑊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adalah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himpunan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bagian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tak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kosong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yang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konveks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dari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suatu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𝐶𝐴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0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.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Untuk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suatu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pemetaan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𝑇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: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𝑊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→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𝑊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 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0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∈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𝑊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, dan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𝑛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∈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ℕ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0</m:t>
                        </m:r>
                      </m:e>
                    </m:d>
                    <m:r>
                      <a:rPr lang="en-US" sz="1800" b="0" i="0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 </m:t>
                    </m:r>
                  </m:oMath>
                </a14:m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didefinisikan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skema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iterasi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Sabri 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pada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𝐶𝐴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sebagai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berikut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: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3857B5C-51D7-72BE-5324-1F4B4EEF46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86" y="1666810"/>
                <a:ext cx="8158500" cy="1243161"/>
              </a:xfrm>
              <a:prstGeom prst="rect">
                <a:avLst/>
              </a:prstGeom>
              <a:blipFill>
                <a:blip r:embed="rId8"/>
                <a:stretch>
                  <a:fillRect l="-673" t="-2451" r="-598" b="-637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71D342F5-819C-724C-626D-9C3BED5FA538}"/>
              </a:ext>
            </a:extLst>
          </p:cNvPr>
          <p:cNvSpPr txBox="1">
            <a:spLocks/>
          </p:cNvSpPr>
          <p:nvPr/>
        </p:nvSpPr>
        <p:spPr>
          <a:xfrm>
            <a:off x="313179" y="730194"/>
            <a:ext cx="7413913" cy="4447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2.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Konvergensi</a:t>
            </a:r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Skema</a:t>
            </a:r>
          </a:p>
        </p:txBody>
      </p:sp>
      <p:sp>
        <p:nvSpPr>
          <p:cNvPr id="2" name="Google Shape;177;p27">
            <a:extLst>
              <a:ext uri="{FF2B5EF4-FFF2-40B4-BE49-F238E27FC236}">
                <a16:creationId xmlns:a16="http://schemas.microsoft.com/office/drawing/2014/main" id="{0DB151C6-57DC-9E18-AF30-CC193ED9ED58}"/>
              </a:ext>
            </a:extLst>
          </p:cNvPr>
          <p:cNvSpPr txBox="1"/>
          <p:nvPr/>
        </p:nvSpPr>
        <p:spPr>
          <a:xfrm>
            <a:off x="4077730" y="81794"/>
            <a:ext cx="47945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Hasil dan </a:t>
            </a: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Pembahasan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Google Shape;168;p26">
            <a:extLst>
              <a:ext uri="{FF2B5EF4-FFF2-40B4-BE49-F238E27FC236}">
                <a16:creationId xmlns:a16="http://schemas.microsoft.com/office/drawing/2014/main" id="{998C6AE2-0228-D8B5-3FA8-480990856FEA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66109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04BD2E35-41FF-7B77-3232-195E652A5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descr="Icon&#10;&#10;Description automatically generated">
            <a:extLst>
              <a:ext uri="{FF2B5EF4-FFF2-40B4-BE49-F238E27FC236}">
                <a16:creationId xmlns:a16="http://schemas.microsoft.com/office/drawing/2014/main" id="{EDAB01BF-3DF7-0A5B-1870-88D6E4C7CC7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>
            <a:extLst>
              <a:ext uri="{FF2B5EF4-FFF2-40B4-BE49-F238E27FC236}">
                <a16:creationId xmlns:a16="http://schemas.microsoft.com/office/drawing/2014/main" id="{5A26D770-87F6-2AA7-B625-E3194603060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>
            <a:extLst>
              <a:ext uri="{FF2B5EF4-FFF2-40B4-BE49-F238E27FC236}">
                <a16:creationId xmlns:a16="http://schemas.microsoft.com/office/drawing/2014/main" id="{76D353C8-D00F-5284-F7B7-3D98DA94AFC1}"/>
              </a:ext>
            </a:extLst>
          </p:cNvPr>
          <p:cNvSpPr/>
          <p:nvPr/>
        </p:nvSpPr>
        <p:spPr>
          <a:xfrm>
            <a:off x="8886389" y="256207"/>
            <a:ext cx="257700" cy="31680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7">
            <a:extLst>
              <a:ext uri="{FF2B5EF4-FFF2-40B4-BE49-F238E27FC236}">
                <a16:creationId xmlns:a16="http://schemas.microsoft.com/office/drawing/2014/main" id="{B4D6E9DE-0E33-E6D9-3685-A05957F057DD}"/>
              </a:ext>
            </a:extLst>
          </p:cNvPr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>
            <a:extLst>
              <a:ext uri="{FF2B5EF4-FFF2-40B4-BE49-F238E27FC236}">
                <a16:creationId xmlns:a16="http://schemas.microsoft.com/office/drawing/2014/main" id="{2BA7CECE-3184-FDFF-E2C0-820B13D574C6}"/>
              </a:ext>
            </a:extLst>
          </p:cNvPr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>
            <a:extLst>
              <a:ext uri="{FF2B5EF4-FFF2-40B4-BE49-F238E27FC236}">
                <a16:creationId xmlns:a16="http://schemas.microsoft.com/office/drawing/2014/main" id="{439DA450-1125-DF80-52DC-D9F8F6957105}"/>
              </a:ext>
            </a:extLst>
          </p:cNvPr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>
            <a:extLst>
              <a:ext uri="{FF2B5EF4-FFF2-40B4-BE49-F238E27FC236}">
                <a16:creationId xmlns:a16="http://schemas.microsoft.com/office/drawing/2014/main" id="{29072FCA-9CE8-B537-C95E-F6C40C3F11F3}"/>
              </a:ext>
            </a:extLst>
          </p:cNvPr>
          <p:cNvSpPr txBox="1"/>
          <p:nvPr/>
        </p:nvSpPr>
        <p:spPr>
          <a:xfrm>
            <a:off x="8730234" y="4871371"/>
            <a:ext cx="41376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205;p28">
            <a:extLst>
              <a:ext uri="{FF2B5EF4-FFF2-40B4-BE49-F238E27FC236}">
                <a16:creationId xmlns:a16="http://schemas.microsoft.com/office/drawing/2014/main" id="{56344754-6966-A85F-A188-AB7D4EB771BC}"/>
              </a:ext>
            </a:extLst>
          </p:cNvPr>
          <p:cNvSpPr/>
          <p:nvPr/>
        </p:nvSpPr>
        <p:spPr>
          <a:xfrm>
            <a:off x="0" y="1244462"/>
            <a:ext cx="5523355" cy="347625"/>
          </a:xfrm>
          <a:prstGeom prst="rect">
            <a:avLst/>
          </a:prstGeom>
          <a:gradFill>
            <a:gsLst>
              <a:gs pos="0">
                <a:srgbClr val="F5F7FC">
                  <a:alpha val="0"/>
                </a:srgbClr>
              </a:gs>
              <a:gs pos="73000">
                <a:srgbClr val="F5AA2D"/>
              </a:gs>
              <a:gs pos="100000">
                <a:srgbClr val="F5AA2D"/>
              </a:gs>
            </a:gsLst>
            <a:lin ang="10800025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06;p28">
            <a:extLst>
              <a:ext uri="{FF2B5EF4-FFF2-40B4-BE49-F238E27FC236}">
                <a16:creationId xmlns:a16="http://schemas.microsoft.com/office/drawing/2014/main" id="{72692EB8-98E9-A814-D23B-DCDFEAA93B8D}"/>
              </a:ext>
            </a:extLst>
          </p:cNvPr>
          <p:cNvSpPr txBox="1"/>
          <p:nvPr/>
        </p:nvSpPr>
        <p:spPr>
          <a:xfrm>
            <a:off x="655987" y="1195227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 err="1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Eksistensi</a:t>
            </a:r>
            <a:r>
              <a:rPr lang="en-US"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Titik</a:t>
            </a:r>
            <a:r>
              <a:rPr lang="en-US"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Tetap</a:t>
            </a: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" name="Google Shape;206;p28">
            <a:extLst>
              <a:ext uri="{FF2B5EF4-FFF2-40B4-BE49-F238E27FC236}">
                <a16:creationId xmlns:a16="http://schemas.microsoft.com/office/drawing/2014/main" id="{FDA3665F-A862-1BE7-5269-1F00ABBD3100}"/>
              </a:ext>
            </a:extLst>
          </p:cNvPr>
          <p:cNvSpPr txBox="1"/>
          <p:nvPr/>
        </p:nvSpPr>
        <p:spPr>
          <a:xfrm>
            <a:off x="2245530" y="1197153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7AC4492-5662-5BE2-BEA4-15A71C32ADBE}"/>
                  </a:ext>
                </a:extLst>
              </p:cNvPr>
              <p:cNvSpPr txBox="1"/>
              <p:nvPr/>
            </p:nvSpPr>
            <p:spPr>
              <a:xfrm>
                <a:off x="655986" y="1666810"/>
                <a:ext cx="815850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SzPct val="100000"/>
                </a:pP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Diberikan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𝑇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: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𝑊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→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𝑊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adalah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pemetaan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𝛼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𝛽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𝛾</m:t>
                        </m:r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-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nonekspansif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. Jika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{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𝑛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} </m:t>
                    </m:r>
                  </m:oMath>
                </a14:m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adalah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barisan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yang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dikonstruksi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melalui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skema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iterasi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Sabri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sehingga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1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800" b="1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800" b="1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terbatas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dan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80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800" b="1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limLowPr>
                          <m:e>
                            <m:r>
                              <a:rPr lang="en-US" sz="1800" b="1" i="0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𝐥𝐢𝐦</m:t>
                            </m:r>
                          </m:e>
                          <m:lim>
                            <m:r>
                              <a:rPr lang="en-US" sz="1800" b="1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𝒏</m:t>
                            </m:r>
                            <m:r>
                              <a:rPr lang="en-US" sz="1800" b="1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𝒅</m:t>
                        </m:r>
                        <m:d>
                          <m:dPr>
                            <m:ctrlPr>
                              <a:rPr lang="en-US" sz="1800" b="1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1" i="1" smtClean="0">
                                    <a:latin typeface="Cambria Math" panose="02040503050406030204" pitchFamily="18" charset="0"/>
                                    <a:cs typeface="Poppins" panose="00000500000000000000" pitchFamily="2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  <a:cs typeface="Poppins" panose="00000500000000000000" pitchFamily="2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  <a:cs typeface="Poppins" panose="00000500000000000000" pitchFamily="2" charset="0"/>
                                  </a:rPr>
                                  <m:t>𝒏</m:t>
                                </m:r>
                              </m:sub>
                            </m:sSub>
                            <m:r>
                              <a:rPr lang="en-US" sz="1800" b="1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,</m:t>
                            </m:r>
                            <m:r>
                              <a:rPr lang="en-US" sz="1800" b="1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𝑻</m:t>
                            </m:r>
                            <m:sSub>
                              <m:sSubPr>
                                <m:ctrlPr>
                                  <a:rPr lang="en-US" sz="1800" b="1" i="1" smtClean="0">
                                    <a:latin typeface="Cambria Math" panose="02040503050406030204" pitchFamily="18" charset="0"/>
                                    <a:cs typeface="Poppins" panose="00000500000000000000" pitchFamily="2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  <a:cs typeface="Poppins" panose="00000500000000000000" pitchFamily="2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  <a:cs typeface="Poppins" panose="00000500000000000000" pitchFamily="2" charset="0"/>
                                  </a:rPr>
                                  <m:t>𝒏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,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maka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𝐹𝑖𝑥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𝑇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≠∅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7AC4492-5662-5BE2-BEA4-15A71C32A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86" y="1666810"/>
                <a:ext cx="8158500" cy="923330"/>
              </a:xfrm>
              <a:prstGeom prst="rect">
                <a:avLst/>
              </a:prstGeom>
              <a:blipFill>
                <a:blip r:embed="rId6"/>
                <a:stretch>
                  <a:fillRect l="-673" t="-3289" r="-598" b="-9211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376BAE87-7046-220C-BF13-3F7970985BD3}"/>
              </a:ext>
            </a:extLst>
          </p:cNvPr>
          <p:cNvSpPr txBox="1">
            <a:spLocks/>
          </p:cNvSpPr>
          <p:nvPr/>
        </p:nvSpPr>
        <p:spPr>
          <a:xfrm>
            <a:off x="313179" y="730194"/>
            <a:ext cx="7413913" cy="4447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2.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Konvergensi</a:t>
            </a:r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Skema</a:t>
            </a:r>
          </a:p>
        </p:txBody>
      </p:sp>
      <p:sp>
        <p:nvSpPr>
          <p:cNvPr id="2" name="Google Shape;177;p27">
            <a:extLst>
              <a:ext uri="{FF2B5EF4-FFF2-40B4-BE49-F238E27FC236}">
                <a16:creationId xmlns:a16="http://schemas.microsoft.com/office/drawing/2014/main" id="{C0351A24-1BAB-3ADE-9DA2-EEE38CB1F31B}"/>
              </a:ext>
            </a:extLst>
          </p:cNvPr>
          <p:cNvSpPr txBox="1"/>
          <p:nvPr/>
        </p:nvSpPr>
        <p:spPr>
          <a:xfrm>
            <a:off x="4077730" y="81794"/>
            <a:ext cx="47945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Hasil dan </a:t>
            </a: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Pembahasan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Google Shape;168;p26">
            <a:extLst>
              <a:ext uri="{FF2B5EF4-FFF2-40B4-BE49-F238E27FC236}">
                <a16:creationId xmlns:a16="http://schemas.microsoft.com/office/drawing/2014/main" id="{85429170-292B-C03A-4540-C6278D27928A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22508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15A87009-D479-19DB-3681-B76D69BFC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descr="Icon&#10;&#10;Description automatically generated">
            <a:extLst>
              <a:ext uri="{FF2B5EF4-FFF2-40B4-BE49-F238E27FC236}">
                <a16:creationId xmlns:a16="http://schemas.microsoft.com/office/drawing/2014/main" id="{F23D50D1-903A-3998-7341-CAB4B740502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>
            <a:extLst>
              <a:ext uri="{FF2B5EF4-FFF2-40B4-BE49-F238E27FC236}">
                <a16:creationId xmlns:a16="http://schemas.microsoft.com/office/drawing/2014/main" id="{64CA2CE3-A7F3-1CB1-0E34-B6E704DC5B5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>
            <a:extLst>
              <a:ext uri="{FF2B5EF4-FFF2-40B4-BE49-F238E27FC236}">
                <a16:creationId xmlns:a16="http://schemas.microsoft.com/office/drawing/2014/main" id="{B7A7C4ED-18D4-A1E4-B8E7-7FA4110D9651}"/>
              </a:ext>
            </a:extLst>
          </p:cNvPr>
          <p:cNvSpPr/>
          <p:nvPr/>
        </p:nvSpPr>
        <p:spPr>
          <a:xfrm>
            <a:off x="8886389" y="256207"/>
            <a:ext cx="257700" cy="31680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7">
            <a:extLst>
              <a:ext uri="{FF2B5EF4-FFF2-40B4-BE49-F238E27FC236}">
                <a16:creationId xmlns:a16="http://schemas.microsoft.com/office/drawing/2014/main" id="{75C53EDC-7078-E3BA-113A-00CE69FC7FB1}"/>
              </a:ext>
            </a:extLst>
          </p:cNvPr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>
            <a:extLst>
              <a:ext uri="{FF2B5EF4-FFF2-40B4-BE49-F238E27FC236}">
                <a16:creationId xmlns:a16="http://schemas.microsoft.com/office/drawing/2014/main" id="{FAB0895E-9FE6-B1DC-40E5-D1AC4917D045}"/>
              </a:ext>
            </a:extLst>
          </p:cNvPr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>
            <a:extLst>
              <a:ext uri="{FF2B5EF4-FFF2-40B4-BE49-F238E27FC236}">
                <a16:creationId xmlns:a16="http://schemas.microsoft.com/office/drawing/2014/main" id="{FCE03F53-940C-0E33-2CAB-7700E7471610}"/>
              </a:ext>
            </a:extLst>
          </p:cNvPr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>
            <a:extLst>
              <a:ext uri="{FF2B5EF4-FFF2-40B4-BE49-F238E27FC236}">
                <a16:creationId xmlns:a16="http://schemas.microsoft.com/office/drawing/2014/main" id="{D8BD5341-5931-311E-7AE0-7343255E3407}"/>
              </a:ext>
            </a:extLst>
          </p:cNvPr>
          <p:cNvSpPr txBox="1"/>
          <p:nvPr/>
        </p:nvSpPr>
        <p:spPr>
          <a:xfrm>
            <a:off x="8730234" y="4871371"/>
            <a:ext cx="41376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205;p28">
            <a:extLst>
              <a:ext uri="{FF2B5EF4-FFF2-40B4-BE49-F238E27FC236}">
                <a16:creationId xmlns:a16="http://schemas.microsoft.com/office/drawing/2014/main" id="{741E245D-F188-1F46-E021-49BE3B61DF91}"/>
              </a:ext>
            </a:extLst>
          </p:cNvPr>
          <p:cNvSpPr/>
          <p:nvPr/>
        </p:nvSpPr>
        <p:spPr>
          <a:xfrm>
            <a:off x="0" y="1244462"/>
            <a:ext cx="5523355" cy="347625"/>
          </a:xfrm>
          <a:prstGeom prst="rect">
            <a:avLst/>
          </a:prstGeom>
          <a:gradFill>
            <a:gsLst>
              <a:gs pos="0">
                <a:srgbClr val="F5F7FC">
                  <a:alpha val="0"/>
                </a:srgbClr>
              </a:gs>
              <a:gs pos="73000">
                <a:srgbClr val="F5AA2D"/>
              </a:gs>
              <a:gs pos="100000">
                <a:srgbClr val="F5AA2D"/>
              </a:gs>
            </a:gsLst>
            <a:lin ang="10800025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206;p28">
                <a:extLst>
                  <a:ext uri="{FF2B5EF4-FFF2-40B4-BE49-F238E27FC236}">
                    <a16:creationId xmlns:a16="http://schemas.microsoft.com/office/drawing/2014/main" id="{4E07EFD7-A513-CA49-4203-4D8780449AB1}"/>
                  </a:ext>
                </a:extLst>
              </p:cNvPr>
              <p:cNvSpPr txBox="1"/>
              <p:nvPr/>
            </p:nvSpPr>
            <p:spPr>
              <a:xfrm>
                <a:off x="655987" y="1195227"/>
                <a:ext cx="5664851" cy="396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75" tIns="34275" rIns="68575" bIns="34275" anchor="b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lang="en-US" sz="1800" dirty="0">
                    <a:solidFill>
                      <a:schemeClr val="dk1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Konvergensi-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Poppins SemiBold"/>
                        <a:cs typeface="Poppins SemiBold"/>
                        <a:sym typeface="Poppins SemiBold"/>
                      </a:rPr>
                      <m:t>Δ</m:t>
                    </m:r>
                  </m:oMath>
                </a14:m>
                <a:r>
                  <a:rPr lang="en-US" sz="1800" dirty="0">
                    <a:solidFill>
                      <a:schemeClr val="dk1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 dan </a:t>
                </a:r>
                <a:r>
                  <a:rPr lang="en-US" sz="1800" dirty="0" err="1">
                    <a:solidFill>
                      <a:schemeClr val="dk1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kuat</a:t>
                </a:r>
                <a:endParaRPr sz="1800" dirty="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</mc:Choice>
        <mc:Fallback xmlns="">
          <p:sp>
            <p:nvSpPr>
              <p:cNvPr id="4" name="Google Shape;206;p28">
                <a:extLst>
                  <a:ext uri="{FF2B5EF4-FFF2-40B4-BE49-F238E27FC236}">
                    <a16:creationId xmlns:a16="http://schemas.microsoft.com/office/drawing/2014/main" id="{4E07EFD7-A513-CA49-4203-4D8780449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87" y="1195227"/>
                <a:ext cx="5664851" cy="396450"/>
              </a:xfrm>
              <a:prstGeom prst="rect">
                <a:avLst/>
              </a:prstGeom>
              <a:blipFill>
                <a:blip r:embed="rId6"/>
                <a:stretch>
                  <a:fillRect l="-1399" b="-2615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Google Shape;206;p28">
            <a:extLst>
              <a:ext uri="{FF2B5EF4-FFF2-40B4-BE49-F238E27FC236}">
                <a16:creationId xmlns:a16="http://schemas.microsoft.com/office/drawing/2014/main" id="{8E544223-7269-E9AD-FAD9-390BBC4771F4}"/>
              </a:ext>
            </a:extLst>
          </p:cNvPr>
          <p:cNvSpPr txBox="1"/>
          <p:nvPr/>
        </p:nvSpPr>
        <p:spPr>
          <a:xfrm>
            <a:off x="2245530" y="1197153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599A25E-D1E3-6759-467D-F44A281E8066}"/>
                  </a:ext>
                </a:extLst>
              </p:cNvPr>
              <p:cNvSpPr txBox="1"/>
              <p:nvPr/>
            </p:nvSpPr>
            <p:spPr>
              <a:xfrm>
                <a:off x="655986" y="1666810"/>
                <a:ext cx="8158500" cy="17757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SzPct val="100000"/>
                </a:pP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Diberikan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𝑋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adalah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𝐶𝐴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𝑇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yang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lengkap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𝑊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adalah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himpunan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bagian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tak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kosong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dari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𝑋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yang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tertutup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dan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konveks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. Jika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𝑇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: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𝑊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→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𝑊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adalah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pemetaan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𝜶</m:t>
                        </m:r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𝜷</m:t>
                        </m:r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𝜸</m:t>
                        </m:r>
                      </m:e>
                    </m:d>
                  </m:oMath>
                </a14:m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-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nonekspansif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dengan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𝑭𝒊𝒙</m:t>
                    </m:r>
                    <m:d>
                      <m:dPr>
                        <m:ctrlPr>
                          <a:rPr lang="en-US" sz="180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𝑻</m:t>
                        </m:r>
                      </m:e>
                    </m:d>
                    <m:r>
                      <a:rPr lang="en-US" sz="1800" b="1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≠∅</m:t>
                    </m:r>
                  </m:oMath>
                </a14:m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dan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adalah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barisan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yang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dikonstruksi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melalui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skema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iterasi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Sabri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dengan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⊆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𝑎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𝑏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⊂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,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maka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konvergen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-</a:t>
                </a:r>
                <a14:m>
                  <m:oMath xmlns:m="http://schemas.openxmlformats.org/officeDocument/2006/math">
                    <m:r>
                      <a:rPr lang="en-US" sz="1800" b="1" i="0" dirty="0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𝚫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ke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suatu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titik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tetap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dari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𝑇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. Jika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𝑾</m:t>
                    </m:r>
                  </m:oMath>
                </a14:m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kompak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,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maka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konvergen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kuat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599A25E-D1E3-6759-467D-F44A281E80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86" y="1666810"/>
                <a:ext cx="8158500" cy="1775743"/>
              </a:xfrm>
              <a:prstGeom prst="rect">
                <a:avLst/>
              </a:prstGeom>
              <a:blipFill>
                <a:blip r:embed="rId7"/>
                <a:stretch>
                  <a:fillRect l="-673" t="-1370" r="-598" b="-411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BE589FD-1F29-321D-DA49-195EE027B5C8}"/>
              </a:ext>
            </a:extLst>
          </p:cNvPr>
          <p:cNvSpPr txBox="1">
            <a:spLocks/>
          </p:cNvSpPr>
          <p:nvPr/>
        </p:nvSpPr>
        <p:spPr>
          <a:xfrm>
            <a:off x="313179" y="730194"/>
            <a:ext cx="7413913" cy="4447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2.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Konvergensi</a:t>
            </a:r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Skema</a:t>
            </a:r>
          </a:p>
        </p:txBody>
      </p:sp>
      <p:sp>
        <p:nvSpPr>
          <p:cNvPr id="2" name="Google Shape;177;p27">
            <a:extLst>
              <a:ext uri="{FF2B5EF4-FFF2-40B4-BE49-F238E27FC236}">
                <a16:creationId xmlns:a16="http://schemas.microsoft.com/office/drawing/2014/main" id="{92510EED-F749-6A6C-302F-BADF9AC1C2D3}"/>
              </a:ext>
            </a:extLst>
          </p:cNvPr>
          <p:cNvSpPr txBox="1"/>
          <p:nvPr/>
        </p:nvSpPr>
        <p:spPr>
          <a:xfrm>
            <a:off x="4077730" y="81794"/>
            <a:ext cx="47945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Hasil dan </a:t>
            </a: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Pembahasan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Google Shape;168;p26">
            <a:extLst>
              <a:ext uri="{FF2B5EF4-FFF2-40B4-BE49-F238E27FC236}">
                <a16:creationId xmlns:a16="http://schemas.microsoft.com/office/drawing/2014/main" id="{BEF063BD-7685-CC22-6019-A2D5E24920E0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57174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E371136-143A-9BD6-C7F5-2C2697D52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descr="Icon&#10;&#10;Description automatically generated">
            <a:extLst>
              <a:ext uri="{FF2B5EF4-FFF2-40B4-BE49-F238E27FC236}">
                <a16:creationId xmlns:a16="http://schemas.microsoft.com/office/drawing/2014/main" id="{A366D084-5D3C-EEA9-67D5-9CE11E2E651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>
            <a:extLst>
              <a:ext uri="{FF2B5EF4-FFF2-40B4-BE49-F238E27FC236}">
                <a16:creationId xmlns:a16="http://schemas.microsoft.com/office/drawing/2014/main" id="{A1806EB9-BA57-2950-5CE1-FC0AF16770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>
            <a:extLst>
              <a:ext uri="{FF2B5EF4-FFF2-40B4-BE49-F238E27FC236}">
                <a16:creationId xmlns:a16="http://schemas.microsoft.com/office/drawing/2014/main" id="{5AC0135A-26C6-5B89-2532-FE8155D496B9}"/>
              </a:ext>
            </a:extLst>
          </p:cNvPr>
          <p:cNvSpPr/>
          <p:nvPr/>
        </p:nvSpPr>
        <p:spPr>
          <a:xfrm>
            <a:off x="8886389" y="256207"/>
            <a:ext cx="257700" cy="31680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7">
            <a:extLst>
              <a:ext uri="{FF2B5EF4-FFF2-40B4-BE49-F238E27FC236}">
                <a16:creationId xmlns:a16="http://schemas.microsoft.com/office/drawing/2014/main" id="{BC3F33CE-6B6B-619B-671B-0D6D827BA9FD}"/>
              </a:ext>
            </a:extLst>
          </p:cNvPr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>
            <a:extLst>
              <a:ext uri="{FF2B5EF4-FFF2-40B4-BE49-F238E27FC236}">
                <a16:creationId xmlns:a16="http://schemas.microsoft.com/office/drawing/2014/main" id="{0FC2BB83-B0E3-DC09-93D9-CA0ACE332E85}"/>
              </a:ext>
            </a:extLst>
          </p:cNvPr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>
            <a:extLst>
              <a:ext uri="{FF2B5EF4-FFF2-40B4-BE49-F238E27FC236}">
                <a16:creationId xmlns:a16="http://schemas.microsoft.com/office/drawing/2014/main" id="{A6AF22A3-720C-E877-4B68-B15B4B6CAD7A}"/>
              </a:ext>
            </a:extLst>
          </p:cNvPr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>
            <a:extLst>
              <a:ext uri="{FF2B5EF4-FFF2-40B4-BE49-F238E27FC236}">
                <a16:creationId xmlns:a16="http://schemas.microsoft.com/office/drawing/2014/main" id="{2EC1B19B-6198-40DD-D87F-B5985E9329CD}"/>
              </a:ext>
            </a:extLst>
          </p:cNvPr>
          <p:cNvSpPr txBox="1"/>
          <p:nvPr/>
        </p:nvSpPr>
        <p:spPr>
          <a:xfrm>
            <a:off x="8730234" y="4871371"/>
            <a:ext cx="41376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205;p28">
            <a:extLst>
              <a:ext uri="{FF2B5EF4-FFF2-40B4-BE49-F238E27FC236}">
                <a16:creationId xmlns:a16="http://schemas.microsoft.com/office/drawing/2014/main" id="{6EF5788B-C041-43FC-6541-1FF2F8EAE246}"/>
              </a:ext>
            </a:extLst>
          </p:cNvPr>
          <p:cNvSpPr/>
          <p:nvPr/>
        </p:nvSpPr>
        <p:spPr>
          <a:xfrm>
            <a:off x="0" y="1244462"/>
            <a:ext cx="5523355" cy="347625"/>
          </a:xfrm>
          <a:prstGeom prst="rect">
            <a:avLst/>
          </a:prstGeom>
          <a:gradFill>
            <a:gsLst>
              <a:gs pos="0">
                <a:srgbClr val="F5F7FC">
                  <a:alpha val="0"/>
                </a:srgbClr>
              </a:gs>
              <a:gs pos="73000">
                <a:srgbClr val="F5AA2D"/>
              </a:gs>
              <a:gs pos="100000">
                <a:srgbClr val="F5AA2D"/>
              </a:gs>
            </a:gsLst>
            <a:lin ang="10800025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06;p28">
            <a:extLst>
              <a:ext uri="{FF2B5EF4-FFF2-40B4-BE49-F238E27FC236}">
                <a16:creationId xmlns:a16="http://schemas.microsoft.com/office/drawing/2014/main" id="{7A503A3D-773B-5223-9867-C3F7171FC0F1}"/>
              </a:ext>
            </a:extLst>
          </p:cNvPr>
          <p:cNvSpPr txBox="1"/>
          <p:nvPr/>
        </p:nvSpPr>
        <p:spPr>
          <a:xfrm>
            <a:off x="655987" y="1195227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Parameter yang </a:t>
            </a:r>
            <a:r>
              <a:rPr lang="en-US" sz="1800" dirty="0" err="1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digunakan</a:t>
            </a: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" name="Google Shape;206;p28">
            <a:extLst>
              <a:ext uri="{FF2B5EF4-FFF2-40B4-BE49-F238E27FC236}">
                <a16:creationId xmlns:a16="http://schemas.microsoft.com/office/drawing/2014/main" id="{C626ED6D-024E-3793-8DF7-068FA456A802}"/>
              </a:ext>
            </a:extLst>
          </p:cNvPr>
          <p:cNvSpPr txBox="1"/>
          <p:nvPr/>
        </p:nvSpPr>
        <p:spPr>
          <a:xfrm>
            <a:off x="2245530" y="1197153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FCB6B1A-898D-E09F-E717-8F3CFB476951}"/>
                  </a:ext>
                </a:extLst>
              </p:cNvPr>
              <p:cNvSpPr txBox="1"/>
              <p:nvPr/>
            </p:nvSpPr>
            <p:spPr>
              <a:xfrm>
                <a:off x="655986" y="1666810"/>
                <a:ext cx="8158500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SzPct val="100000"/>
                </a:pP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Bahasa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pemrograman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: Python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dengan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Google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Colab</a:t>
                </a:r>
                <a:endParaRPr lang="en-US" sz="18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algn="just">
                  <a:buSzPct val="100000"/>
                </a:pP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Pemetaan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: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Contoh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2,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dengan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titik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tetap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1, 1, 0, 0, …</m:t>
                        </m:r>
                      </m:e>
                    </m:d>
                  </m:oMath>
                </a14:m>
                <a:endParaRPr lang="en-US" sz="18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algn="just">
                  <a:buSzPct val="100000"/>
                </a:pP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Skema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iterasi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: Sabri, JK, Thakur, Agarwal, Abbas</a:t>
                </a:r>
              </a:p>
              <a:p>
                <a:pPr algn="just">
                  <a:buSzPct val="100000"/>
                </a:pP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Nilai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awal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0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=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2, 3, 0, 0, …</m:t>
                        </m:r>
                      </m:e>
                    </m:d>
                  </m:oMath>
                </a14:m>
                <a:endParaRPr lang="en-US" sz="18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algn="just">
                  <a:buSzPct val="100000"/>
                </a:pP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Parameter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iterasi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𝑎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𝑛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=0.42, 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𝑏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𝑛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=0.83, 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𝑐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𝑛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=0.31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untuk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setiap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𝑛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∈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ℕ</m:t>
                    </m:r>
                  </m:oMath>
                </a14:m>
                <a:endParaRPr lang="en-US" sz="18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algn="just">
                  <a:buSzPct val="100000"/>
                </a:pP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Galat :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𝑑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&lt;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10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−6</m:t>
                        </m:r>
                      </m:sup>
                    </m:sSup>
                  </m:oMath>
                </a14:m>
                <a:endParaRPr lang="en-US" sz="18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FCB6B1A-898D-E09F-E717-8F3CFB476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86" y="1666810"/>
                <a:ext cx="8158500" cy="1754326"/>
              </a:xfrm>
              <a:prstGeom prst="rect">
                <a:avLst/>
              </a:prstGeom>
              <a:blipFill>
                <a:blip r:embed="rId5"/>
                <a:stretch>
                  <a:fillRect l="-673" t="-1736" b="-451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5C79E0FB-C98C-284A-B1DD-0D55357BB467}"/>
              </a:ext>
            </a:extLst>
          </p:cNvPr>
          <p:cNvSpPr txBox="1">
            <a:spLocks/>
          </p:cNvSpPr>
          <p:nvPr/>
        </p:nvSpPr>
        <p:spPr>
          <a:xfrm>
            <a:off x="313179" y="730194"/>
            <a:ext cx="7413913" cy="4447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3.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Percobaan</a:t>
            </a:r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Numerik</a:t>
            </a:r>
            <a:endParaRPr lang="en-US" dirty="0">
              <a:solidFill>
                <a:srgbClr val="002060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Google Shape;177;p27">
            <a:extLst>
              <a:ext uri="{FF2B5EF4-FFF2-40B4-BE49-F238E27FC236}">
                <a16:creationId xmlns:a16="http://schemas.microsoft.com/office/drawing/2014/main" id="{5AE0E3D4-2971-2095-7554-AAEE6EEF81FD}"/>
              </a:ext>
            </a:extLst>
          </p:cNvPr>
          <p:cNvSpPr txBox="1"/>
          <p:nvPr/>
        </p:nvSpPr>
        <p:spPr>
          <a:xfrm>
            <a:off x="4077730" y="81794"/>
            <a:ext cx="47945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Hasil dan </a:t>
            </a: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Pembahasan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" name="Google Shape;168;p26">
            <a:extLst>
              <a:ext uri="{FF2B5EF4-FFF2-40B4-BE49-F238E27FC236}">
                <a16:creationId xmlns:a16="http://schemas.microsoft.com/office/drawing/2014/main" id="{30EF0480-E6B1-8A24-5D8A-15781397ECB4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85952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BA3BB5F8-9925-ABBD-6D49-558E6C820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descr="Icon&#10;&#10;Description automatically generated">
            <a:extLst>
              <a:ext uri="{FF2B5EF4-FFF2-40B4-BE49-F238E27FC236}">
                <a16:creationId xmlns:a16="http://schemas.microsoft.com/office/drawing/2014/main" id="{A6599FE8-D13B-B646-BFF3-BE95E2C973C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>
            <a:extLst>
              <a:ext uri="{FF2B5EF4-FFF2-40B4-BE49-F238E27FC236}">
                <a16:creationId xmlns:a16="http://schemas.microsoft.com/office/drawing/2014/main" id="{943240DF-79E1-D3CD-39AF-3AA30EF237F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>
            <a:extLst>
              <a:ext uri="{FF2B5EF4-FFF2-40B4-BE49-F238E27FC236}">
                <a16:creationId xmlns:a16="http://schemas.microsoft.com/office/drawing/2014/main" id="{568EDAE9-7F03-7E45-A0FA-0565E8099E1F}"/>
              </a:ext>
            </a:extLst>
          </p:cNvPr>
          <p:cNvSpPr/>
          <p:nvPr/>
        </p:nvSpPr>
        <p:spPr>
          <a:xfrm>
            <a:off x="8886389" y="256207"/>
            <a:ext cx="257700" cy="31680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7">
            <a:extLst>
              <a:ext uri="{FF2B5EF4-FFF2-40B4-BE49-F238E27FC236}">
                <a16:creationId xmlns:a16="http://schemas.microsoft.com/office/drawing/2014/main" id="{E833AE8F-A2C5-4B96-81A3-F2BAFEF894A6}"/>
              </a:ext>
            </a:extLst>
          </p:cNvPr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>
            <a:extLst>
              <a:ext uri="{FF2B5EF4-FFF2-40B4-BE49-F238E27FC236}">
                <a16:creationId xmlns:a16="http://schemas.microsoft.com/office/drawing/2014/main" id="{EC26F40E-DD68-C793-5CE9-9D44A5257660}"/>
              </a:ext>
            </a:extLst>
          </p:cNvPr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>
            <a:extLst>
              <a:ext uri="{FF2B5EF4-FFF2-40B4-BE49-F238E27FC236}">
                <a16:creationId xmlns:a16="http://schemas.microsoft.com/office/drawing/2014/main" id="{1155602D-5A80-2F95-23F6-BBA9BB7FD642}"/>
              </a:ext>
            </a:extLst>
          </p:cNvPr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>
            <a:extLst>
              <a:ext uri="{FF2B5EF4-FFF2-40B4-BE49-F238E27FC236}">
                <a16:creationId xmlns:a16="http://schemas.microsoft.com/office/drawing/2014/main" id="{F98410CC-DD05-A0B1-5942-6B522535AA79}"/>
              </a:ext>
            </a:extLst>
          </p:cNvPr>
          <p:cNvSpPr txBox="1"/>
          <p:nvPr/>
        </p:nvSpPr>
        <p:spPr>
          <a:xfrm>
            <a:off x="8730234" y="4871371"/>
            <a:ext cx="41376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205;p28">
            <a:extLst>
              <a:ext uri="{FF2B5EF4-FFF2-40B4-BE49-F238E27FC236}">
                <a16:creationId xmlns:a16="http://schemas.microsoft.com/office/drawing/2014/main" id="{78FE597E-9B9C-F7D3-2BCD-561E12BBE9CD}"/>
              </a:ext>
            </a:extLst>
          </p:cNvPr>
          <p:cNvSpPr/>
          <p:nvPr/>
        </p:nvSpPr>
        <p:spPr>
          <a:xfrm>
            <a:off x="0" y="1244462"/>
            <a:ext cx="5523355" cy="347625"/>
          </a:xfrm>
          <a:prstGeom prst="rect">
            <a:avLst/>
          </a:prstGeom>
          <a:gradFill>
            <a:gsLst>
              <a:gs pos="0">
                <a:srgbClr val="F5F7FC">
                  <a:alpha val="0"/>
                </a:srgbClr>
              </a:gs>
              <a:gs pos="73000">
                <a:srgbClr val="F5AA2D"/>
              </a:gs>
              <a:gs pos="100000">
                <a:srgbClr val="F5AA2D"/>
              </a:gs>
            </a:gsLst>
            <a:lin ang="10800025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06;p28">
            <a:extLst>
              <a:ext uri="{FF2B5EF4-FFF2-40B4-BE49-F238E27FC236}">
                <a16:creationId xmlns:a16="http://schemas.microsoft.com/office/drawing/2014/main" id="{EA13FB61-3EBC-3D70-1BB8-68F0048E3EA1}"/>
              </a:ext>
            </a:extLst>
          </p:cNvPr>
          <p:cNvSpPr txBox="1"/>
          <p:nvPr/>
        </p:nvSpPr>
        <p:spPr>
          <a:xfrm>
            <a:off x="655987" y="1195227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Hasil </a:t>
            </a: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" name="Google Shape;206;p28">
            <a:extLst>
              <a:ext uri="{FF2B5EF4-FFF2-40B4-BE49-F238E27FC236}">
                <a16:creationId xmlns:a16="http://schemas.microsoft.com/office/drawing/2014/main" id="{BE6F5FD0-8384-715A-AFA8-1C13ED609C62}"/>
              </a:ext>
            </a:extLst>
          </p:cNvPr>
          <p:cNvSpPr txBox="1"/>
          <p:nvPr/>
        </p:nvSpPr>
        <p:spPr>
          <a:xfrm>
            <a:off x="2245530" y="1197153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EE5D7668-59BE-9A6F-1724-A83EC616005A}"/>
              </a:ext>
            </a:extLst>
          </p:cNvPr>
          <p:cNvSpPr txBox="1">
            <a:spLocks/>
          </p:cNvSpPr>
          <p:nvPr/>
        </p:nvSpPr>
        <p:spPr>
          <a:xfrm>
            <a:off x="313179" y="730194"/>
            <a:ext cx="7413913" cy="4447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3.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Percobaan</a:t>
            </a:r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Numerik</a:t>
            </a:r>
            <a:endParaRPr lang="en-US" dirty="0">
              <a:solidFill>
                <a:srgbClr val="002060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Google Shape;177;p27">
            <a:extLst>
              <a:ext uri="{FF2B5EF4-FFF2-40B4-BE49-F238E27FC236}">
                <a16:creationId xmlns:a16="http://schemas.microsoft.com/office/drawing/2014/main" id="{BC64F6DA-75BA-F4F1-8A73-5AE771099930}"/>
              </a:ext>
            </a:extLst>
          </p:cNvPr>
          <p:cNvSpPr txBox="1"/>
          <p:nvPr/>
        </p:nvSpPr>
        <p:spPr>
          <a:xfrm>
            <a:off x="4077730" y="81794"/>
            <a:ext cx="47945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Hasil dan </a:t>
            </a: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Pembahasan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66BA17-2B14-F533-F794-C1A8ED4A96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7481" y="1839678"/>
            <a:ext cx="5329037" cy="2272176"/>
          </a:xfrm>
          <a:prstGeom prst="rect">
            <a:avLst/>
          </a:prstGeom>
        </p:spPr>
      </p:pic>
      <p:sp>
        <p:nvSpPr>
          <p:cNvPr id="10" name="Google Shape;168;p26">
            <a:extLst>
              <a:ext uri="{FF2B5EF4-FFF2-40B4-BE49-F238E27FC236}">
                <a16:creationId xmlns:a16="http://schemas.microsoft.com/office/drawing/2014/main" id="{F138CD5E-20A8-6106-4FC6-3D69C018CCFC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98240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B09A6D9-3411-7230-0E13-96F02D14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descr="Icon&#10;&#10;Description automatically generated">
            <a:extLst>
              <a:ext uri="{FF2B5EF4-FFF2-40B4-BE49-F238E27FC236}">
                <a16:creationId xmlns:a16="http://schemas.microsoft.com/office/drawing/2014/main" id="{59568535-4657-8C00-C70D-1CD4D1393AD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>
            <a:extLst>
              <a:ext uri="{FF2B5EF4-FFF2-40B4-BE49-F238E27FC236}">
                <a16:creationId xmlns:a16="http://schemas.microsoft.com/office/drawing/2014/main" id="{C98C1FD0-C071-E5CE-4024-A9B644BF633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>
            <a:extLst>
              <a:ext uri="{FF2B5EF4-FFF2-40B4-BE49-F238E27FC236}">
                <a16:creationId xmlns:a16="http://schemas.microsoft.com/office/drawing/2014/main" id="{FA78A3ED-75DB-958A-DC04-38BE4F82C4FD}"/>
              </a:ext>
            </a:extLst>
          </p:cNvPr>
          <p:cNvSpPr/>
          <p:nvPr/>
        </p:nvSpPr>
        <p:spPr>
          <a:xfrm>
            <a:off x="8886389" y="256207"/>
            <a:ext cx="257700" cy="31680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7">
            <a:extLst>
              <a:ext uri="{FF2B5EF4-FFF2-40B4-BE49-F238E27FC236}">
                <a16:creationId xmlns:a16="http://schemas.microsoft.com/office/drawing/2014/main" id="{1F61D87E-EA08-9F84-7C2A-BEDEA2994E68}"/>
              </a:ext>
            </a:extLst>
          </p:cNvPr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>
            <a:extLst>
              <a:ext uri="{FF2B5EF4-FFF2-40B4-BE49-F238E27FC236}">
                <a16:creationId xmlns:a16="http://schemas.microsoft.com/office/drawing/2014/main" id="{9AE63BA0-9D44-497E-789A-BB9FFBDAFBD2}"/>
              </a:ext>
            </a:extLst>
          </p:cNvPr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>
            <a:extLst>
              <a:ext uri="{FF2B5EF4-FFF2-40B4-BE49-F238E27FC236}">
                <a16:creationId xmlns:a16="http://schemas.microsoft.com/office/drawing/2014/main" id="{74406D31-5EA4-F915-1F10-34B5E789ABCC}"/>
              </a:ext>
            </a:extLst>
          </p:cNvPr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>
            <a:extLst>
              <a:ext uri="{FF2B5EF4-FFF2-40B4-BE49-F238E27FC236}">
                <a16:creationId xmlns:a16="http://schemas.microsoft.com/office/drawing/2014/main" id="{2E9FF566-34BA-4D42-BD44-F761975BFF44}"/>
              </a:ext>
            </a:extLst>
          </p:cNvPr>
          <p:cNvSpPr txBox="1"/>
          <p:nvPr/>
        </p:nvSpPr>
        <p:spPr>
          <a:xfrm>
            <a:off x="8730234" y="4871371"/>
            <a:ext cx="41376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5A5A5"/>
                </a:solidFill>
              </a:rPr>
              <a:t>30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205;p28">
            <a:extLst>
              <a:ext uri="{FF2B5EF4-FFF2-40B4-BE49-F238E27FC236}">
                <a16:creationId xmlns:a16="http://schemas.microsoft.com/office/drawing/2014/main" id="{07A451CB-500E-43F4-7BE6-6B0131388D2D}"/>
              </a:ext>
            </a:extLst>
          </p:cNvPr>
          <p:cNvSpPr/>
          <p:nvPr/>
        </p:nvSpPr>
        <p:spPr>
          <a:xfrm>
            <a:off x="0" y="1244462"/>
            <a:ext cx="5523355" cy="347625"/>
          </a:xfrm>
          <a:prstGeom prst="rect">
            <a:avLst/>
          </a:prstGeom>
          <a:gradFill>
            <a:gsLst>
              <a:gs pos="0">
                <a:srgbClr val="F5F7FC">
                  <a:alpha val="0"/>
                </a:srgbClr>
              </a:gs>
              <a:gs pos="73000">
                <a:srgbClr val="F5AA2D"/>
              </a:gs>
              <a:gs pos="100000">
                <a:srgbClr val="F5AA2D"/>
              </a:gs>
            </a:gsLst>
            <a:lin ang="10800025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06;p28">
            <a:extLst>
              <a:ext uri="{FF2B5EF4-FFF2-40B4-BE49-F238E27FC236}">
                <a16:creationId xmlns:a16="http://schemas.microsoft.com/office/drawing/2014/main" id="{240F563C-9E02-581C-1479-D827E62F0AB5}"/>
              </a:ext>
            </a:extLst>
          </p:cNvPr>
          <p:cNvSpPr txBox="1"/>
          <p:nvPr/>
        </p:nvSpPr>
        <p:spPr>
          <a:xfrm>
            <a:off x="655987" y="1195227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Hasil </a:t>
            </a: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" name="Google Shape;206;p28">
            <a:extLst>
              <a:ext uri="{FF2B5EF4-FFF2-40B4-BE49-F238E27FC236}">
                <a16:creationId xmlns:a16="http://schemas.microsoft.com/office/drawing/2014/main" id="{DF03266A-FF28-0947-6807-ACF02AD4A9EE}"/>
              </a:ext>
            </a:extLst>
          </p:cNvPr>
          <p:cNvSpPr txBox="1"/>
          <p:nvPr/>
        </p:nvSpPr>
        <p:spPr>
          <a:xfrm>
            <a:off x="2245530" y="1197153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DD3BB4EE-693C-F44E-11C8-A004900D8140}"/>
              </a:ext>
            </a:extLst>
          </p:cNvPr>
          <p:cNvSpPr txBox="1">
            <a:spLocks/>
          </p:cNvSpPr>
          <p:nvPr/>
        </p:nvSpPr>
        <p:spPr>
          <a:xfrm>
            <a:off x="313179" y="730194"/>
            <a:ext cx="7413913" cy="4447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3.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Percobaan</a:t>
            </a:r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Numerik</a:t>
            </a:r>
            <a:endParaRPr lang="en-US" dirty="0">
              <a:solidFill>
                <a:srgbClr val="002060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Google Shape;177;p27">
            <a:extLst>
              <a:ext uri="{FF2B5EF4-FFF2-40B4-BE49-F238E27FC236}">
                <a16:creationId xmlns:a16="http://schemas.microsoft.com/office/drawing/2014/main" id="{34A3BAEB-45E5-8F71-9C6E-B90BBA68A397}"/>
              </a:ext>
            </a:extLst>
          </p:cNvPr>
          <p:cNvSpPr txBox="1"/>
          <p:nvPr/>
        </p:nvSpPr>
        <p:spPr>
          <a:xfrm>
            <a:off x="4077730" y="81794"/>
            <a:ext cx="47945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Hasil dan </a:t>
            </a: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Pembahasan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D68A45-11D3-1C31-9856-C7A696A2E5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2068" y="1890650"/>
            <a:ext cx="5219863" cy="2299469"/>
          </a:xfrm>
          <a:prstGeom prst="rect">
            <a:avLst/>
          </a:prstGeom>
        </p:spPr>
      </p:pic>
      <p:sp>
        <p:nvSpPr>
          <p:cNvPr id="10" name="Google Shape;168;p26">
            <a:extLst>
              <a:ext uri="{FF2B5EF4-FFF2-40B4-BE49-F238E27FC236}">
                <a16:creationId xmlns:a16="http://schemas.microsoft.com/office/drawing/2014/main" id="{05115980-F9E9-83CC-C412-87EAEA17F1DD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97168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06646068-7095-CEC5-B7C3-FD244D6D4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descr="Icon&#10;&#10;Description automatically generated">
            <a:extLst>
              <a:ext uri="{FF2B5EF4-FFF2-40B4-BE49-F238E27FC236}">
                <a16:creationId xmlns:a16="http://schemas.microsoft.com/office/drawing/2014/main" id="{5A63EA84-E854-E7F2-CE69-31D72FFE39D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>
            <a:extLst>
              <a:ext uri="{FF2B5EF4-FFF2-40B4-BE49-F238E27FC236}">
                <a16:creationId xmlns:a16="http://schemas.microsoft.com/office/drawing/2014/main" id="{64ECDC6F-0097-F937-A84D-8A03EC7A485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>
            <a:extLst>
              <a:ext uri="{FF2B5EF4-FFF2-40B4-BE49-F238E27FC236}">
                <a16:creationId xmlns:a16="http://schemas.microsoft.com/office/drawing/2014/main" id="{07EF7B36-64DE-C177-4AA8-03BBECFEED12}"/>
              </a:ext>
            </a:extLst>
          </p:cNvPr>
          <p:cNvSpPr/>
          <p:nvPr/>
        </p:nvSpPr>
        <p:spPr>
          <a:xfrm>
            <a:off x="8886389" y="256207"/>
            <a:ext cx="257700" cy="31680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7">
            <a:extLst>
              <a:ext uri="{FF2B5EF4-FFF2-40B4-BE49-F238E27FC236}">
                <a16:creationId xmlns:a16="http://schemas.microsoft.com/office/drawing/2014/main" id="{7EF6B469-FA09-E654-FBD1-6F325D0091A6}"/>
              </a:ext>
            </a:extLst>
          </p:cNvPr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>
            <a:extLst>
              <a:ext uri="{FF2B5EF4-FFF2-40B4-BE49-F238E27FC236}">
                <a16:creationId xmlns:a16="http://schemas.microsoft.com/office/drawing/2014/main" id="{41075119-86E2-DF77-CB2B-FF92F43E3F9D}"/>
              </a:ext>
            </a:extLst>
          </p:cNvPr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>
            <a:extLst>
              <a:ext uri="{FF2B5EF4-FFF2-40B4-BE49-F238E27FC236}">
                <a16:creationId xmlns:a16="http://schemas.microsoft.com/office/drawing/2014/main" id="{4A2F7FE2-A179-23F5-145F-E4FD8BF4B8F5}"/>
              </a:ext>
            </a:extLst>
          </p:cNvPr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>
            <a:extLst>
              <a:ext uri="{FF2B5EF4-FFF2-40B4-BE49-F238E27FC236}">
                <a16:creationId xmlns:a16="http://schemas.microsoft.com/office/drawing/2014/main" id="{9EA97EC6-413C-5732-F43D-D95CA0C745B3}"/>
              </a:ext>
            </a:extLst>
          </p:cNvPr>
          <p:cNvSpPr txBox="1"/>
          <p:nvPr/>
        </p:nvSpPr>
        <p:spPr>
          <a:xfrm>
            <a:off x="8730234" y="4871371"/>
            <a:ext cx="41376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205;p28">
            <a:extLst>
              <a:ext uri="{FF2B5EF4-FFF2-40B4-BE49-F238E27FC236}">
                <a16:creationId xmlns:a16="http://schemas.microsoft.com/office/drawing/2014/main" id="{14A04D4C-D78F-DF95-0240-540EB323DDAF}"/>
              </a:ext>
            </a:extLst>
          </p:cNvPr>
          <p:cNvSpPr/>
          <p:nvPr/>
        </p:nvSpPr>
        <p:spPr>
          <a:xfrm>
            <a:off x="0" y="1244462"/>
            <a:ext cx="5523355" cy="347625"/>
          </a:xfrm>
          <a:prstGeom prst="rect">
            <a:avLst/>
          </a:prstGeom>
          <a:gradFill>
            <a:gsLst>
              <a:gs pos="0">
                <a:srgbClr val="F5F7FC">
                  <a:alpha val="0"/>
                </a:srgbClr>
              </a:gs>
              <a:gs pos="73000">
                <a:srgbClr val="F5AA2D"/>
              </a:gs>
              <a:gs pos="100000">
                <a:srgbClr val="F5AA2D"/>
              </a:gs>
            </a:gsLst>
            <a:lin ang="10800025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06;p28">
            <a:extLst>
              <a:ext uri="{FF2B5EF4-FFF2-40B4-BE49-F238E27FC236}">
                <a16:creationId xmlns:a16="http://schemas.microsoft.com/office/drawing/2014/main" id="{91908CE5-4212-01B2-65B2-F5A4349E7094}"/>
              </a:ext>
            </a:extLst>
          </p:cNvPr>
          <p:cNvSpPr txBox="1"/>
          <p:nvPr/>
        </p:nvSpPr>
        <p:spPr>
          <a:xfrm>
            <a:off x="655987" y="1195227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Hasil </a:t>
            </a: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" name="Google Shape;206;p28">
            <a:extLst>
              <a:ext uri="{FF2B5EF4-FFF2-40B4-BE49-F238E27FC236}">
                <a16:creationId xmlns:a16="http://schemas.microsoft.com/office/drawing/2014/main" id="{57294EBB-801B-7E16-C5E4-D394EF6D68A8}"/>
              </a:ext>
            </a:extLst>
          </p:cNvPr>
          <p:cNvSpPr txBox="1"/>
          <p:nvPr/>
        </p:nvSpPr>
        <p:spPr>
          <a:xfrm>
            <a:off x="2245530" y="1197153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9DF99A2-3C72-1003-3B41-0C038DC9321C}"/>
              </a:ext>
            </a:extLst>
          </p:cNvPr>
          <p:cNvSpPr txBox="1">
            <a:spLocks/>
          </p:cNvSpPr>
          <p:nvPr/>
        </p:nvSpPr>
        <p:spPr>
          <a:xfrm>
            <a:off x="313179" y="730194"/>
            <a:ext cx="7413913" cy="4447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3.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Percobaan</a:t>
            </a:r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Numerik</a:t>
            </a:r>
            <a:endParaRPr lang="en-US" dirty="0">
              <a:solidFill>
                <a:srgbClr val="002060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Google Shape;177;p27">
            <a:extLst>
              <a:ext uri="{FF2B5EF4-FFF2-40B4-BE49-F238E27FC236}">
                <a16:creationId xmlns:a16="http://schemas.microsoft.com/office/drawing/2014/main" id="{F0F2B143-058E-33AB-FD51-026413D86CA7}"/>
              </a:ext>
            </a:extLst>
          </p:cNvPr>
          <p:cNvSpPr txBox="1"/>
          <p:nvPr/>
        </p:nvSpPr>
        <p:spPr>
          <a:xfrm>
            <a:off x="4077730" y="81794"/>
            <a:ext cx="47945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Hasil dan </a:t>
            </a: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Pembahasan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314889-6284-DEC6-9F16-48544F8073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5480" y="1730204"/>
            <a:ext cx="5213040" cy="2722517"/>
          </a:xfrm>
          <a:prstGeom prst="rect">
            <a:avLst/>
          </a:prstGeom>
        </p:spPr>
      </p:pic>
      <p:sp>
        <p:nvSpPr>
          <p:cNvPr id="10" name="Google Shape;168;p26">
            <a:extLst>
              <a:ext uri="{FF2B5EF4-FFF2-40B4-BE49-F238E27FC236}">
                <a16:creationId xmlns:a16="http://schemas.microsoft.com/office/drawing/2014/main" id="{A7F5814C-3F29-EB00-B7F7-9914C9F344A0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91946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1AB448F7-2B0A-E487-9427-FE9000B6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descr="Icon&#10;&#10;Description automatically generated">
            <a:extLst>
              <a:ext uri="{FF2B5EF4-FFF2-40B4-BE49-F238E27FC236}">
                <a16:creationId xmlns:a16="http://schemas.microsoft.com/office/drawing/2014/main" id="{B431F946-4B62-98C0-CDA1-4C454A5127D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>
            <a:extLst>
              <a:ext uri="{FF2B5EF4-FFF2-40B4-BE49-F238E27FC236}">
                <a16:creationId xmlns:a16="http://schemas.microsoft.com/office/drawing/2014/main" id="{79C0A676-17E5-BD3B-10A3-065E703613A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>
            <a:extLst>
              <a:ext uri="{FF2B5EF4-FFF2-40B4-BE49-F238E27FC236}">
                <a16:creationId xmlns:a16="http://schemas.microsoft.com/office/drawing/2014/main" id="{37F705FA-83B8-F73D-8316-42BFB6D1D0A1}"/>
              </a:ext>
            </a:extLst>
          </p:cNvPr>
          <p:cNvSpPr/>
          <p:nvPr/>
        </p:nvSpPr>
        <p:spPr>
          <a:xfrm>
            <a:off x="8886389" y="256207"/>
            <a:ext cx="257700" cy="31680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7">
            <a:extLst>
              <a:ext uri="{FF2B5EF4-FFF2-40B4-BE49-F238E27FC236}">
                <a16:creationId xmlns:a16="http://schemas.microsoft.com/office/drawing/2014/main" id="{DB132063-3D1B-46B0-CA5F-C386040BBCBD}"/>
              </a:ext>
            </a:extLst>
          </p:cNvPr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>
            <a:extLst>
              <a:ext uri="{FF2B5EF4-FFF2-40B4-BE49-F238E27FC236}">
                <a16:creationId xmlns:a16="http://schemas.microsoft.com/office/drawing/2014/main" id="{3B216217-6791-AD2B-17E1-D7C360B1D559}"/>
              </a:ext>
            </a:extLst>
          </p:cNvPr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>
            <a:extLst>
              <a:ext uri="{FF2B5EF4-FFF2-40B4-BE49-F238E27FC236}">
                <a16:creationId xmlns:a16="http://schemas.microsoft.com/office/drawing/2014/main" id="{C8ED57B1-C0FB-C6A6-A928-3D35BF034AD2}"/>
              </a:ext>
            </a:extLst>
          </p:cNvPr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>
            <a:extLst>
              <a:ext uri="{FF2B5EF4-FFF2-40B4-BE49-F238E27FC236}">
                <a16:creationId xmlns:a16="http://schemas.microsoft.com/office/drawing/2014/main" id="{430A0EFE-A85D-4780-CB89-50C697AF6C9F}"/>
              </a:ext>
            </a:extLst>
          </p:cNvPr>
          <p:cNvSpPr txBox="1"/>
          <p:nvPr/>
        </p:nvSpPr>
        <p:spPr>
          <a:xfrm>
            <a:off x="8730234" y="4871371"/>
            <a:ext cx="41376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205;p28">
            <a:extLst>
              <a:ext uri="{FF2B5EF4-FFF2-40B4-BE49-F238E27FC236}">
                <a16:creationId xmlns:a16="http://schemas.microsoft.com/office/drawing/2014/main" id="{7518006B-2DBB-63B1-4547-3C70E1ABD194}"/>
              </a:ext>
            </a:extLst>
          </p:cNvPr>
          <p:cNvSpPr/>
          <p:nvPr/>
        </p:nvSpPr>
        <p:spPr>
          <a:xfrm>
            <a:off x="0" y="1244462"/>
            <a:ext cx="5523355" cy="347625"/>
          </a:xfrm>
          <a:prstGeom prst="rect">
            <a:avLst/>
          </a:prstGeom>
          <a:gradFill>
            <a:gsLst>
              <a:gs pos="0">
                <a:srgbClr val="F5F7FC">
                  <a:alpha val="0"/>
                </a:srgbClr>
              </a:gs>
              <a:gs pos="73000">
                <a:srgbClr val="F5AA2D"/>
              </a:gs>
              <a:gs pos="100000">
                <a:srgbClr val="F5AA2D"/>
              </a:gs>
            </a:gsLst>
            <a:lin ang="10800025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06;p28">
            <a:extLst>
              <a:ext uri="{FF2B5EF4-FFF2-40B4-BE49-F238E27FC236}">
                <a16:creationId xmlns:a16="http://schemas.microsoft.com/office/drawing/2014/main" id="{3A49003E-6FF1-63D4-4ED2-CCB06076BF9C}"/>
              </a:ext>
            </a:extLst>
          </p:cNvPr>
          <p:cNvSpPr txBox="1"/>
          <p:nvPr/>
        </p:nvSpPr>
        <p:spPr>
          <a:xfrm>
            <a:off x="655987" y="1195227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Hasil </a:t>
            </a: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" name="Google Shape;206;p28">
            <a:extLst>
              <a:ext uri="{FF2B5EF4-FFF2-40B4-BE49-F238E27FC236}">
                <a16:creationId xmlns:a16="http://schemas.microsoft.com/office/drawing/2014/main" id="{D36AA20F-F56A-8AB3-4146-2B31CF19846E}"/>
              </a:ext>
            </a:extLst>
          </p:cNvPr>
          <p:cNvSpPr txBox="1"/>
          <p:nvPr/>
        </p:nvSpPr>
        <p:spPr>
          <a:xfrm>
            <a:off x="2245530" y="1197153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2110E4B2-2A36-D6B1-92CA-991BA589AA7C}"/>
              </a:ext>
            </a:extLst>
          </p:cNvPr>
          <p:cNvSpPr txBox="1">
            <a:spLocks/>
          </p:cNvSpPr>
          <p:nvPr/>
        </p:nvSpPr>
        <p:spPr>
          <a:xfrm>
            <a:off x="313179" y="730194"/>
            <a:ext cx="7413913" cy="4447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3.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Percobaan</a:t>
            </a:r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Numerik</a:t>
            </a:r>
            <a:endParaRPr lang="en-US" dirty="0">
              <a:solidFill>
                <a:srgbClr val="002060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Google Shape;177;p27">
            <a:extLst>
              <a:ext uri="{FF2B5EF4-FFF2-40B4-BE49-F238E27FC236}">
                <a16:creationId xmlns:a16="http://schemas.microsoft.com/office/drawing/2014/main" id="{150170A2-8B2B-11D6-3315-BBA1FFF35505}"/>
              </a:ext>
            </a:extLst>
          </p:cNvPr>
          <p:cNvSpPr txBox="1"/>
          <p:nvPr/>
        </p:nvSpPr>
        <p:spPr>
          <a:xfrm>
            <a:off x="4077730" y="81794"/>
            <a:ext cx="47945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Hasil dan </a:t>
            </a: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Pembahasan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95B025-ECBD-9976-2B9A-A2C94731D1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5480" y="1730204"/>
            <a:ext cx="5213040" cy="2722517"/>
          </a:xfrm>
          <a:prstGeom prst="rect">
            <a:avLst/>
          </a:prstGeom>
        </p:spPr>
      </p:pic>
      <p:sp>
        <p:nvSpPr>
          <p:cNvPr id="7" name="Google Shape;168;p26">
            <a:extLst>
              <a:ext uri="{FF2B5EF4-FFF2-40B4-BE49-F238E27FC236}">
                <a16:creationId xmlns:a16="http://schemas.microsoft.com/office/drawing/2014/main" id="{B6CB25A9-86EF-899F-87E3-B3DCCA910C52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53451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7EE74CA7-93C3-13E7-A5C6-EB4875180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descr="Icon&#10;&#10;Description automatically generated">
            <a:extLst>
              <a:ext uri="{FF2B5EF4-FFF2-40B4-BE49-F238E27FC236}">
                <a16:creationId xmlns:a16="http://schemas.microsoft.com/office/drawing/2014/main" id="{CDB1DFF9-2953-855B-2DAF-53CA40E55A5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>
            <a:extLst>
              <a:ext uri="{FF2B5EF4-FFF2-40B4-BE49-F238E27FC236}">
                <a16:creationId xmlns:a16="http://schemas.microsoft.com/office/drawing/2014/main" id="{D88641E4-9D52-0308-BA60-7EBD5B6E11A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>
            <a:extLst>
              <a:ext uri="{FF2B5EF4-FFF2-40B4-BE49-F238E27FC236}">
                <a16:creationId xmlns:a16="http://schemas.microsoft.com/office/drawing/2014/main" id="{D5A65252-3BF3-89CF-76A6-BF628F5CB039}"/>
              </a:ext>
            </a:extLst>
          </p:cNvPr>
          <p:cNvSpPr/>
          <p:nvPr/>
        </p:nvSpPr>
        <p:spPr>
          <a:xfrm>
            <a:off x="8886389" y="256207"/>
            <a:ext cx="257700" cy="31680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7">
            <a:extLst>
              <a:ext uri="{FF2B5EF4-FFF2-40B4-BE49-F238E27FC236}">
                <a16:creationId xmlns:a16="http://schemas.microsoft.com/office/drawing/2014/main" id="{B8632515-9620-D054-A264-A70BE081413F}"/>
              </a:ext>
            </a:extLst>
          </p:cNvPr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>
            <a:extLst>
              <a:ext uri="{FF2B5EF4-FFF2-40B4-BE49-F238E27FC236}">
                <a16:creationId xmlns:a16="http://schemas.microsoft.com/office/drawing/2014/main" id="{47929737-E9C5-E40A-E413-E5C50414C77B}"/>
              </a:ext>
            </a:extLst>
          </p:cNvPr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>
            <a:extLst>
              <a:ext uri="{FF2B5EF4-FFF2-40B4-BE49-F238E27FC236}">
                <a16:creationId xmlns:a16="http://schemas.microsoft.com/office/drawing/2014/main" id="{9F5E2830-B393-7FAB-7F61-B1BF34387703}"/>
              </a:ext>
            </a:extLst>
          </p:cNvPr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>
            <a:extLst>
              <a:ext uri="{FF2B5EF4-FFF2-40B4-BE49-F238E27FC236}">
                <a16:creationId xmlns:a16="http://schemas.microsoft.com/office/drawing/2014/main" id="{3491E28C-7E17-94EF-6FA3-1910EC5CBE81}"/>
              </a:ext>
            </a:extLst>
          </p:cNvPr>
          <p:cNvSpPr txBox="1"/>
          <p:nvPr/>
        </p:nvSpPr>
        <p:spPr>
          <a:xfrm>
            <a:off x="8730234" y="4871371"/>
            <a:ext cx="41376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33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205;p28">
            <a:extLst>
              <a:ext uri="{FF2B5EF4-FFF2-40B4-BE49-F238E27FC236}">
                <a16:creationId xmlns:a16="http://schemas.microsoft.com/office/drawing/2014/main" id="{17DBB2C5-DE79-9C01-B08A-852DBD43EE0D}"/>
              </a:ext>
            </a:extLst>
          </p:cNvPr>
          <p:cNvSpPr/>
          <p:nvPr/>
        </p:nvSpPr>
        <p:spPr>
          <a:xfrm>
            <a:off x="0" y="1244462"/>
            <a:ext cx="5523355" cy="347625"/>
          </a:xfrm>
          <a:prstGeom prst="rect">
            <a:avLst/>
          </a:prstGeom>
          <a:gradFill>
            <a:gsLst>
              <a:gs pos="0">
                <a:srgbClr val="F5F7FC">
                  <a:alpha val="0"/>
                </a:srgbClr>
              </a:gs>
              <a:gs pos="73000">
                <a:srgbClr val="F5AA2D"/>
              </a:gs>
              <a:gs pos="100000">
                <a:srgbClr val="F5AA2D"/>
              </a:gs>
            </a:gsLst>
            <a:lin ang="10800025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06;p28">
            <a:extLst>
              <a:ext uri="{FF2B5EF4-FFF2-40B4-BE49-F238E27FC236}">
                <a16:creationId xmlns:a16="http://schemas.microsoft.com/office/drawing/2014/main" id="{B5A45842-001B-FD23-30D0-D0C6CA5B03CF}"/>
              </a:ext>
            </a:extLst>
          </p:cNvPr>
          <p:cNvSpPr txBox="1"/>
          <p:nvPr/>
        </p:nvSpPr>
        <p:spPr>
          <a:xfrm>
            <a:off x="655987" y="1195227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Hasil </a:t>
            </a: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" name="Google Shape;206;p28">
            <a:extLst>
              <a:ext uri="{FF2B5EF4-FFF2-40B4-BE49-F238E27FC236}">
                <a16:creationId xmlns:a16="http://schemas.microsoft.com/office/drawing/2014/main" id="{79D343FE-1BD8-7ED5-C4B4-C4CF02603FFB}"/>
              </a:ext>
            </a:extLst>
          </p:cNvPr>
          <p:cNvSpPr txBox="1"/>
          <p:nvPr/>
        </p:nvSpPr>
        <p:spPr>
          <a:xfrm>
            <a:off x="2245530" y="1197153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F3FE6FAD-F535-A267-44D3-7C4D775CC1B0}"/>
              </a:ext>
            </a:extLst>
          </p:cNvPr>
          <p:cNvSpPr txBox="1">
            <a:spLocks/>
          </p:cNvSpPr>
          <p:nvPr/>
        </p:nvSpPr>
        <p:spPr>
          <a:xfrm>
            <a:off x="313179" y="730194"/>
            <a:ext cx="7413913" cy="4447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3.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Percobaan</a:t>
            </a:r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Numerik</a:t>
            </a:r>
            <a:endParaRPr lang="en-US" dirty="0">
              <a:solidFill>
                <a:srgbClr val="002060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Google Shape;177;p27">
            <a:extLst>
              <a:ext uri="{FF2B5EF4-FFF2-40B4-BE49-F238E27FC236}">
                <a16:creationId xmlns:a16="http://schemas.microsoft.com/office/drawing/2014/main" id="{B5D2115C-8C60-2610-2A4A-D7B8D697FFE4}"/>
              </a:ext>
            </a:extLst>
          </p:cNvPr>
          <p:cNvSpPr txBox="1"/>
          <p:nvPr/>
        </p:nvSpPr>
        <p:spPr>
          <a:xfrm>
            <a:off x="4077730" y="81794"/>
            <a:ext cx="47945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Hasil dan </a:t>
            </a: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Pembahasan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BDDB50-3C11-DA01-5D97-B4153405F7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4506" y="1240453"/>
            <a:ext cx="5165276" cy="3459439"/>
          </a:xfrm>
          <a:prstGeom prst="rect">
            <a:avLst/>
          </a:prstGeom>
        </p:spPr>
      </p:pic>
      <p:sp>
        <p:nvSpPr>
          <p:cNvPr id="10" name="Google Shape;168;p26">
            <a:extLst>
              <a:ext uri="{FF2B5EF4-FFF2-40B4-BE49-F238E27FC236}">
                <a16:creationId xmlns:a16="http://schemas.microsoft.com/office/drawing/2014/main" id="{6E1DB3F6-F714-8ADA-01CA-C45417FFF845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29664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273E908-8783-D184-38C9-AF0DAE72A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descr="Icon&#10;&#10;Description automatically generated">
            <a:extLst>
              <a:ext uri="{FF2B5EF4-FFF2-40B4-BE49-F238E27FC236}">
                <a16:creationId xmlns:a16="http://schemas.microsoft.com/office/drawing/2014/main" id="{F2DB9E94-B3F4-7E1E-0303-4207DE914CE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>
            <a:extLst>
              <a:ext uri="{FF2B5EF4-FFF2-40B4-BE49-F238E27FC236}">
                <a16:creationId xmlns:a16="http://schemas.microsoft.com/office/drawing/2014/main" id="{D485DDE3-8CFE-0594-3803-7B4C0F4CC02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>
            <a:extLst>
              <a:ext uri="{FF2B5EF4-FFF2-40B4-BE49-F238E27FC236}">
                <a16:creationId xmlns:a16="http://schemas.microsoft.com/office/drawing/2014/main" id="{F22B118A-2B09-13D4-BA08-2C12925A01B3}"/>
              </a:ext>
            </a:extLst>
          </p:cNvPr>
          <p:cNvSpPr/>
          <p:nvPr/>
        </p:nvSpPr>
        <p:spPr>
          <a:xfrm>
            <a:off x="8886389" y="256207"/>
            <a:ext cx="257700" cy="31680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7">
            <a:extLst>
              <a:ext uri="{FF2B5EF4-FFF2-40B4-BE49-F238E27FC236}">
                <a16:creationId xmlns:a16="http://schemas.microsoft.com/office/drawing/2014/main" id="{FAAFACE8-8AA8-625A-6BCA-1F07F733EE71}"/>
              </a:ext>
            </a:extLst>
          </p:cNvPr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>
            <a:extLst>
              <a:ext uri="{FF2B5EF4-FFF2-40B4-BE49-F238E27FC236}">
                <a16:creationId xmlns:a16="http://schemas.microsoft.com/office/drawing/2014/main" id="{A355F489-B08D-51E7-B6EF-72B57F6E0234}"/>
              </a:ext>
            </a:extLst>
          </p:cNvPr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>
            <a:extLst>
              <a:ext uri="{FF2B5EF4-FFF2-40B4-BE49-F238E27FC236}">
                <a16:creationId xmlns:a16="http://schemas.microsoft.com/office/drawing/2014/main" id="{E4F3C23A-7D10-E881-254E-39055999AA06}"/>
              </a:ext>
            </a:extLst>
          </p:cNvPr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>
            <a:extLst>
              <a:ext uri="{FF2B5EF4-FFF2-40B4-BE49-F238E27FC236}">
                <a16:creationId xmlns:a16="http://schemas.microsoft.com/office/drawing/2014/main" id="{67271309-D180-A370-405E-C8D39576B840}"/>
              </a:ext>
            </a:extLst>
          </p:cNvPr>
          <p:cNvSpPr txBox="1"/>
          <p:nvPr/>
        </p:nvSpPr>
        <p:spPr>
          <a:xfrm>
            <a:off x="8730234" y="4871371"/>
            <a:ext cx="41376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34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205;p28">
            <a:extLst>
              <a:ext uri="{FF2B5EF4-FFF2-40B4-BE49-F238E27FC236}">
                <a16:creationId xmlns:a16="http://schemas.microsoft.com/office/drawing/2014/main" id="{5BB37235-4BF0-7C37-D2D4-2E2BEE7F64BC}"/>
              </a:ext>
            </a:extLst>
          </p:cNvPr>
          <p:cNvSpPr/>
          <p:nvPr/>
        </p:nvSpPr>
        <p:spPr>
          <a:xfrm>
            <a:off x="0" y="1244462"/>
            <a:ext cx="5523355" cy="347625"/>
          </a:xfrm>
          <a:prstGeom prst="rect">
            <a:avLst/>
          </a:prstGeom>
          <a:gradFill>
            <a:gsLst>
              <a:gs pos="0">
                <a:srgbClr val="F5F7FC">
                  <a:alpha val="0"/>
                </a:srgbClr>
              </a:gs>
              <a:gs pos="73000">
                <a:srgbClr val="F5AA2D"/>
              </a:gs>
              <a:gs pos="100000">
                <a:srgbClr val="F5AA2D"/>
              </a:gs>
            </a:gsLst>
            <a:lin ang="10800025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06;p28">
            <a:extLst>
              <a:ext uri="{FF2B5EF4-FFF2-40B4-BE49-F238E27FC236}">
                <a16:creationId xmlns:a16="http://schemas.microsoft.com/office/drawing/2014/main" id="{C6D0EB43-D7CA-99E5-390F-B49E9E5104BB}"/>
              </a:ext>
            </a:extLst>
          </p:cNvPr>
          <p:cNvSpPr txBox="1"/>
          <p:nvPr/>
        </p:nvSpPr>
        <p:spPr>
          <a:xfrm>
            <a:off x="655987" y="1195227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Galat</a:t>
            </a: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" name="Google Shape;206;p28">
            <a:extLst>
              <a:ext uri="{FF2B5EF4-FFF2-40B4-BE49-F238E27FC236}">
                <a16:creationId xmlns:a16="http://schemas.microsoft.com/office/drawing/2014/main" id="{5CF1A18A-601D-B2E5-36D6-82E627ACE073}"/>
              </a:ext>
            </a:extLst>
          </p:cNvPr>
          <p:cNvSpPr txBox="1"/>
          <p:nvPr/>
        </p:nvSpPr>
        <p:spPr>
          <a:xfrm>
            <a:off x="2245530" y="1197153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109E2097-A4E0-D91E-2660-31B1FE792942}"/>
              </a:ext>
            </a:extLst>
          </p:cNvPr>
          <p:cNvSpPr txBox="1">
            <a:spLocks/>
          </p:cNvSpPr>
          <p:nvPr/>
        </p:nvSpPr>
        <p:spPr>
          <a:xfrm>
            <a:off x="313179" y="730194"/>
            <a:ext cx="7413913" cy="4447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3.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Percobaan</a:t>
            </a:r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Numerik</a:t>
            </a:r>
            <a:endParaRPr lang="en-US" dirty="0">
              <a:solidFill>
                <a:srgbClr val="002060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Google Shape;177;p27">
            <a:extLst>
              <a:ext uri="{FF2B5EF4-FFF2-40B4-BE49-F238E27FC236}">
                <a16:creationId xmlns:a16="http://schemas.microsoft.com/office/drawing/2014/main" id="{FE5D4E7D-1040-A28E-FD59-689F3878C593}"/>
              </a:ext>
            </a:extLst>
          </p:cNvPr>
          <p:cNvSpPr txBox="1"/>
          <p:nvPr/>
        </p:nvSpPr>
        <p:spPr>
          <a:xfrm>
            <a:off x="4077730" y="81794"/>
            <a:ext cx="47945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Hasil dan </a:t>
            </a: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Pembahasan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791530-0E57-B92D-6035-D2372AB893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656" y="1588314"/>
            <a:ext cx="5226687" cy="3268385"/>
          </a:xfrm>
          <a:prstGeom prst="rect">
            <a:avLst/>
          </a:prstGeom>
        </p:spPr>
      </p:pic>
      <p:sp>
        <p:nvSpPr>
          <p:cNvPr id="10" name="Google Shape;168;p26">
            <a:extLst>
              <a:ext uri="{FF2B5EF4-FFF2-40B4-BE49-F238E27FC236}">
                <a16:creationId xmlns:a16="http://schemas.microsoft.com/office/drawing/2014/main" id="{16D29D3C-55B5-D359-438A-0AF2014A3F41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8928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6BB718CE-432F-7C2E-BF1F-FC49D0EF0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descr="Icon&#10;&#10;Description automatically generated">
            <a:extLst>
              <a:ext uri="{FF2B5EF4-FFF2-40B4-BE49-F238E27FC236}">
                <a16:creationId xmlns:a16="http://schemas.microsoft.com/office/drawing/2014/main" id="{6506FA21-E2EC-F603-A5D4-F7785534BE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>
            <a:extLst>
              <a:ext uri="{FF2B5EF4-FFF2-40B4-BE49-F238E27FC236}">
                <a16:creationId xmlns:a16="http://schemas.microsoft.com/office/drawing/2014/main" id="{4437BFD7-56C7-6CD0-49F4-E586ACBF190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>
            <a:extLst>
              <a:ext uri="{FF2B5EF4-FFF2-40B4-BE49-F238E27FC236}">
                <a16:creationId xmlns:a16="http://schemas.microsoft.com/office/drawing/2014/main" id="{F8585AB1-C8AC-859D-A2AF-8AFE3F22BDA7}"/>
              </a:ext>
            </a:extLst>
          </p:cNvPr>
          <p:cNvSpPr/>
          <p:nvPr/>
        </p:nvSpPr>
        <p:spPr>
          <a:xfrm>
            <a:off x="8886389" y="256207"/>
            <a:ext cx="257700" cy="31680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7">
            <a:extLst>
              <a:ext uri="{FF2B5EF4-FFF2-40B4-BE49-F238E27FC236}">
                <a16:creationId xmlns:a16="http://schemas.microsoft.com/office/drawing/2014/main" id="{96675E38-2BFC-43EC-FC16-A0F6E1235F3D}"/>
              </a:ext>
            </a:extLst>
          </p:cNvPr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>
            <a:extLst>
              <a:ext uri="{FF2B5EF4-FFF2-40B4-BE49-F238E27FC236}">
                <a16:creationId xmlns:a16="http://schemas.microsoft.com/office/drawing/2014/main" id="{0BF7B912-7E66-5B27-FF83-46CA6AA718C0}"/>
              </a:ext>
            </a:extLst>
          </p:cNvPr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>
            <a:extLst>
              <a:ext uri="{FF2B5EF4-FFF2-40B4-BE49-F238E27FC236}">
                <a16:creationId xmlns:a16="http://schemas.microsoft.com/office/drawing/2014/main" id="{23CF722F-0E5A-B819-6E12-9A872E74EB7F}"/>
              </a:ext>
            </a:extLst>
          </p:cNvPr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>
            <a:extLst>
              <a:ext uri="{FF2B5EF4-FFF2-40B4-BE49-F238E27FC236}">
                <a16:creationId xmlns:a16="http://schemas.microsoft.com/office/drawing/2014/main" id="{6F7A1B17-52B4-D60A-5409-08DC4E7D88C5}"/>
              </a:ext>
            </a:extLst>
          </p:cNvPr>
          <p:cNvSpPr txBox="1"/>
          <p:nvPr/>
        </p:nvSpPr>
        <p:spPr>
          <a:xfrm>
            <a:off x="8730234" y="4871371"/>
            <a:ext cx="41376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5A5A5"/>
                </a:solidFill>
              </a:rPr>
              <a:t>35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205;p28">
            <a:extLst>
              <a:ext uri="{FF2B5EF4-FFF2-40B4-BE49-F238E27FC236}">
                <a16:creationId xmlns:a16="http://schemas.microsoft.com/office/drawing/2014/main" id="{15348489-C99C-A9A3-325B-E601B9088BE8}"/>
              </a:ext>
            </a:extLst>
          </p:cNvPr>
          <p:cNvSpPr/>
          <p:nvPr/>
        </p:nvSpPr>
        <p:spPr>
          <a:xfrm>
            <a:off x="0" y="1244462"/>
            <a:ext cx="5523355" cy="347625"/>
          </a:xfrm>
          <a:prstGeom prst="rect">
            <a:avLst/>
          </a:prstGeom>
          <a:gradFill>
            <a:gsLst>
              <a:gs pos="0">
                <a:srgbClr val="F5F7FC">
                  <a:alpha val="0"/>
                </a:srgbClr>
              </a:gs>
              <a:gs pos="73000">
                <a:srgbClr val="F5AA2D"/>
              </a:gs>
              <a:gs pos="100000">
                <a:srgbClr val="F5AA2D"/>
              </a:gs>
            </a:gsLst>
            <a:lin ang="10800025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06;p28">
            <a:extLst>
              <a:ext uri="{FF2B5EF4-FFF2-40B4-BE49-F238E27FC236}">
                <a16:creationId xmlns:a16="http://schemas.microsoft.com/office/drawing/2014/main" id="{EBB64688-66C6-DAAE-C269-1AD32B1BF28A}"/>
              </a:ext>
            </a:extLst>
          </p:cNvPr>
          <p:cNvSpPr txBox="1"/>
          <p:nvPr/>
        </p:nvSpPr>
        <p:spPr>
          <a:xfrm>
            <a:off x="655987" y="1195227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Hasil </a:t>
            </a: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" name="Google Shape;206;p28">
            <a:extLst>
              <a:ext uri="{FF2B5EF4-FFF2-40B4-BE49-F238E27FC236}">
                <a16:creationId xmlns:a16="http://schemas.microsoft.com/office/drawing/2014/main" id="{9F09B5C3-C724-8C05-79A8-C224B592AFA4}"/>
              </a:ext>
            </a:extLst>
          </p:cNvPr>
          <p:cNvSpPr txBox="1"/>
          <p:nvPr/>
        </p:nvSpPr>
        <p:spPr>
          <a:xfrm>
            <a:off x="2245530" y="1197153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FC7B443-1F63-4D31-6063-565F7A5092D7}"/>
              </a:ext>
            </a:extLst>
          </p:cNvPr>
          <p:cNvSpPr txBox="1">
            <a:spLocks/>
          </p:cNvSpPr>
          <p:nvPr/>
        </p:nvSpPr>
        <p:spPr>
          <a:xfrm>
            <a:off x="313179" y="730194"/>
            <a:ext cx="7413913" cy="4447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3.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Percobaan</a:t>
            </a:r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Numerik</a:t>
            </a:r>
            <a:endParaRPr lang="en-US" dirty="0">
              <a:solidFill>
                <a:srgbClr val="002060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Google Shape;177;p27">
            <a:extLst>
              <a:ext uri="{FF2B5EF4-FFF2-40B4-BE49-F238E27FC236}">
                <a16:creationId xmlns:a16="http://schemas.microsoft.com/office/drawing/2014/main" id="{C04E87A4-CCF8-3024-EA89-B8299D438439}"/>
              </a:ext>
            </a:extLst>
          </p:cNvPr>
          <p:cNvSpPr txBox="1"/>
          <p:nvPr/>
        </p:nvSpPr>
        <p:spPr>
          <a:xfrm>
            <a:off x="4077730" y="81794"/>
            <a:ext cx="47945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Hasil dan </a:t>
            </a: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Pembahasan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DE06E0B-389A-DA1C-71D6-B0A887506128}"/>
                  </a:ext>
                </a:extLst>
              </p:cNvPr>
              <p:cNvSpPr txBox="1"/>
              <p:nvPr/>
            </p:nvSpPr>
            <p:spPr>
              <a:xfrm>
                <a:off x="655986" y="1666810"/>
                <a:ext cx="815850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SzPct val="100000"/>
                </a:pP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Untuk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hasil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lainnya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,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dengan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7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nilai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awal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dan 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5 parameter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iterasi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yang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berbeda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,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serta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galat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𝑑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&lt;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10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−16</m:t>
                        </m:r>
                      </m:sup>
                    </m:sSup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,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skema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iterasi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Sabri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unggul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dalam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laju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konvergensi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, yang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hanya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memerlukan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7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iterasi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,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dibanding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JK (9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iterasi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), Thakur (12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iterasi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), Abbas (15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iterasi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), Agarwal (18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iterasi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).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DE06E0B-389A-DA1C-71D6-B0A8875061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86" y="1666810"/>
                <a:ext cx="8158500" cy="1200329"/>
              </a:xfrm>
              <a:prstGeom prst="rect">
                <a:avLst/>
              </a:prstGeom>
              <a:blipFill>
                <a:blip r:embed="rId5"/>
                <a:stretch>
                  <a:fillRect l="-673" t="-2538" r="-598" b="-710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168;p26">
            <a:extLst>
              <a:ext uri="{FF2B5EF4-FFF2-40B4-BE49-F238E27FC236}">
                <a16:creationId xmlns:a16="http://schemas.microsoft.com/office/drawing/2014/main" id="{5639747D-CCB8-8994-AEF0-B3F3F1E45CB0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031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FD7A448-0D7B-FBFD-DB41-37649F437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descr="Icon&#10;&#10;Description automatically generated">
            <a:extLst>
              <a:ext uri="{FF2B5EF4-FFF2-40B4-BE49-F238E27FC236}">
                <a16:creationId xmlns:a16="http://schemas.microsoft.com/office/drawing/2014/main" id="{F07318DF-F78D-6A42-48CB-BD9193703EA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>
            <a:extLst>
              <a:ext uri="{FF2B5EF4-FFF2-40B4-BE49-F238E27FC236}">
                <a16:creationId xmlns:a16="http://schemas.microsoft.com/office/drawing/2014/main" id="{8D8CD271-B464-48AA-716D-B97AA971539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>
            <a:extLst>
              <a:ext uri="{FF2B5EF4-FFF2-40B4-BE49-F238E27FC236}">
                <a16:creationId xmlns:a16="http://schemas.microsoft.com/office/drawing/2014/main" id="{D3FA5783-7FCB-1C55-3BBC-9503B5349971}"/>
              </a:ext>
            </a:extLst>
          </p:cNvPr>
          <p:cNvSpPr/>
          <p:nvPr/>
        </p:nvSpPr>
        <p:spPr>
          <a:xfrm>
            <a:off x="8886389" y="256207"/>
            <a:ext cx="257700" cy="31680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7">
            <a:extLst>
              <a:ext uri="{FF2B5EF4-FFF2-40B4-BE49-F238E27FC236}">
                <a16:creationId xmlns:a16="http://schemas.microsoft.com/office/drawing/2014/main" id="{8BB038D8-3865-DB4A-AEEE-3523FC02DEAF}"/>
              </a:ext>
            </a:extLst>
          </p:cNvPr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>
            <a:extLst>
              <a:ext uri="{FF2B5EF4-FFF2-40B4-BE49-F238E27FC236}">
                <a16:creationId xmlns:a16="http://schemas.microsoft.com/office/drawing/2014/main" id="{AA3A2750-AF78-0348-283E-9A9D9F250AC7}"/>
              </a:ext>
            </a:extLst>
          </p:cNvPr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>
            <a:extLst>
              <a:ext uri="{FF2B5EF4-FFF2-40B4-BE49-F238E27FC236}">
                <a16:creationId xmlns:a16="http://schemas.microsoft.com/office/drawing/2014/main" id="{4C059470-28F0-4466-1B1A-3463CE3BD80B}"/>
              </a:ext>
            </a:extLst>
          </p:cNvPr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>
            <a:extLst>
              <a:ext uri="{FF2B5EF4-FFF2-40B4-BE49-F238E27FC236}">
                <a16:creationId xmlns:a16="http://schemas.microsoft.com/office/drawing/2014/main" id="{2EA712DE-16A6-7C4E-D249-2CB1FD5A527B}"/>
              </a:ext>
            </a:extLst>
          </p:cNvPr>
          <p:cNvSpPr txBox="1"/>
          <p:nvPr/>
        </p:nvSpPr>
        <p:spPr>
          <a:xfrm>
            <a:off x="8730234" y="4871371"/>
            <a:ext cx="41376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36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205;p28">
            <a:extLst>
              <a:ext uri="{FF2B5EF4-FFF2-40B4-BE49-F238E27FC236}">
                <a16:creationId xmlns:a16="http://schemas.microsoft.com/office/drawing/2014/main" id="{CD9E8AD4-86FA-FE04-CEA9-4A8BFA347016}"/>
              </a:ext>
            </a:extLst>
          </p:cNvPr>
          <p:cNvSpPr/>
          <p:nvPr/>
        </p:nvSpPr>
        <p:spPr>
          <a:xfrm>
            <a:off x="0" y="1244462"/>
            <a:ext cx="5523355" cy="347625"/>
          </a:xfrm>
          <a:prstGeom prst="rect">
            <a:avLst/>
          </a:prstGeom>
          <a:gradFill>
            <a:gsLst>
              <a:gs pos="0">
                <a:srgbClr val="F5F7FC">
                  <a:alpha val="0"/>
                </a:srgbClr>
              </a:gs>
              <a:gs pos="73000">
                <a:srgbClr val="F5AA2D"/>
              </a:gs>
              <a:gs pos="100000">
                <a:srgbClr val="F5AA2D"/>
              </a:gs>
            </a:gsLst>
            <a:lin ang="10800025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06;p28">
            <a:extLst>
              <a:ext uri="{FF2B5EF4-FFF2-40B4-BE49-F238E27FC236}">
                <a16:creationId xmlns:a16="http://schemas.microsoft.com/office/drawing/2014/main" id="{06AC0A4D-F06E-ACA1-385A-A0813C3A7525}"/>
              </a:ext>
            </a:extLst>
          </p:cNvPr>
          <p:cNvSpPr txBox="1"/>
          <p:nvPr/>
        </p:nvSpPr>
        <p:spPr>
          <a:xfrm>
            <a:off x="655987" y="1195227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 err="1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Minimalisasi</a:t>
            </a:r>
            <a:r>
              <a:rPr lang="en-US"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Fungsi</a:t>
            </a: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" name="Google Shape;206;p28">
            <a:extLst>
              <a:ext uri="{FF2B5EF4-FFF2-40B4-BE49-F238E27FC236}">
                <a16:creationId xmlns:a16="http://schemas.microsoft.com/office/drawing/2014/main" id="{7DFDE8C4-B90D-5B7F-351D-1128CE877E0E}"/>
              </a:ext>
            </a:extLst>
          </p:cNvPr>
          <p:cNvSpPr txBox="1"/>
          <p:nvPr/>
        </p:nvSpPr>
        <p:spPr>
          <a:xfrm>
            <a:off x="2245530" y="1197153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2F223989-5649-1084-01CB-96BCA7EEF945}"/>
              </a:ext>
            </a:extLst>
          </p:cNvPr>
          <p:cNvSpPr txBox="1">
            <a:spLocks/>
          </p:cNvSpPr>
          <p:nvPr/>
        </p:nvSpPr>
        <p:spPr>
          <a:xfrm>
            <a:off x="313179" y="730194"/>
            <a:ext cx="7413913" cy="4447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4.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Aplikasi</a:t>
            </a:r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dalam</a:t>
            </a:r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Optimasi</a:t>
            </a:r>
            <a:endParaRPr lang="en-US" dirty="0">
              <a:solidFill>
                <a:srgbClr val="002060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Google Shape;177;p27">
            <a:extLst>
              <a:ext uri="{FF2B5EF4-FFF2-40B4-BE49-F238E27FC236}">
                <a16:creationId xmlns:a16="http://schemas.microsoft.com/office/drawing/2014/main" id="{DB4589CD-5A94-2A94-9BA9-5BC2DA373674}"/>
              </a:ext>
            </a:extLst>
          </p:cNvPr>
          <p:cNvSpPr txBox="1"/>
          <p:nvPr/>
        </p:nvSpPr>
        <p:spPr>
          <a:xfrm>
            <a:off x="4077730" y="81794"/>
            <a:ext cx="47945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Hasil dan </a:t>
            </a: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Pembahasan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82A417-10AA-C0B8-E83E-13DA97B19A03}"/>
                  </a:ext>
                </a:extLst>
              </p:cNvPr>
              <p:cNvSpPr txBox="1"/>
              <p:nvPr/>
            </p:nvSpPr>
            <p:spPr>
              <a:xfrm>
                <a:off x="655986" y="1666810"/>
                <a:ext cx="8158500" cy="34054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SzPct val="100000"/>
                </a:pP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Diberikan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𝑋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adalah </a:t>
                </a:r>
                <a:r>
                  <a:rPr lang="en-US" sz="16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US" sz="16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𝑪𝑨</m:t>
                    </m:r>
                    <m:sSub>
                      <m:sSubPr>
                        <m:ctrlPr>
                          <a:rPr lang="en-US" sz="160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𝑻</m:t>
                        </m:r>
                      </m:e>
                      <m:sub>
                        <m:r>
                          <a:rPr lang="en-US" sz="160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𝒑</m:t>
                        </m:r>
                      </m:sub>
                    </m:sSub>
                    <m:d>
                      <m:dPr>
                        <m:ctrlPr>
                          <a:rPr lang="en-US" sz="160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𝟎</m:t>
                        </m:r>
                      </m:e>
                    </m:d>
                  </m:oMath>
                </a14:m>
                <a:r>
                  <a:rPr lang="en-US" sz="16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dan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𝑓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: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𝑋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→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ℝ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+∞</m:t>
                        </m:r>
                      </m:e>
                    </m:d>
                  </m:oMath>
                </a14:m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adalah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fungsi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yang </a:t>
                </a:r>
                <a:r>
                  <a:rPr lang="en-US" sz="16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konveks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dan </a:t>
                </a:r>
                <a:r>
                  <a:rPr lang="en-US" sz="16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proper lower semi-continuous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. Barisan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{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𝑛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} </m:t>
                    </m:r>
                  </m:oMath>
                </a14:m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yang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didefinisikan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sebagai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</a:p>
              <a:p>
                <a:pPr algn="just">
                  <a:buSzPct val="100000"/>
                </a:pPr>
                <a:endParaRPr lang="en-US" sz="16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algn="just"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1600" i="1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&amp;=</m:t>
                              </m:r>
                              <m:sSubSup>
                                <m:sSubSup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𝜆</m:t>
                                  </m:r>
                                </m:sub>
                                <m:sup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𝑓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⊕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sSubSup>
                                    <m:sSubSup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𝐽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𝜆</m:t>
                                      </m:r>
                                    </m:sub>
                                    <m:sup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𝑓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,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&amp;=</m:t>
                              </m:r>
                              <m:sSubSup>
                                <m:sSub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𝜆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𝑓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𝐽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𝜆</m:t>
                                      </m:r>
                                    </m:sub>
                                    <m:sup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𝑓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 ,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𝑛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&amp;=</m:t>
                              </m:r>
                              <m:sSubSup>
                                <m:sSub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𝜆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𝑓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𝐽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𝜆</m:t>
                                      </m:r>
                                    </m:sub>
                                    <m:sup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𝑓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⊕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sSubSup>
                                    <m:sSubSup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𝐽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𝜆</m:t>
                                      </m:r>
                                    </m:sub>
                                    <m:sup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  <m:t>𝑓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cs typeface="Poppins" panose="00000500000000000000" pitchFamily="2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Poppins" panose="00000500000000000000" pitchFamily="2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,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16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algn="just">
                  <a:buSzPct val="100000"/>
                </a:pPr>
                <a:endParaRPr lang="en-US" sz="16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algn="just">
                  <a:buSzPct val="100000"/>
                </a:pP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dengan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𝐽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𝜆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𝑓</m:t>
                        </m:r>
                      </m:sup>
                    </m:sSubSup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𝑥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argmin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𝑦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∈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𝑋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[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𝑓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𝑦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+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1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2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𝜆</m:t>
                        </m:r>
                      </m:den>
                    </m:f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𝑑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𝑥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𝑦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𝜆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&gt;0, </m:t>
                    </m:r>
                    <m:d>
                      <m:dPr>
                        <m:begChr m:val="{"/>
                        <m:endChr m:val="}"/>
                        <m:ctrlPr>
                          <a:rPr lang="en-US" sz="160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  <m:r>
                      <m:rPr>
                        <m:lit/>
                      </m:rP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{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𝑐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𝑛</m:t>
                        </m:r>
                      </m:sub>
                    </m:sSub>
                    <m:r>
                      <m:rPr>
                        <m:lit/>
                      </m:rP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}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⊆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, </a:t>
                </a:r>
                <a:r>
                  <a:rPr lang="en-US" sz="16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konvergen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−</m:t>
                    </m:r>
                    <m:r>
                      <a:rPr lang="en-US" sz="1600" b="1" i="0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𝚫</m:t>
                    </m:r>
                  </m:oMath>
                </a14:m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ke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nilai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minimum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dari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𝑓</m:t>
                    </m:r>
                  </m:oMath>
                </a14:m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,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yaitu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∈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𝑋</m:t>
                    </m:r>
                  </m:oMath>
                </a14:m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. Jika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𝑋</m:t>
                    </m:r>
                  </m:oMath>
                </a14:m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kompak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,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maka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konvergen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kuat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.</a:t>
                </a:r>
              </a:p>
              <a:p>
                <a:pPr algn="just">
                  <a:buSzPct val="100000"/>
                </a:pPr>
                <a:endParaRPr lang="en-US" sz="16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82A417-10AA-C0B8-E83E-13DA97B19A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86" y="1666810"/>
                <a:ext cx="8158500" cy="3405484"/>
              </a:xfrm>
              <a:prstGeom prst="rect">
                <a:avLst/>
              </a:prstGeom>
              <a:blipFill>
                <a:blip r:embed="rId5"/>
                <a:stretch>
                  <a:fillRect l="-448" t="-179" r="-37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168;p26">
            <a:extLst>
              <a:ext uri="{FF2B5EF4-FFF2-40B4-BE49-F238E27FC236}">
                <a16:creationId xmlns:a16="http://schemas.microsoft.com/office/drawing/2014/main" id="{7453202E-FDE8-DE77-39C3-A534B5590C83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4082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D6F03F05-D600-724D-1D43-4EEABA944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descr="Icon&#10;&#10;Description automatically generated">
            <a:extLst>
              <a:ext uri="{FF2B5EF4-FFF2-40B4-BE49-F238E27FC236}">
                <a16:creationId xmlns:a16="http://schemas.microsoft.com/office/drawing/2014/main" id="{3C61CA65-7A39-727E-90FC-4D38A6B989D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>
            <a:extLst>
              <a:ext uri="{FF2B5EF4-FFF2-40B4-BE49-F238E27FC236}">
                <a16:creationId xmlns:a16="http://schemas.microsoft.com/office/drawing/2014/main" id="{1D79A7C5-32E1-0E50-7C27-3C69DC4357B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>
            <a:extLst>
              <a:ext uri="{FF2B5EF4-FFF2-40B4-BE49-F238E27FC236}">
                <a16:creationId xmlns:a16="http://schemas.microsoft.com/office/drawing/2014/main" id="{7C8B853C-79B4-7FE4-E808-E9EBEC50AFCB}"/>
              </a:ext>
            </a:extLst>
          </p:cNvPr>
          <p:cNvSpPr/>
          <p:nvPr/>
        </p:nvSpPr>
        <p:spPr>
          <a:xfrm>
            <a:off x="8886389" y="256207"/>
            <a:ext cx="257700" cy="31680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7">
            <a:extLst>
              <a:ext uri="{FF2B5EF4-FFF2-40B4-BE49-F238E27FC236}">
                <a16:creationId xmlns:a16="http://schemas.microsoft.com/office/drawing/2014/main" id="{E8919601-6F73-F680-523C-A9468B1B76D7}"/>
              </a:ext>
            </a:extLst>
          </p:cNvPr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>
            <a:extLst>
              <a:ext uri="{FF2B5EF4-FFF2-40B4-BE49-F238E27FC236}">
                <a16:creationId xmlns:a16="http://schemas.microsoft.com/office/drawing/2014/main" id="{A588FF06-BD43-9143-EE66-262828035834}"/>
              </a:ext>
            </a:extLst>
          </p:cNvPr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>
            <a:extLst>
              <a:ext uri="{FF2B5EF4-FFF2-40B4-BE49-F238E27FC236}">
                <a16:creationId xmlns:a16="http://schemas.microsoft.com/office/drawing/2014/main" id="{6D326BAF-2EC1-1D8D-5A4C-56C7764D45FD}"/>
              </a:ext>
            </a:extLst>
          </p:cNvPr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>
            <a:extLst>
              <a:ext uri="{FF2B5EF4-FFF2-40B4-BE49-F238E27FC236}">
                <a16:creationId xmlns:a16="http://schemas.microsoft.com/office/drawing/2014/main" id="{7B0D4DC1-D558-3C4D-5C20-F47FBAC93B9A}"/>
              </a:ext>
            </a:extLst>
          </p:cNvPr>
          <p:cNvSpPr txBox="1"/>
          <p:nvPr/>
        </p:nvSpPr>
        <p:spPr>
          <a:xfrm>
            <a:off x="8730234" y="4871371"/>
            <a:ext cx="41376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37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205;p28">
            <a:extLst>
              <a:ext uri="{FF2B5EF4-FFF2-40B4-BE49-F238E27FC236}">
                <a16:creationId xmlns:a16="http://schemas.microsoft.com/office/drawing/2014/main" id="{9619AAFB-3A41-4E0E-9656-D06F319A1CB1}"/>
              </a:ext>
            </a:extLst>
          </p:cNvPr>
          <p:cNvSpPr/>
          <p:nvPr/>
        </p:nvSpPr>
        <p:spPr>
          <a:xfrm>
            <a:off x="0" y="1244462"/>
            <a:ext cx="5523355" cy="347625"/>
          </a:xfrm>
          <a:prstGeom prst="rect">
            <a:avLst/>
          </a:prstGeom>
          <a:gradFill>
            <a:gsLst>
              <a:gs pos="0">
                <a:srgbClr val="F5F7FC">
                  <a:alpha val="0"/>
                </a:srgbClr>
              </a:gs>
              <a:gs pos="73000">
                <a:srgbClr val="F5AA2D"/>
              </a:gs>
              <a:gs pos="100000">
                <a:srgbClr val="F5AA2D"/>
              </a:gs>
            </a:gsLst>
            <a:lin ang="10800025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06;p28">
            <a:extLst>
              <a:ext uri="{FF2B5EF4-FFF2-40B4-BE49-F238E27FC236}">
                <a16:creationId xmlns:a16="http://schemas.microsoft.com/office/drawing/2014/main" id="{30F8573B-B701-E6C2-E53D-092980627127}"/>
              </a:ext>
            </a:extLst>
          </p:cNvPr>
          <p:cNvSpPr txBox="1"/>
          <p:nvPr/>
        </p:nvSpPr>
        <p:spPr>
          <a:xfrm>
            <a:off x="655987" y="1195227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 err="1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Minimalisasi</a:t>
            </a:r>
            <a:r>
              <a:rPr lang="en-US"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Fungsi</a:t>
            </a:r>
            <a:r>
              <a:rPr lang="en-US"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(</a:t>
            </a:r>
            <a:r>
              <a:rPr lang="en-US" sz="1800" dirty="0" err="1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Simulasi</a:t>
            </a:r>
            <a:r>
              <a:rPr lang="en-US"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)</a:t>
            </a: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" name="Google Shape;206;p28">
            <a:extLst>
              <a:ext uri="{FF2B5EF4-FFF2-40B4-BE49-F238E27FC236}">
                <a16:creationId xmlns:a16="http://schemas.microsoft.com/office/drawing/2014/main" id="{4764707F-DB38-14CD-6449-1195CECD0F42}"/>
              </a:ext>
            </a:extLst>
          </p:cNvPr>
          <p:cNvSpPr txBox="1"/>
          <p:nvPr/>
        </p:nvSpPr>
        <p:spPr>
          <a:xfrm>
            <a:off x="2245530" y="1197153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79FBD5A6-C452-FD0F-87CD-CC9A79245D33}"/>
              </a:ext>
            </a:extLst>
          </p:cNvPr>
          <p:cNvSpPr txBox="1">
            <a:spLocks/>
          </p:cNvSpPr>
          <p:nvPr/>
        </p:nvSpPr>
        <p:spPr>
          <a:xfrm>
            <a:off x="313179" y="730194"/>
            <a:ext cx="7413913" cy="4447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4.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Aplikasi</a:t>
            </a:r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dalam</a:t>
            </a:r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Optimasi</a:t>
            </a:r>
            <a:endParaRPr lang="en-US" dirty="0">
              <a:solidFill>
                <a:srgbClr val="002060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Google Shape;177;p27">
            <a:extLst>
              <a:ext uri="{FF2B5EF4-FFF2-40B4-BE49-F238E27FC236}">
                <a16:creationId xmlns:a16="http://schemas.microsoft.com/office/drawing/2014/main" id="{607D98A4-0B85-8257-E5E9-1ED45858C2A7}"/>
              </a:ext>
            </a:extLst>
          </p:cNvPr>
          <p:cNvSpPr txBox="1"/>
          <p:nvPr/>
        </p:nvSpPr>
        <p:spPr>
          <a:xfrm>
            <a:off x="4077730" y="81794"/>
            <a:ext cx="47945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Hasil dan </a:t>
            </a: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Pembahasan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AB96CB4-BF14-8B82-8FC6-5460EC12FABC}"/>
                  </a:ext>
                </a:extLst>
              </p:cNvPr>
              <p:cNvSpPr txBox="1"/>
              <p:nvPr/>
            </p:nvSpPr>
            <p:spPr>
              <a:xfrm>
                <a:off x="655986" y="1666810"/>
                <a:ext cx="8158500" cy="26569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SzPct val="100000"/>
                </a:pP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Diberikan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𝑋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adalah </a:t>
                </a:r>
                <a:r>
                  <a:rPr lang="en-US" sz="16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US" sz="16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𝑪𝑨</m:t>
                    </m:r>
                    <m:sSub>
                      <m:sSubPr>
                        <m:ctrlPr>
                          <a:rPr lang="en-US" sz="160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𝑻</m:t>
                        </m:r>
                      </m:e>
                      <m:sub>
                        <m:r>
                          <a:rPr lang="en-US" sz="160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𝒑</m:t>
                        </m:r>
                      </m:sub>
                    </m:sSub>
                    <m:d>
                      <m:dPr>
                        <m:ctrlPr>
                          <a:rPr lang="en-US" sz="160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𝟎</m:t>
                        </m:r>
                      </m:e>
                    </m:d>
                  </m:oMath>
                </a14:m>
                <a:r>
                  <a:rPr lang="en-US" sz="16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sebagaimana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Contoh</a:t>
                </a:r>
                <a:r>
                  <a:rPr lang="en-US" sz="16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1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𝑊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=</m:t>
                    </m:r>
                    <m:d>
                      <m:dPr>
                        <m:begChr m:val="{"/>
                        <m:sepChr m:val="∣"/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  <a:cs typeface="Poppins" panose="00000500000000000000" pitchFamily="2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cs typeface="Poppins" panose="00000500000000000000" pitchFamily="2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cs typeface="Poppins" panose="00000500000000000000" pitchFamily="2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  <a:cs typeface="Poppins" panose="00000500000000000000" pitchFamily="2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cs typeface="Poppins" panose="00000500000000000000" pitchFamily="2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cs typeface="Poppins" panose="00000500000000000000" pitchFamily="2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, 0, 0, …</m:t>
                            </m:r>
                          </m:e>
                        </m:d>
                      </m:e>
                      <m: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Poppins" panose="00000500000000000000" pitchFamily="2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∈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𝑋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.</m:t>
                    </m:r>
                  </m:oMath>
                </a14:m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Suatu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fungsi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𝑓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: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𝑊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→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ℝ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+∞</m:t>
                        </m:r>
                      </m:e>
                    </m:d>
                  </m:oMath>
                </a14:m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yang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didefinisikan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sebagai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</a:p>
              <a:p>
                <a:pPr algn="just">
                  <a:buSzPct val="100000"/>
                </a:pPr>
                <a:endParaRPr lang="en-US" sz="16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algn="ctr"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𝑓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𝑥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=20</m:t>
                      </m:r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3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3</m:t>
                          </m:r>
                        </m:sup>
                      </m:sSup>
                      <m:r>
                        <a:rPr lang="en-US" sz="160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+</m:t>
                      </m:r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26−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3</m:t>
                          </m:r>
                        </m:sup>
                      </m:sSup>
                      <m:r>
                        <a:rPr lang="en-US" sz="160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,            </m:t>
                      </m:r>
                      <m:r>
                        <m:rPr>
                          <m:sty m:val="p"/>
                        </m:rPr>
                        <a:rPr lang="en-US" sz="160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untuk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 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𝑥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=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,0, 0, …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∈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𝑊</m:t>
                      </m:r>
                    </m:oMath>
                  </m:oMathPara>
                </a14:m>
                <a:endParaRPr lang="en-US" sz="16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algn="just">
                  <a:buSzPct val="100000"/>
                </a:pPr>
                <a:endParaRPr lang="en-US" sz="16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algn="just">
                  <a:buSzPct val="100000"/>
                </a:pP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merupakan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fungsi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tak</a:t>
                </a:r>
                <a:r>
                  <a:rPr lang="en-US" sz="16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konveks</a:t>
                </a:r>
                <a:r>
                  <a:rPr lang="en-US" sz="16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pada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definisi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klasiknya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,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tetapi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konveks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secara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geodesik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dengan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geodesik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sebagaimana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pada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Contoh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1.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Lebih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lanjut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𝑓</m:t>
                    </m:r>
                  </m:oMath>
                </a14:m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juga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fungsi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proper lower semi-continuous</a:t>
                </a:r>
              </a:p>
              <a:p>
                <a:pPr algn="just">
                  <a:buSzPct val="100000"/>
                </a:pPr>
                <a:endParaRPr lang="en-US" sz="16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AB96CB4-BF14-8B82-8FC6-5460EC12F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86" y="1666810"/>
                <a:ext cx="8158500" cy="2656946"/>
              </a:xfrm>
              <a:prstGeom prst="rect">
                <a:avLst/>
              </a:prstGeom>
              <a:blipFill>
                <a:blip r:embed="rId5"/>
                <a:stretch>
                  <a:fillRect l="-448" t="-229" r="-37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168;p26">
            <a:extLst>
              <a:ext uri="{FF2B5EF4-FFF2-40B4-BE49-F238E27FC236}">
                <a16:creationId xmlns:a16="http://schemas.microsoft.com/office/drawing/2014/main" id="{E7D12961-837F-3335-EFBD-FAAD49E8D988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78712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0C47783C-537D-A3ED-8002-907F9AF41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descr="Icon&#10;&#10;Description automatically generated">
            <a:extLst>
              <a:ext uri="{FF2B5EF4-FFF2-40B4-BE49-F238E27FC236}">
                <a16:creationId xmlns:a16="http://schemas.microsoft.com/office/drawing/2014/main" id="{5E30501D-EDA3-7BC2-CBB3-937C44207F3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>
            <a:extLst>
              <a:ext uri="{FF2B5EF4-FFF2-40B4-BE49-F238E27FC236}">
                <a16:creationId xmlns:a16="http://schemas.microsoft.com/office/drawing/2014/main" id="{40CB8A8B-C674-175E-4061-C3439DC79E7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>
            <a:extLst>
              <a:ext uri="{FF2B5EF4-FFF2-40B4-BE49-F238E27FC236}">
                <a16:creationId xmlns:a16="http://schemas.microsoft.com/office/drawing/2014/main" id="{836258DE-3613-7B3D-A211-7E13473CC7B0}"/>
              </a:ext>
            </a:extLst>
          </p:cNvPr>
          <p:cNvSpPr/>
          <p:nvPr/>
        </p:nvSpPr>
        <p:spPr>
          <a:xfrm>
            <a:off x="8886389" y="256207"/>
            <a:ext cx="257700" cy="31680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7">
            <a:extLst>
              <a:ext uri="{FF2B5EF4-FFF2-40B4-BE49-F238E27FC236}">
                <a16:creationId xmlns:a16="http://schemas.microsoft.com/office/drawing/2014/main" id="{916356E3-FDE6-0DD1-6C24-38C783DD7039}"/>
              </a:ext>
            </a:extLst>
          </p:cNvPr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>
            <a:extLst>
              <a:ext uri="{FF2B5EF4-FFF2-40B4-BE49-F238E27FC236}">
                <a16:creationId xmlns:a16="http://schemas.microsoft.com/office/drawing/2014/main" id="{BDEFC204-F3AB-3038-3F7F-491E15D70420}"/>
              </a:ext>
            </a:extLst>
          </p:cNvPr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>
            <a:extLst>
              <a:ext uri="{FF2B5EF4-FFF2-40B4-BE49-F238E27FC236}">
                <a16:creationId xmlns:a16="http://schemas.microsoft.com/office/drawing/2014/main" id="{13C1FF4C-31D7-0B0A-BEBE-BD7F7F8C97CC}"/>
              </a:ext>
            </a:extLst>
          </p:cNvPr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>
            <a:extLst>
              <a:ext uri="{FF2B5EF4-FFF2-40B4-BE49-F238E27FC236}">
                <a16:creationId xmlns:a16="http://schemas.microsoft.com/office/drawing/2014/main" id="{4106D167-69CC-F8DC-5A76-39416833EE51}"/>
              </a:ext>
            </a:extLst>
          </p:cNvPr>
          <p:cNvSpPr txBox="1"/>
          <p:nvPr/>
        </p:nvSpPr>
        <p:spPr>
          <a:xfrm>
            <a:off x="8730234" y="4871371"/>
            <a:ext cx="41376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38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205;p28">
            <a:extLst>
              <a:ext uri="{FF2B5EF4-FFF2-40B4-BE49-F238E27FC236}">
                <a16:creationId xmlns:a16="http://schemas.microsoft.com/office/drawing/2014/main" id="{2E53F6B9-288E-8193-43F5-63E914A1E10A}"/>
              </a:ext>
            </a:extLst>
          </p:cNvPr>
          <p:cNvSpPr/>
          <p:nvPr/>
        </p:nvSpPr>
        <p:spPr>
          <a:xfrm>
            <a:off x="0" y="1244462"/>
            <a:ext cx="5523355" cy="347625"/>
          </a:xfrm>
          <a:prstGeom prst="rect">
            <a:avLst/>
          </a:prstGeom>
          <a:gradFill>
            <a:gsLst>
              <a:gs pos="0">
                <a:srgbClr val="F5F7FC">
                  <a:alpha val="0"/>
                </a:srgbClr>
              </a:gs>
              <a:gs pos="73000">
                <a:srgbClr val="F5AA2D"/>
              </a:gs>
              <a:gs pos="100000">
                <a:srgbClr val="F5AA2D"/>
              </a:gs>
            </a:gsLst>
            <a:lin ang="10800025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06;p28">
            <a:extLst>
              <a:ext uri="{FF2B5EF4-FFF2-40B4-BE49-F238E27FC236}">
                <a16:creationId xmlns:a16="http://schemas.microsoft.com/office/drawing/2014/main" id="{C6B6D2B6-220F-0798-6D74-89A35CCCC65C}"/>
              </a:ext>
            </a:extLst>
          </p:cNvPr>
          <p:cNvSpPr txBox="1"/>
          <p:nvPr/>
        </p:nvSpPr>
        <p:spPr>
          <a:xfrm>
            <a:off x="655987" y="1195227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 err="1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Minimalisasi</a:t>
            </a:r>
            <a:r>
              <a:rPr lang="en-US"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Fungsi</a:t>
            </a:r>
            <a:r>
              <a:rPr lang="en-US"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(</a:t>
            </a:r>
            <a:r>
              <a:rPr lang="en-US" sz="1800" dirty="0" err="1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Simulasi</a:t>
            </a:r>
            <a:r>
              <a:rPr lang="en-US"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)</a:t>
            </a: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" name="Google Shape;206;p28">
            <a:extLst>
              <a:ext uri="{FF2B5EF4-FFF2-40B4-BE49-F238E27FC236}">
                <a16:creationId xmlns:a16="http://schemas.microsoft.com/office/drawing/2014/main" id="{BC9A3BF5-16B8-EE9B-85D9-B2602C66FEB3}"/>
              </a:ext>
            </a:extLst>
          </p:cNvPr>
          <p:cNvSpPr txBox="1"/>
          <p:nvPr/>
        </p:nvSpPr>
        <p:spPr>
          <a:xfrm>
            <a:off x="2245530" y="1197153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12681C68-A4FE-4043-4797-25467FFB2CA1}"/>
              </a:ext>
            </a:extLst>
          </p:cNvPr>
          <p:cNvSpPr txBox="1">
            <a:spLocks/>
          </p:cNvSpPr>
          <p:nvPr/>
        </p:nvSpPr>
        <p:spPr>
          <a:xfrm>
            <a:off x="313179" y="730194"/>
            <a:ext cx="7413913" cy="4447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4.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Aplikasi</a:t>
            </a:r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dalam</a:t>
            </a:r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Optimasi</a:t>
            </a:r>
            <a:endParaRPr lang="en-US" dirty="0">
              <a:solidFill>
                <a:srgbClr val="002060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Google Shape;177;p27">
            <a:extLst>
              <a:ext uri="{FF2B5EF4-FFF2-40B4-BE49-F238E27FC236}">
                <a16:creationId xmlns:a16="http://schemas.microsoft.com/office/drawing/2014/main" id="{A96F2402-308B-7273-13A5-78CF227FB450}"/>
              </a:ext>
            </a:extLst>
          </p:cNvPr>
          <p:cNvSpPr txBox="1"/>
          <p:nvPr/>
        </p:nvSpPr>
        <p:spPr>
          <a:xfrm>
            <a:off x="4077730" y="81794"/>
            <a:ext cx="47945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Hasil dan </a:t>
            </a: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Pembahasan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A1EA1F-ACDF-0318-7F82-791AFCFD08C8}"/>
                  </a:ext>
                </a:extLst>
              </p:cNvPr>
              <p:cNvSpPr txBox="1"/>
              <p:nvPr/>
            </p:nvSpPr>
            <p:spPr>
              <a:xfrm>
                <a:off x="655986" y="1666810"/>
                <a:ext cx="8158500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SzPct val="100000"/>
                </a:pP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Dilakukan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simulasi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dengan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perangkat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lunak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Google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Colab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dan parameter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nilai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awal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=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10, 10, 0, 0, …</m:t>
                        </m:r>
                      </m:e>
                    </m:d>
                  </m:oMath>
                </a14:m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dan parameter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iterasi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𝜆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=20, 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𝑎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𝑛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=0.34, 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𝑐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𝑛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=0.93</m:t>
                    </m:r>
                  </m:oMath>
                </a14:m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untuk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setiap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𝑛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∈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ℕ</m:t>
                    </m:r>
                  </m:oMath>
                </a14:m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.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Berikut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data 7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iterasi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pertama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dengan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skema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Sabri dan JK.</a:t>
                </a:r>
              </a:p>
              <a:p>
                <a:pPr algn="just">
                  <a:buSzPct val="100000"/>
                </a:pPr>
                <a:endParaRPr lang="en-US" sz="16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A1EA1F-ACDF-0318-7F82-791AFCFD0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86" y="1666810"/>
                <a:ext cx="8158500" cy="1077218"/>
              </a:xfrm>
              <a:prstGeom prst="rect">
                <a:avLst/>
              </a:prstGeom>
              <a:blipFill>
                <a:blip r:embed="rId5"/>
                <a:stretch>
                  <a:fillRect l="-448" t="-1130" r="-37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13C99AFF-CB7B-6E33-6FF6-7D4E97D031C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24870"/>
          <a:stretch>
            <a:fillRect/>
          </a:stretch>
        </p:blipFill>
        <p:spPr>
          <a:xfrm>
            <a:off x="1887011" y="2456420"/>
            <a:ext cx="5369977" cy="2255623"/>
          </a:xfrm>
          <a:prstGeom prst="rect">
            <a:avLst/>
          </a:prstGeom>
        </p:spPr>
      </p:pic>
      <p:sp>
        <p:nvSpPr>
          <p:cNvPr id="10" name="Google Shape;168;p26">
            <a:extLst>
              <a:ext uri="{FF2B5EF4-FFF2-40B4-BE49-F238E27FC236}">
                <a16:creationId xmlns:a16="http://schemas.microsoft.com/office/drawing/2014/main" id="{7177C943-3406-D556-7ED0-83418AC75257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6066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2FD3C55-E313-BE19-0AFD-086364EF6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descr="Icon&#10;&#10;Description automatically generated">
            <a:extLst>
              <a:ext uri="{FF2B5EF4-FFF2-40B4-BE49-F238E27FC236}">
                <a16:creationId xmlns:a16="http://schemas.microsoft.com/office/drawing/2014/main" id="{5F341E44-D174-33F8-0907-26FB2C0131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>
            <a:extLst>
              <a:ext uri="{FF2B5EF4-FFF2-40B4-BE49-F238E27FC236}">
                <a16:creationId xmlns:a16="http://schemas.microsoft.com/office/drawing/2014/main" id="{F784F097-8B2B-69D8-00CC-488C5E22E34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>
            <a:extLst>
              <a:ext uri="{FF2B5EF4-FFF2-40B4-BE49-F238E27FC236}">
                <a16:creationId xmlns:a16="http://schemas.microsoft.com/office/drawing/2014/main" id="{6BB165D1-5AB0-ADA1-5405-C8EF0D7621F4}"/>
              </a:ext>
            </a:extLst>
          </p:cNvPr>
          <p:cNvSpPr/>
          <p:nvPr/>
        </p:nvSpPr>
        <p:spPr>
          <a:xfrm>
            <a:off x="8886389" y="256207"/>
            <a:ext cx="257700" cy="31680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7">
            <a:extLst>
              <a:ext uri="{FF2B5EF4-FFF2-40B4-BE49-F238E27FC236}">
                <a16:creationId xmlns:a16="http://schemas.microsoft.com/office/drawing/2014/main" id="{909E4CEA-31F8-7649-B199-91B58B07D766}"/>
              </a:ext>
            </a:extLst>
          </p:cNvPr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>
            <a:extLst>
              <a:ext uri="{FF2B5EF4-FFF2-40B4-BE49-F238E27FC236}">
                <a16:creationId xmlns:a16="http://schemas.microsoft.com/office/drawing/2014/main" id="{E632EAE6-34BE-7BB1-F416-4CD8E0ABFB7D}"/>
              </a:ext>
            </a:extLst>
          </p:cNvPr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>
            <a:extLst>
              <a:ext uri="{FF2B5EF4-FFF2-40B4-BE49-F238E27FC236}">
                <a16:creationId xmlns:a16="http://schemas.microsoft.com/office/drawing/2014/main" id="{044D02DC-DAD5-7DA5-A97F-51A8E52C1A89}"/>
              </a:ext>
            </a:extLst>
          </p:cNvPr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>
            <a:extLst>
              <a:ext uri="{FF2B5EF4-FFF2-40B4-BE49-F238E27FC236}">
                <a16:creationId xmlns:a16="http://schemas.microsoft.com/office/drawing/2014/main" id="{A4F93737-C56F-CD8B-31A3-521081857BEC}"/>
              </a:ext>
            </a:extLst>
          </p:cNvPr>
          <p:cNvSpPr txBox="1"/>
          <p:nvPr/>
        </p:nvSpPr>
        <p:spPr>
          <a:xfrm>
            <a:off x="8730234" y="4871371"/>
            <a:ext cx="41376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39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205;p28">
            <a:extLst>
              <a:ext uri="{FF2B5EF4-FFF2-40B4-BE49-F238E27FC236}">
                <a16:creationId xmlns:a16="http://schemas.microsoft.com/office/drawing/2014/main" id="{E01CD9A9-EB9F-E08E-D5A7-19EE3D4CF110}"/>
              </a:ext>
            </a:extLst>
          </p:cNvPr>
          <p:cNvSpPr/>
          <p:nvPr/>
        </p:nvSpPr>
        <p:spPr>
          <a:xfrm>
            <a:off x="0" y="1244462"/>
            <a:ext cx="5523355" cy="347625"/>
          </a:xfrm>
          <a:prstGeom prst="rect">
            <a:avLst/>
          </a:prstGeom>
          <a:gradFill>
            <a:gsLst>
              <a:gs pos="0">
                <a:srgbClr val="F5F7FC">
                  <a:alpha val="0"/>
                </a:srgbClr>
              </a:gs>
              <a:gs pos="73000">
                <a:srgbClr val="F5AA2D"/>
              </a:gs>
              <a:gs pos="100000">
                <a:srgbClr val="F5AA2D"/>
              </a:gs>
            </a:gsLst>
            <a:lin ang="10800025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06;p28">
            <a:extLst>
              <a:ext uri="{FF2B5EF4-FFF2-40B4-BE49-F238E27FC236}">
                <a16:creationId xmlns:a16="http://schemas.microsoft.com/office/drawing/2014/main" id="{882748E5-8FA3-19C1-037A-5A7B04F86A90}"/>
              </a:ext>
            </a:extLst>
          </p:cNvPr>
          <p:cNvSpPr txBox="1"/>
          <p:nvPr/>
        </p:nvSpPr>
        <p:spPr>
          <a:xfrm>
            <a:off x="655987" y="1195227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 err="1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Minimalisasi</a:t>
            </a:r>
            <a:r>
              <a:rPr lang="en-US"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Fungsi</a:t>
            </a:r>
            <a:r>
              <a:rPr lang="en-US"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(</a:t>
            </a:r>
            <a:r>
              <a:rPr lang="en-US" sz="1800" dirty="0" err="1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Simulasi</a:t>
            </a:r>
            <a:r>
              <a:rPr lang="en-US"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)</a:t>
            </a: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" name="Google Shape;206;p28">
            <a:extLst>
              <a:ext uri="{FF2B5EF4-FFF2-40B4-BE49-F238E27FC236}">
                <a16:creationId xmlns:a16="http://schemas.microsoft.com/office/drawing/2014/main" id="{72CA2BA6-2D22-AA8A-7B6C-3775CBAFB98F}"/>
              </a:ext>
            </a:extLst>
          </p:cNvPr>
          <p:cNvSpPr txBox="1"/>
          <p:nvPr/>
        </p:nvSpPr>
        <p:spPr>
          <a:xfrm>
            <a:off x="2245530" y="1197153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0261227-2F90-3741-9433-BB8DCBE7E2EE}"/>
              </a:ext>
            </a:extLst>
          </p:cNvPr>
          <p:cNvSpPr txBox="1">
            <a:spLocks/>
          </p:cNvSpPr>
          <p:nvPr/>
        </p:nvSpPr>
        <p:spPr>
          <a:xfrm>
            <a:off x="313179" y="730194"/>
            <a:ext cx="7413913" cy="4447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4.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Aplikasi</a:t>
            </a:r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dalam</a:t>
            </a:r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Optimasi</a:t>
            </a:r>
            <a:endParaRPr lang="en-US" dirty="0">
              <a:solidFill>
                <a:srgbClr val="002060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Google Shape;177;p27">
            <a:extLst>
              <a:ext uri="{FF2B5EF4-FFF2-40B4-BE49-F238E27FC236}">
                <a16:creationId xmlns:a16="http://schemas.microsoft.com/office/drawing/2014/main" id="{6197D2B0-D6CA-AD5B-6BE6-E3471394D820}"/>
              </a:ext>
            </a:extLst>
          </p:cNvPr>
          <p:cNvSpPr txBox="1"/>
          <p:nvPr/>
        </p:nvSpPr>
        <p:spPr>
          <a:xfrm>
            <a:off x="4077730" y="81794"/>
            <a:ext cx="47945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Hasil dan </a:t>
            </a: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Pembahasan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1D1913-E565-9921-0E8F-7462EAE65FC0}"/>
              </a:ext>
            </a:extLst>
          </p:cNvPr>
          <p:cNvSpPr txBox="1"/>
          <p:nvPr/>
        </p:nvSpPr>
        <p:spPr>
          <a:xfrm>
            <a:off x="655986" y="1666810"/>
            <a:ext cx="81585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SzPct val="100000"/>
            </a:pPr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Grafik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galat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 (</a:t>
            </a:r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dalam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 log) vs </a:t>
            </a:r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iterasi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untuk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 55 </a:t>
            </a:r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iterasi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pertama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42FBF8-5DB9-706A-6841-03448B7CC7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0923" y="1960223"/>
            <a:ext cx="3982154" cy="2880000"/>
          </a:xfrm>
          <a:prstGeom prst="rect">
            <a:avLst/>
          </a:prstGeom>
        </p:spPr>
      </p:pic>
      <p:sp>
        <p:nvSpPr>
          <p:cNvPr id="11" name="Google Shape;168;p26">
            <a:extLst>
              <a:ext uri="{FF2B5EF4-FFF2-40B4-BE49-F238E27FC236}">
                <a16:creationId xmlns:a16="http://schemas.microsoft.com/office/drawing/2014/main" id="{9CDA7E5E-1198-EC05-C117-4E38F76D1EE8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06669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DE8E5BD9-F0A5-7404-B4EF-65B0AC92A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descr="Icon&#10;&#10;Description automatically generated">
            <a:extLst>
              <a:ext uri="{FF2B5EF4-FFF2-40B4-BE49-F238E27FC236}">
                <a16:creationId xmlns:a16="http://schemas.microsoft.com/office/drawing/2014/main" id="{A099A618-EF50-F905-7EA7-54276E006D9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>
            <a:extLst>
              <a:ext uri="{FF2B5EF4-FFF2-40B4-BE49-F238E27FC236}">
                <a16:creationId xmlns:a16="http://schemas.microsoft.com/office/drawing/2014/main" id="{F8315592-054E-7E0B-5D49-0E6A7AC5935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>
            <a:extLst>
              <a:ext uri="{FF2B5EF4-FFF2-40B4-BE49-F238E27FC236}">
                <a16:creationId xmlns:a16="http://schemas.microsoft.com/office/drawing/2014/main" id="{F5EF9605-89B8-8DBD-56A9-B0A29329F8C5}"/>
              </a:ext>
            </a:extLst>
          </p:cNvPr>
          <p:cNvSpPr/>
          <p:nvPr/>
        </p:nvSpPr>
        <p:spPr>
          <a:xfrm>
            <a:off x="8886389" y="256207"/>
            <a:ext cx="257700" cy="31680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7">
            <a:extLst>
              <a:ext uri="{FF2B5EF4-FFF2-40B4-BE49-F238E27FC236}">
                <a16:creationId xmlns:a16="http://schemas.microsoft.com/office/drawing/2014/main" id="{2747EE09-510D-8D57-1448-290AB3B837D0}"/>
              </a:ext>
            </a:extLst>
          </p:cNvPr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>
            <a:extLst>
              <a:ext uri="{FF2B5EF4-FFF2-40B4-BE49-F238E27FC236}">
                <a16:creationId xmlns:a16="http://schemas.microsoft.com/office/drawing/2014/main" id="{B097D48B-46C0-3607-312C-74D1547425FF}"/>
              </a:ext>
            </a:extLst>
          </p:cNvPr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>
            <a:extLst>
              <a:ext uri="{FF2B5EF4-FFF2-40B4-BE49-F238E27FC236}">
                <a16:creationId xmlns:a16="http://schemas.microsoft.com/office/drawing/2014/main" id="{5259AC39-DE1C-FDFC-4E0D-1BFBF286EEC1}"/>
              </a:ext>
            </a:extLst>
          </p:cNvPr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>
            <a:extLst>
              <a:ext uri="{FF2B5EF4-FFF2-40B4-BE49-F238E27FC236}">
                <a16:creationId xmlns:a16="http://schemas.microsoft.com/office/drawing/2014/main" id="{80CC6116-8041-7F10-1F05-94CE900AA354}"/>
              </a:ext>
            </a:extLst>
          </p:cNvPr>
          <p:cNvSpPr txBox="1"/>
          <p:nvPr/>
        </p:nvSpPr>
        <p:spPr>
          <a:xfrm>
            <a:off x="8730234" y="4871371"/>
            <a:ext cx="41376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5A5A5"/>
                </a:solidFill>
              </a:rPr>
              <a:t>40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205;p28">
            <a:extLst>
              <a:ext uri="{FF2B5EF4-FFF2-40B4-BE49-F238E27FC236}">
                <a16:creationId xmlns:a16="http://schemas.microsoft.com/office/drawing/2014/main" id="{F00C03EC-C996-35B2-1D11-43FC96450405}"/>
              </a:ext>
            </a:extLst>
          </p:cNvPr>
          <p:cNvSpPr/>
          <p:nvPr/>
        </p:nvSpPr>
        <p:spPr>
          <a:xfrm>
            <a:off x="0" y="1244462"/>
            <a:ext cx="5523355" cy="347625"/>
          </a:xfrm>
          <a:prstGeom prst="rect">
            <a:avLst/>
          </a:prstGeom>
          <a:gradFill>
            <a:gsLst>
              <a:gs pos="0">
                <a:srgbClr val="F5F7FC">
                  <a:alpha val="0"/>
                </a:srgbClr>
              </a:gs>
              <a:gs pos="73000">
                <a:srgbClr val="F5AA2D"/>
              </a:gs>
              <a:gs pos="100000">
                <a:srgbClr val="F5AA2D"/>
              </a:gs>
            </a:gsLst>
            <a:lin ang="10800025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06;p28">
            <a:extLst>
              <a:ext uri="{FF2B5EF4-FFF2-40B4-BE49-F238E27FC236}">
                <a16:creationId xmlns:a16="http://schemas.microsoft.com/office/drawing/2014/main" id="{F286C225-378A-817F-08B1-C0C790FF416E}"/>
              </a:ext>
            </a:extLst>
          </p:cNvPr>
          <p:cNvSpPr txBox="1"/>
          <p:nvPr/>
        </p:nvSpPr>
        <p:spPr>
          <a:xfrm>
            <a:off x="655987" y="1195227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 err="1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Rekonstruksi</a:t>
            </a:r>
            <a:r>
              <a:rPr lang="en-US"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Citra</a:t>
            </a: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" name="Google Shape;206;p28">
            <a:extLst>
              <a:ext uri="{FF2B5EF4-FFF2-40B4-BE49-F238E27FC236}">
                <a16:creationId xmlns:a16="http://schemas.microsoft.com/office/drawing/2014/main" id="{B8B7A42B-6DB3-887C-FD8B-498E8C8D8F67}"/>
              </a:ext>
            </a:extLst>
          </p:cNvPr>
          <p:cNvSpPr txBox="1"/>
          <p:nvPr/>
        </p:nvSpPr>
        <p:spPr>
          <a:xfrm>
            <a:off x="2245530" y="1197153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7280F994-08BD-4038-6737-840042FBAD29}"/>
              </a:ext>
            </a:extLst>
          </p:cNvPr>
          <p:cNvSpPr txBox="1">
            <a:spLocks/>
          </p:cNvSpPr>
          <p:nvPr/>
        </p:nvSpPr>
        <p:spPr>
          <a:xfrm>
            <a:off x="313179" y="730194"/>
            <a:ext cx="7413913" cy="4447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4.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Aplikasi</a:t>
            </a:r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dalam</a:t>
            </a:r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Optimasi</a:t>
            </a:r>
            <a:endParaRPr lang="en-US" dirty="0">
              <a:solidFill>
                <a:srgbClr val="002060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Google Shape;177;p27">
            <a:extLst>
              <a:ext uri="{FF2B5EF4-FFF2-40B4-BE49-F238E27FC236}">
                <a16:creationId xmlns:a16="http://schemas.microsoft.com/office/drawing/2014/main" id="{877900B6-4139-8F9F-B0FB-3E1BEED7F304}"/>
              </a:ext>
            </a:extLst>
          </p:cNvPr>
          <p:cNvSpPr txBox="1"/>
          <p:nvPr/>
        </p:nvSpPr>
        <p:spPr>
          <a:xfrm>
            <a:off x="4077730" y="81794"/>
            <a:ext cx="47945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Hasil dan </a:t>
            </a: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Pembahasan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B54A5F-274C-B2FD-C4C3-E9C3C09E878B}"/>
                  </a:ext>
                </a:extLst>
              </p:cNvPr>
              <p:cNvSpPr txBox="1"/>
              <p:nvPr/>
            </p:nvSpPr>
            <p:spPr>
              <a:xfrm>
                <a:off x="655986" y="1666810"/>
                <a:ext cx="8158500" cy="28532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SzPct val="100000"/>
                </a:pP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Split Feasibility Problem (SFP)</a:t>
                </a:r>
              </a:p>
              <a:p>
                <a:pPr algn="just"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Cari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titik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 </m:t>
                      </m:r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𝑥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∗</m:t>
                          </m:r>
                        </m:sup>
                      </m:sSup>
                      <m:r>
                        <a:rPr lang="en-US" sz="160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∈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𝐶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sz="160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yang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memenuhi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𝐴</m:t>
                      </m:r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𝑥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∗</m:t>
                          </m:r>
                        </m:sup>
                      </m:sSup>
                      <m:r>
                        <a:rPr lang="en-US" sz="160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∈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𝑄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,   </m:t>
                      </m:r>
                    </m:oMath>
                  </m:oMathPara>
                </a14:m>
                <a:endParaRPr lang="en-US" sz="1600" b="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algn="just">
                  <a:buSzPct val="100000"/>
                </a:pP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Dengan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𝐶</m:t>
                    </m:r>
                  </m:oMath>
                </a14:m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𝑄</m:t>
                    </m:r>
                  </m:oMath>
                </a14:m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berturut-turut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adalah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himpunan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bagian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tertutup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dan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konveks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dari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Hilbert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serta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𝐴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: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→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adalah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transformasi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linier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terbatas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. </a:t>
                </a:r>
              </a:p>
              <a:p>
                <a:pPr algn="just">
                  <a:buSzPct val="100000"/>
                </a:pPr>
                <a:endParaRPr lang="en-US" sz="16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algn="just">
                  <a:buSzPct val="100000"/>
                </a:pP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Titik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∗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∈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𝐶</m:t>
                    </m:r>
                  </m:oMath>
                </a14:m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adalah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solusi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dari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permasalahan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SFP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jika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dan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hanya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jika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memenuhi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persamaan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titik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tetap</a:t>
                </a:r>
                <a:endParaRPr lang="en-US" sz="16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algn="just"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𝑥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𝐼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𝛾</m:t>
                          </m:r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𝐼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Poppins" panose="00000500000000000000" pitchFamily="2" charset="0"/>
                                    </a:rPr>
                                    <m:t>𝑄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𝐴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𝑥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,</m:t>
                      </m:r>
                    </m:oMath>
                  </m:oMathPara>
                </a14:m>
                <a:endParaRPr lang="en-US" sz="1600" b="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algn="just">
                  <a:buSzPct val="100000"/>
                </a:pP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dengan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Adalah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proyeksi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titik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terdekat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pada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𝐶</m:t>
                    </m:r>
                  </m:oMath>
                </a14:m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𝑄</m:t>
                    </m:r>
                  </m:oMath>
                </a14:m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𝛾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&gt;0</m:t>
                    </m:r>
                  </m:oMath>
                </a14:m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𝐴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adalah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transformasi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adjoin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dari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𝐴</m:t>
                    </m:r>
                  </m:oMath>
                </a14:m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B54A5F-274C-B2FD-C4C3-E9C3C09E8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86" y="1666810"/>
                <a:ext cx="8158500" cy="2853282"/>
              </a:xfrm>
              <a:prstGeom prst="rect">
                <a:avLst/>
              </a:prstGeom>
              <a:blipFill>
                <a:blip r:embed="rId5"/>
                <a:stretch>
                  <a:fillRect l="-448" t="-427" r="-374" b="-192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168;p26">
            <a:extLst>
              <a:ext uri="{FF2B5EF4-FFF2-40B4-BE49-F238E27FC236}">
                <a16:creationId xmlns:a16="http://schemas.microsoft.com/office/drawing/2014/main" id="{D4D0102C-F30A-A9F5-D239-572AB28A1BFD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02841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76E031D1-7E53-1694-25DD-A49A29A99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descr="Icon&#10;&#10;Description automatically generated">
            <a:extLst>
              <a:ext uri="{FF2B5EF4-FFF2-40B4-BE49-F238E27FC236}">
                <a16:creationId xmlns:a16="http://schemas.microsoft.com/office/drawing/2014/main" id="{76C6500A-5039-5A0D-CE18-05B95120274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>
            <a:extLst>
              <a:ext uri="{FF2B5EF4-FFF2-40B4-BE49-F238E27FC236}">
                <a16:creationId xmlns:a16="http://schemas.microsoft.com/office/drawing/2014/main" id="{B01E9854-413F-9310-4DD6-C36606EFB5E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>
            <a:extLst>
              <a:ext uri="{FF2B5EF4-FFF2-40B4-BE49-F238E27FC236}">
                <a16:creationId xmlns:a16="http://schemas.microsoft.com/office/drawing/2014/main" id="{1A44EF6B-B01F-135E-BBEE-ED213C387A87}"/>
              </a:ext>
            </a:extLst>
          </p:cNvPr>
          <p:cNvSpPr/>
          <p:nvPr/>
        </p:nvSpPr>
        <p:spPr>
          <a:xfrm>
            <a:off x="8886389" y="256207"/>
            <a:ext cx="257700" cy="31680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7">
            <a:extLst>
              <a:ext uri="{FF2B5EF4-FFF2-40B4-BE49-F238E27FC236}">
                <a16:creationId xmlns:a16="http://schemas.microsoft.com/office/drawing/2014/main" id="{57086B44-59C9-AD30-F727-59D221952F20}"/>
              </a:ext>
            </a:extLst>
          </p:cNvPr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>
            <a:extLst>
              <a:ext uri="{FF2B5EF4-FFF2-40B4-BE49-F238E27FC236}">
                <a16:creationId xmlns:a16="http://schemas.microsoft.com/office/drawing/2014/main" id="{2BA16CBE-1287-1405-6A0A-AC0F8B41EC04}"/>
              </a:ext>
            </a:extLst>
          </p:cNvPr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>
            <a:extLst>
              <a:ext uri="{FF2B5EF4-FFF2-40B4-BE49-F238E27FC236}">
                <a16:creationId xmlns:a16="http://schemas.microsoft.com/office/drawing/2014/main" id="{74E27933-42FA-5E2B-FAF1-6F3A0625A1D8}"/>
              </a:ext>
            </a:extLst>
          </p:cNvPr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>
            <a:extLst>
              <a:ext uri="{FF2B5EF4-FFF2-40B4-BE49-F238E27FC236}">
                <a16:creationId xmlns:a16="http://schemas.microsoft.com/office/drawing/2014/main" id="{CB7E6151-B5AA-0089-3176-F40A712933DD}"/>
              </a:ext>
            </a:extLst>
          </p:cNvPr>
          <p:cNvSpPr txBox="1"/>
          <p:nvPr/>
        </p:nvSpPr>
        <p:spPr>
          <a:xfrm>
            <a:off x="8730234" y="4871371"/>
            <a:ext cx="41376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5A5A5"/>
                </a:solidFill>
              </a:rPr>
              <a:t>41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205;p28">
            <a:extLst>
              <a:ext uri="{FF2B5EF4-FFF2-40B4-BE49-F238E27FC236}">
                <a16:creationId xmlns:a16="http://schemas.microsoft.com/office/drawing/2014/main" id="{BA90245F-8B09-2EB3-E7FA-79DF83519CA0}"/>
              </a:ext>
            </a:extLst>
          </p:cNvPr>
          <p:cNvSpPr/>
          <p:nvPr/>
        </p:nvSpPr>
        <p:spPr>
          <a:xfrm>
            <a:off x="0" y="1244462"/>
            <a:ext cx="5523355" cy="347625"/>
          </a:xfrm>
          <a:prstGeom prst="rect">
            <a:avLst/>
          </a:prstGeom>
          <a:gradFill>
            <a:gsLst>
              <a:gs pos="0">
                <a:srgbClr val="F5F7FC">
                  <a:alpha val="0"/>
                </a:srgbClr>
              </a:gs>
              <a:gs pos="73000">
                <a:srgbClr val="F5AA2D"/>
              </a:gs>
              <a:gs pos="100000">
                <a:srgbClr val="F5AA2D"/>
              </a:gs>
            </a:gsLst>
            <a:lin ang="10800025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06;p28">
            <a:extLst>
              <a:ext uri="{FF2B5EF4-FFF2-40B4-BE49-F238E27FC236}">
                <a16:creationId xmlns:a16="http://schemas.microsoft.com/office/drawing/2014/main" id="{6DDAADEC-0E5A-DD74-3344-69A05361687E}"/>
              </a:ext>
            </a:extLst>
          </p:cNvPr>
          <p:cNvSpPr txBox="1"/>
          <p:nvPr/>
        </p:nvSpPr>
        <p:spPr>
          <a:xfrm>
            <a:off x="655987" y="1195227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 err="1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Rekonstruksi</a:t>
            </a:r>
            <a:r>
              <a:rPr lang="en-US"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Citra</a:t>
            </a: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" name="Google Shape;206;p28">
            <a:extLst>
              <a:ext uri="{FF2B5EF4-FFF2-40B4-BE49-F238E27FC236}">
                <a16:creationId xmlns:a16="http://schemas.microsoft.com/office/drawing/2014/main" id="{92CAEAAC-9E47-D000-02A6-34F3CB017D69}"/>
              </a:ext>
            </a:extLst>
          </p:cNvPr>
          <p:cNvSpPr txBox="1"/>
          <p:nvPr/>
        </p:nvSpPr>
        <p:spPr>
          <a:xfrm>
            <a:off x="2245530" y="1197153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9F2649E9-B61C-FC11-AAC4-A2B0E7B66871}"/>
              </a:ext>
            </a:extLst>
          </p:cNvPr>
          <p:cNvSpPr txBox="1">
            <a:spLocks/>
          </p:cNvSpPr>
          <p:nvPr/>
        </p:nvSpPr>
        <p:spPr>
          <a:xfrm>
            <a:off x="313179" y="730194"/>
            <a:ext cx="7413913" cy="4447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4.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Aplikasi</a:t>
            </a:r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dalam</a:t>
            </a:r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Optimasi</a:t>
            </a:r>
            <a:endParaRPr lang="en-US" dirty="0">
              <a:solidFill>
                <a:srgbClr val="002060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Google Shape;177;p27">
            <a:extLst>
              <a:ext uri="{FF2B5EF4-FFF2-40B4-BE49-F238E27FC236}">
                <a16:creationId xmlns:a16="http://schemas.microsoft.com/office/drawing/2014/main" id="{E212F974-61A9-F903-FEEE-8D980D1750EB}"/>
              </a:ext>
            </a:extLst>
          </p:cNvPr>
          <p:cNvSpPr txBox="1"/>
          <p:nvPr/>
        </p:nvSpPr>
        <p:spPr>
          <a:xfrm>
            <a:off x="4077730" y="81794"/>
            <a:ext cx="47945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Hasil dan </a:t>
            </a: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Pembahasan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D850765-C631-75A7-EB2F-4410F5E27D0C}"/>
                  </a:ext>
                </a:extLst>
              </p:cNvPr>
              <p:cNvSpPr txBox="1"/>
              <p:nvPr/>
            </p:nvSpPr>
            <p:spPr>
              <a:xfrm>
                <a:off x="655986" y="1666810"/>
                <a:ext cx="8158500" cy="20938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SzPct val="100000"/>
                </a:pP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Simulasi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rekonstruksi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citra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dengan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menggunakan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citra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Shepp-Logan Phantom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∗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∈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ℝ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dengan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data sinogram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𝑄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𝐴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.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Pemetaan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yang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digunakan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Adalah </a:t>
                </a:r>
              </a:p>
              <a:p>
                <a:pPr algn="just"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𝑇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𝑥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𝑥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Poppins" panose="00000500000000000000" pitchFamily="2" charset="0"/>
                            </a:rPr>
                            <m:t>𝛾</m:t>
                          </m:r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𝐴𝑥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−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Poppins" panose="00000500000000000000" pitchFamily="2" charset="0"/>
                                </a:rPr>
                                <m:t>𝑄</m:t>
                              </m:r>
                            </m:e>
                          </m:d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cs typeface="Poppins" panose="00000500000000000000" pitchFamily="2" charset="0"/>
                        </a:rPr>
                        <m:t>,</m:t>
                      </m:r>
                    </m:oMath>
                  </m:oMathPara>
                </a14:m>
                <a:endParaRPr lang="en-US" sz="16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algn="just">
                  <a:buSzPct val="100000"/>
                </a:pP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dengan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𝐴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adalah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aproksimasi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dari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transformasi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adjoin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𝐴</m:t>
                    </m:r>
                  </m:oMath>
                </a14:m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adalah operator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proyeksi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ke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6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himpunan</a:t>
                </a:r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 batas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𝐶</m:t>
                    </m:r>
                  </m:oMath>
                </a14:m>
                <a:r>
                  <a:rPr lang="en-US" sz="1600" dirty="0">
                    <a:latin typeface="Poppins" panose="00000500000000000000" pitchFamily="2" charset="0"/>
                    <a:cs typeface="Poppins" panose="00000500000000000000" pitchFamily="2" charset="0"/>
                  </a:rPr>
                  <a:t>.</a:t>
                </a:r>
              </a:p>
              <a:p>
                <a:pPr algn="just">
                  <a:buSzPct val="100000"/>
                </a:pPr>
                <a:endParaRPr lang="en-US" sz="16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algn="just">
                  <a:buSzPct val="100000"/>
                </a:pPr>
                <a:endParaRPr lang="en-US" sz="16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D850765-C631-75A7-EB2F-4410F5E27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86" y="1666810"/>
                <a:ext cx="8158500" cy="2093843"/>
              </a:xfrm>
              <a:prstGeom prst="rect">
                <a:avLst/>
              </a:prstGeom>
              <a:blipFill>
                <a:blip r:embed="rId5"/>
                <a:stretch>
                  <a:fillRect l="-448" t="-581" r="-37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168;p26">
            <a:extLst>
              <a:ext uri="{FF2B5EF4-FFF2-40B4-BE49-F238E27FC236}">
                <a16:creationId xmlns:a16="http://schemas.microsoft.com/office/drawing/2014/main" id="{25865888-CD41-4E26-45F5-E1ADBAD2E173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502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2BF79A4A-42FD-F004-6FCE-DCE4E4AF3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descr="Icon&#10;&#10;Description automatically generated">
            <a:extLst>
              <a:ext uri="{FF2B5EF4-FFF2-40B4-BE49-F238E27FC236}">
                <a16:creationId xmlns:a16="http://schemas.microsoft.com/office/drawing/2014/main" id="{DD062171-66CD-437D-7738-9FEF732CF21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>
            <a:extLst>
              <a:ext uri="{FF2B5EF4-FFF2-40B4-BE49-F238E27FC236}">
                <a16:creationId xmlns:a16="http://schemas.microsoft.com/office/drawing/2014/main" id="{849CAB61-16CC-8C7B-A5AB-2D928FA230C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>
            <a:extLst>
              <a:ext uri="{FF2B5EF4-FFF2-40B4-BE49-F238E27FC236}">
                <a16:creationId xmlns:a16="http://schemas.microsoft.com/office/drawing/2014/main" id="{3D1BD943-4B49-4D9B-93AE-FEBE9EC82923}"/>
              </a:ext>
            </a:extLst>
          </p:cNvPr>
          <p:cNvSpPr/>
          <p:nvPr/>
        </p:nvSpPr>
        <p:spPr>
          <a:xfrm>
            <a:off x="8886389" y="256207"/>
            <a:ext cx="257700" cy="31680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7">
            <a:extLst>
              <a:ext uri="{FF2B5EF4-FFF2-40B4-BE49-F238E27FC236}">
                <a16:creationId xmlns:a16="http://schemas.microsoft.com/office/drawing/2014/main" id="{67468CAE-23E1-350D-7055-F784F694DB98}"/>
              </a:ext>
            </a:extLst>
          </p:cNvPr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>
            <a:extLst>
              <a:ext uri="{FF2B5EF4-FFF2-40B4-BE49-F238E27FC236}">
                <a16:creationId xmlns:a16="http://schemas.microsoft.com/office/drawing/2014/main" id="{966D1087-D892-CEED-FC61-8A0010A31073}"/>
              </a:ext>
            </a:extLst>
          </p:cNvPr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>
            <a:extLst>
              <a:ext uri="{FF2B5EF4-FFF2-40B4-BE49-F238E27FC236}">
                <a16:creationId xmlns:a16="http://schemas.microsoft.com/office/drawing/2014/main" id="{56E9795E-934D-AE20-D532-6E88343726CC}"/>
              </a:ext>
            </a:extLst>
          </p:cNvPr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>
            <a:extLst>
              <a:ext uri="{FF2B5EF4-FFF2-40B4-BE49-F238E27FC236}">
                <a16:creationId xmlns:a16="http://schemas.microsoft.com/office/drawing/2014/main" id="{7589BD2A-C953-C95B-9BAB-605F4E17959E}"/>
              </a:ext>
            </a:extLst>
          </p:cNvPr>
          <p:cNvSpPr txBox="1"/>
          <p:nvPr/>
        </p:nvSpPr>
        <p:spPr>
          <a:xfrm>
            <a:off x="8730234" y="4871371"/>
            <a:ext cx="41376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42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205;p28">
            <a:extLst>
              <a:ext uri="{FF2B5EF4-FFF2-40B4-BE49-F238E27FC236}">
                <a16:creationId xmlns:a16="http://schemas.microsoft.com/office/drawing/2014/main" id="{E8DA4C3D-7D58-E523-0E37-E3F712E088E2}"/>
              </a:ext>
            </a:extLst>
          </p:cNvPr>
          <p:cNvSpPr/>
          <p:nvPr/>
        </p:nvSpPr>
        <p:spPr>
          <a:xfrm>
            <a:off x="0" y="1244462"/>
            <a:ext cx="5523355" cy="347625"/>
          </a:xfrm>
          <a:prstGeom prst="rect">
            <a:avLst/>
          </a:prstGeom>
          <a:gradFill>
            <a:gsLst>
              <a:gs pos="0">
                <a:srgbClr val="F5F7FC">
                  <a:alpha val="0"/>
                </a:srgbClr>
              </a:gs>
              <a:gs pos="73000">
                <a:srgbClr val="F5AA2D"/>
              </a:gs>
              <a:gs pos="100000">
                <a:srgbClr val="F5AA2D"/>
              </a:gs>
            </a:gsLst>
            <a:lin ang="10800025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06;p28">
            <a:extLst>
              <a:ext uri="{FF2B5EF4-FFF2-40B4-BE49-F238E27FC236}">
                <a16:creationId xmlns:a16="http://schemas.microsoft.com/office/drawing/2014/main" id="{48A6ABAC-DC66-89CC-E818-0AEAD9170B34}"/>
              </a:ext>
            </a:extLst>
          </p:cNvPr>
          <p:cNvSpPr txBox="1"/>
          <p:nvPr/>
        </p:nvSpPr>
        <p:spPr>
          <a:xfrm>
            <a:off x="655987" y="1195227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 err="1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Rekonstruksi</a:t>
            </a:r>
            <a:r>
              <a:rPr lang="en-US"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Citra</a:t>
            </a: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" name="Google Shape;206;p28">
            <a:extLst>
              <a:ext uri="{FF2B5EF4-FFF2-40B4-BE49-F238E27FC236}">
                <a16:creationId xmlns:a16="http://schemas.microsoft.com/office/drawing/2014/main" id="{E7F0B77B-F08C-17E5-B27F-3C85F57E4B8B}"/>
              </a:ext>
            </a:extLst>
          </p:cNvPr>
          <p:cNvSpPr txBox="1"/>
          <p:nvPr/>
        </p:nvSpPr>
        <p:spPr>
          <a:xfrm>
            <a:off x="2245530" y="1197153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9CC9082-7DFD-8D3B-8337-99F56AD24327}"/>
              </a:ext>
            </a:extLst>
          </p:cNvPr>
          <p:cNvSpPr txBox="1">
            <a:spLocks/>
          </p:cNvSpPr>
          <p:nvPr/>
        </p:nvSpPr>
        <p:spPr>
          <a:xfrm>
            <a:off x="313179" y="730194"/>
            <a:ext cx="7413913" cy="4447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4.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Aplikasi</a:t>
            </a:r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dalam</a:t>
            </a:r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Optimasi</a:t>
            </a:r>
            <a:endParaRPr lang="en-US" dirty="0">
              <a:solidFill>
                <a:srgbClr val="002060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Google Shape;177;p27">
            <a:extLst>
              <a:ext uri="{FF2B5EF4-FFF2-40B4-BE49-F238E27FC236}">
                <a16:creationId xmlns:a16="http://schemas.microsoft.com/office/drawing/2014/main" id="{619B5CAC-0F4E-41B3-995A-633F5E595D41}"/>
              </a:ext>
            </a:extLst>
          </p:cNvPr>
          <p:cNvSpPr txBox="1"/>
          <p:nvPr/>
        </p:nvSpPr>
        <p:spPr>
          <a:xfrm>
            <a:off x="4077730" y="81794"/>
            <a:ext cx="47945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Hasil dan </a:t>
            </a: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Pembahasan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0C8BF3-6D4A-1746-B141-CC4F137264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6306" y="1757475"/>
            <a:ext cx="5431387" cy="2947687"/>
          </a:xfrm>
          <a:prstGeom prst="rect">
            <a:avLst/>
          </a:prstGeom>
        </p:spPr>
      </p:pic>
      <p:sp>
        <p:nvSpPr>
          <p:cNvPr id="10" name="Google Shape;168;p26">
            <a:extLst>
              <a:ext uri="{FF2B5EF4-FFF2-40B4-BE49-F238E27FC236}">
                <a16:creationId xmlns:a16="http://schemas.microsoft.com/office/drawing/2014/main" id="{EB402EBD-A765-357B-5078-A01FCE225181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47492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52AAF130-558A-8DB3-0291-555485260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descr="Icon&#10;&#10;Description automatically generated">
            <a:extLst>
              <a:ext uri="{FF2B5EF4-FFF2-40B4-BE49-F238E27FC236}">
                <a16:creationId xmlns:a16="http://schemas.microsoft.com/office/drawing/2014/main" id="{FDCB5150-E615-FDF5-42AA-AAE1A65EA03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>
            <a:extLst>
              <a:ext uri="{FF2B5EF4-FFF2-40B4-BE49-F238E27FC236}">
                <a16:creationId xmlns:a16="http://schemas.microsoft.com/office/drawing/2014/main" id="{7A388388-B9B4-36E2-2515-033DC1E07CA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>
            <a:extLst>
              <a:ext uri="{FF2B5EF4-FFF2-40B4-BE49-F238E27FC236}">
                <a16:creationId xmlns:a16="http://schemas.microsoft.com/office/drawing/2014/main" id="{905F31F2-1596-B29A-6350-368B15EFB5C0}"/>
              </a:ext>
            </a:extLst>
          </p:cNvPr>
          <p:cNvSpPr/>
          <p:nvPr/>
        </p:nvSpPr>
        <p:spPr>
          <a:xfrm>
            <a:off x="8886389" y="256207"/>
            <a:ext cx="257700" cy="31680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7">
            <a:extLst>
              <a:ext uri="{FF2B5EF4-FFF2-40B4-BE49-F238E27FC236}">
                <a16:creationId xmlns:a16="http://schemas.microsoft.com/office/drawing/2014/main" id="{0733FD8E-DE75-71F6-C323-8D0D87AF0D5F}"/>
              </a:ext>
            </a:extLst>
          </p:cNvPr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>
            <a:extLst>
              <a:ext uri="{FF2B5EF4-FFF2-40B4-BE49-F238E27FC236}">
                <a16:creationId xmlns:a16="http://schemas.microsoft.com/office/drawing/2014/main" id="{D4A791DC-1748-80CB-B55D-99A8993C7E95}"/>
              </a:ext>
            </a:extLst>
          </p:cNvPr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>
            <a:extLst>
              <a:ext uri="{FF2B5EF4-FFF2-40B4-BE49-F238E27FC236}">
                <a16:creationId xmlns:a16="http://schemas.microsoft.com/office/drawing/2014/main" id="{9B22523A-AEF9-8841-08F2-B27D43C70817}"/>
              </a:ext>
            </a:extLst>
          </p:cNvPr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>
            <a:extLst>
              <a:ext uri="{FF2B5EF4-FFF2-40B4-BE49-F238E27FC236}">
                <a16:creationId xmlns:a16="http://schemas.microsoft.com/office/drawing/2014/main" id="{CF169ED6-8816-8051-9E29-DB177AFCA84B}"/>
              </a:ext>
            </a:extLst>
          </p:cNvPr>
          <p:cNvSpPr txBox="1"/>
          <p:nvPr/>
        </p:nvSpPr>
        <p:spPr>
          <a:xfrm>
            <a:off x="8730234" y="4871371"/>
            <a:ext cx="41376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43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205;p28">
            <a:extLst>
              <a:ext uri="{FF2B5EF4-FFF2-40B4-BE49-F238E27FC236}">
                <a16:creationId xmlns:a16="http://schemas.microsoft.com/office/drawing/2014/main" id="{8375AEB2-9794-EB65-61F3-3B0324677876}"/>
              </a:ext>
            </a:extLst>
          </p:cNvPr>
          <p:cNvSpPr/>
          <p:nvPr/>
        </p:nvSpPr>
        <p:spPr>
          <a:xfrm>
            <a:off x="0" y="1244462"/>
            <a:ext cx="5523355" cy="347625"/>
          </a:xfrm>
          <a:prstGeom prst="rect">
            <a:avLst/>
          </a:prstGeom>
          <a:gradFill>
            <a:gsLst>
              <a:gs pos="0">
                <a:srgbClr val="F5F7FC">
                  <a:alpha val="0"/>
                </a:srgbClr>
              </a:gs>
              <a:gs pos="73000">
                <a:srgbClr val="F5AA2D"/>
              </a:gs>
              <a:gs pos="100000">
                <a:srgbClr val="F5AA2D"/>
              </a:gs>
            </a:gsLst>
            <a:lin ang="10800025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06;p28">
            <a:extLst>
              <a:ext uri="{FF2B5EF4-FFF2-40B4-BE49-F238E27FC236}">
                <a16:creationId xmlns:a16="http://schemas.microsoft.com/office/drawing/2014/main" id="{F18DC7DF-AD55-2A91-D062-8A09FB05882D}"/>
              </a:ext>
            </a:extLst>
          </p:cNvPr>
          <p:cNvSpPr txBox="1"/>
          <p:nvPr/>
        </p:nvSpPr>
        <p:spPr>
          <a:xfrm>
            <a:off x="655987" y="1195227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 err="1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Rekonstruksi</a:t>
            </a:r>
            <a:r>
              <a:rPr lang="en-US"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Citra</a:t>
            </a: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" name="Google Shape;206;p28">
            <a:extLst>
              <a:ext uri="{FF2B5EF4-FFF2-40B4-BE49-F238E27FC236}">
                <a16:creationId xmlns:a16="http://schemas.microsoft.com/office/drawing/2014/main" id="{770B226F-D7B2-0F17-C38C-C6E171BF8474}"/>
              </a:ext>
            </a:extLst>
          </p:cNvPr>
          <p:cNvSpPr txBox="1"/>
          <p:nvPr/>
        </p:nvSpPr>
        <p:spPr>
          <a:xfrm>
            <a:off x="2245530" y="1197153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8BAECF7-4F8F-75CE-80D9-06E39AE098EA}"/>
              </a:ext>
            </a:extLst>
          </p:cNvPr>
          <p:cNvSpPr txBox="1">
            <a:spLocks/>
          </p:cNvSpPr>
          <p:nvPr/>
        </p:nvSpPr>
        <p:spPr>
          <a:xfrm>
            <a:off x="313179" y="730194"/>
            <a:ext cx="7413913" cy="4447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4.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Aplikasi</a:t>
            </a:r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dalam</a:t>
            </a:r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Optimasi</a:t>
            </a:r>
            <a:endParaRPr lang="en-US" dirty="0">
              <a:solidFill>
                <a:srgbClr val="002060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Google Shape;177;p27">
            <a:extLst>
              <a:ext uri="{FF2B5EF4-FFF2-40B4-BE49-F238E27FC236}">
                <a16:creationId xmlns:a16="http://schemas.microsoft.com/office/drawing/2014/main" id="{28A9F80D-3839-2EEE-71D0-3758A6537538}"/>
              </a:ext>
            </a:extLst>
          </p:cNvPr>
          <p:cNvSpPr txBox="1"/>
          <p:nvPr/>
        </p:nvSpPr>
        <p:spPr>
          <a:xfrm>
            <a:off x="4077730" y="81794"/>
            <a:ext cx="47945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Hasil dan </a:t>
            </a: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Pembahasan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FAB8BE-5C5D-02A8-F619-3F1DDF3B054C}"/>
              </a:ext>
            </a:extLst>
          </p:cNvPr>
          <p:cNvSpPr txBox="1"/>
          <p:nvPr/>
        </p:nvSpPr>
        <p:spPr>
          <a:xfrm>
            <a:off x="655986" y="1666810"/>
            <a:ext cx="81585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SzPct val="100000"/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Data </a:t>
            </a:r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awal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rekonstruksi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078EC59-6D79-7775-4AD3-E126947566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4340" y="1960223"/>
            <a:ext cx="5855319" cy="2880000"/>
          </a:xfrm>
          <a:prstGeom prst="rect">
            <a:avLst/>
          </a:prstGeom>
        </p:spPr>
      </p:pic>
      <p:sp>
        <p:nvSpPr>
          <p:cNvPr id="13" name="Google Shape;168;p26">
            <a:extLst>
              <a:ext uri="{FF2B5EF4-FFF2-40B4-BE49-F238E27FC236}">
                <a16:creationId xmlns:a16="http://schemas.microsoft.com/office/drawing/2014/main" id="{4FB61DC1-730F-04B4-019E-FF7C731DA3D5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21934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F46F789-0BBD-1D2F-BCB5-347F4B7F4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descr="Icon&#10;&#10;Description automatically generated">
            <a:extLst>
              <a:ext uri="{FF2B5EF4-FFF2-40B4-BE49-F238E27FC236}">
                <a16:creationId xmlns:a16="http://schemas.microsoft.com/office/drawing/2014/main" id="{45551565-AC5D-0C70-D2B7-2B5A2C3DA69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>
            <a:extLst>
              <a:ext uri="{FF2B5EF4-FFF2-40B4-BE49-F238E27FC236}">
                <a16:creationId xmlns:a16="http://schemas.microsoft.com/office/drawing/2014/main" id="{69B52AB2-0EDC-67C9-D509-2DAC453F756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>
            <a:extLst>
              <a:ext uri="{FF2B5EF4-FFF2-40B4-BE49-F238E27FC236}">
                <a16:creationId xmlns:a16="http://schemas.microsoft.com/office/drawing/2014/main" id="{C41F7E65-EA67-2B0D-81AF-9F9EB3FD69C0}"/>
              </a:ext>
            </a:extLst>
          </p:cNvPr>
          <p:cNvSpPr/>
          <p:nvPr/>
        </p:nvSpPr>
        <p:spPr>
          <a:xfrm>
            <a:off x="8886389" y="256207"/>
            <a:ext cx="257700" cy="31680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7">
            <a:extLst>
              <a:ext uri="{FF2B5EF4-FFF2-40B4-BE49-F238E27FC236}">
                <a16:creationId xmlns:a16="http://schemas.microsoft.com/office/drawing/2014/main" id="{47F680A2-FA57-4E76-603D-0E6F2214F69E}"/>
              </a:ext>
            </a:extLst>
          </p:cNvPr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>
            <a:extLst>
              <a:ext uri="{FF2B5EF4-FFF2-40B4-BE49-F238E27FC236}">
                <a16:creationId xmlns:a16="http://schemas.microsoft.com/office/drawing/2014/main" id="{A92E8108-F486-D840-9FB5-4418EB097C8D}"/>
              </a:ext>
            </a:extLst>
          </p:cNvPr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>
            <a:extLst>
              <a:ext uri="{FF2B5EF4-FFF2-40B4-BE49-F238E27FC236}">
                <a16:creationId xmlns:a16="http://schemas.microsoft.com/office/drawing/2014/main" id="{8970E35B-D76B-A46C-72C4-DA302609CB03}"/>
              </a:ext>
            </a:extLst>
          </p:cNvPr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>
            <a:extLst>
              <a:ext uri="{FF2B5EF4-FFF2-40B4-BE49-F238E27FC236}">
                <a16:creationId xmlns:a16="http://schemas.microsoft.com/office/drawing/2014/main" id="{E037E0F4-8F7F-460A-0854-3BAB221D9CFA}"/>
              </a:ext>
            </a:extLst>
          </p:cNvPr>
          <p:cNvSpPr txBox="1"/>
          <p:nvPr/>
        </p:nvSpPr>
        <p:spPr>
          <a:xfrm>
            <a:off x="8730234" y="4871371"/>
            <a:ext cx="41376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44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205;p28">
            <a:extLst>
              <a:ext uri="{FF2B5EF4-FFF2-40B4-BE49-F238E27FC236}">
                <a16:creationId xmlns:a16="http://schemas.microsoft.com/office/drawing/2014/main" id="{D28C15D7-A494-8EF3-D3AF-D7ABA8BACD11}"/>
              </a:ext>
            </a:extLst>
          </p:cNvPr>
          <p:cNvSpPr/>
          <p:nvPr/>
        </p:nvSpPr>
        <p:spPr>
          <a:xfrm>
            <a:off x="0" y="1244462"/>
            <a:ext cx="5523355" cy="347625"/>
          </a:xfrm>
          <a:prstGeom prst="rect">
            <a:avLst/>
          </a:prstGeom>
          <a:gradFill>
            <a:gsLst>
              <a:gs pos="0">
                <a:srgbClr val="F5F7FC">
                  <a:alpha val="0"/>
                </a:srgbClr>
              </a:gs>
              <a:gs pos="73000">
                <a:srgbClr val="F5AA2D"/>
              </a:gs>
              <a:gs pos="100000">
                <a:srgbClr val="F5AA2D"/>
              </a:gs>
            </a:gsLst>
            <a:lin ang="10800025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06;p28">
            <a:extLst>
              <a:ext uri="{FF2B5EF4-FFF2-40B4-BE49-F238E27FC236}">
                <a16:creationId xmlns:a16="http://schemas.microsoft.com/office/drawing/2014/main" id="{2DDBCD18-7362-D7EC-72F7-14101A444464}"/>
              </a:ext>
            </a:extLst>
          </p:cNvPr>
          <p:cNvSpPr txBox="1"/>
          <p:nvPr/>
        </p:nvSpPr>
        <p:spPr>
          <a:xfrm>
            <a:off x="655987" y="1195227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 err="1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Rekonstruksi</a:t>
            </a:r>
            <a:r>
              <a:rPr lang="en-US"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Citra</a:t>
            </a: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" name="Google Shape;206;p28">
            <a:extLst>
              <a:ext uri="{FF2B5EF4-FFF2-40B4-BE49-F238E27FC236}">
                <a16:creationId xmlns:a16="http://schemas.microsoft.com/office/drawing/2014/main" id="{0A41B135-1457-EA0C-3FB3-9314BFDEDED0}"/>
              </a:ext>
            </a:extLst>
          </p:cNvPr>
          <p:cNvSpPr txBox="1"/>
          <p:nvPr/>
        </p:nvSpPr>
        <p:spPr>
          <a:xfrm>
            <a:off x="2245530" y="1197153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55E5585-07A6-7062-E936-B9D65000B33E}"/>
              </a:ext>
            </a:extLst>
          </p:cNvPr>
          <p:cNvSpPr txBox="1">
            <a:spLocks/>
          </p:cNvSpPr>
          <p:nvPr/>
        </p:nvSpPr>
        <p:spPr>
          <a:xfrm>
            <a:off x="313179" y="730194"/>
            <a:ext cx="7413913" cy="4447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4.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Aplikasi</a:t>
            </a:r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dalam</a:t>
            </a:r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Optimasi</a:t>
            </a:r>
            <a:endParaRPr lang="en-US" dirty="0">
              <a:solidFill>
                <a:srgbClr val="002060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Google Shape;177;p27">
            <a:extLst>
              <a:ext uri="{FF2B5EF4-FFF2-40B4-BE49-F238E27FC236}">
                <a16:creationId xmlns:a16="http://schemas.microsoft.com/office/drawing/2014/main" id="{364ECD54-A3B2-449B-763E-F66E8786347F}"/>
              </a:ext>
            </a:extLst>
          </p:cNvPr>
          <p:cNvSpPr txBox="1"/>
          <p:nvPr/>
        </p:nvSpPr>
        <p:spPr>
          <a:xfrm>
            <a:off x="4077730" y="81794"/>
            <a:ext cx="47945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Hasil dan </a:t>
            </a: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Pembahasan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10ED5D-E952-87D3-6C60-C4591131C970}"/>
              </a:ext>
            </a:extLst>
          </p:cNvPr>
          <p:cNvSpPr txBox="1"/>
          <p:nvPr/>
        </p:nvSpPr>
        <p:spPr>
          <a:xfrm>
            <a:off x="655986" y="1666810"/>
            <a:ext cx="81585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SzPct val="100000"/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Hasil </a:t>
            </a:r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rekonstruksi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D9F2F96-9FFE-391F-4171-74EEC06733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6079" y="1918878"/>
            <a:ext cx="6031842" cy="2934041"/>
          </a:xfrm>
          <a:prstGeom prst="rect">
            <a:avLst/>
          </a:prstGeom>
        </p:spPr>
      </p:pic>
      <p:sp>
        <p:nvSpPr>
          <p:cNvPr id="10" name="Google Shape;168;p26">
            <a:extLst>
              <a:ext uri="{FF2B5EF4-FFF2-40B4-BE49-F238E27FC236}">
                <a16:creationId xmlns:a16="http://schemas.microsoft.com/office/drawing/2014/main" id="{F88D5D3E-2DB7-8EA2-1886-FECDEAE35D48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01754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E6345495-87BD-9864-DBF6-6AF7D52CD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descr="Icon&#10;&#10;Description automatically generated">
            <a:extLst>
              <a:ext uri="{FF2B5EF4-FFF2-40B4-BE49-F238E27FC236}">
                <a16:creationId xmlns:a16="http://schemas.microsoft.com/office/drawing/2014/main" id="{FDBF45B7-0CD7-018C-DBA7-58E243B189A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>
            <a:extLst>
              <a:ext uri="{FF2B5EF4-FFF2-40B4-BE49-F238E27FC236}">
                <a16:creationId xmlns:a16="http://schemas.microsoft.com/office/drawing/2014/main" id="{ADB4158A-F18F-8A98-D48B-90F4FF1B14B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>
            <a:extLst>
              <a:ext uri="{FF2B5EF4-FFF2-40B4-BE49-F238E27FC236}">
                <a16:creationId xmlns:a16="http://schemas.microsoft.com/office/drawing/2014/main" id="{C4A45352-4EFC-6238-8365-4403B4BD0113}"/>
              </a:ext>
            </a:extLst>
          </p:cNvPr>
          <p:cNvSpPr/>
          <p:nvPr/>
        </p:nvSpPr>
        <p:spPr>
          <a:xfrm>
            <a:off x="8886389" y="256207"/>
            <a:ext cx="257700" cy="31680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7">
            <a:extLst>
              <a:ext uri="{FF2B5EF4-FFF2-40B4-BE49-F238E27FC236}">
                <a16:creationId xmlns:a16="http://schemas.microsoft.com/office/drawing/2014/main" id="{3EE1267C-A1E3-09B6-5357-8C7D120F51B7}"/>
              </a:ext>
            </a:extLst>
          </p:cNvPr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>
            <a:extLst>
              <a:ext uri="{FF2B5EF4-FFF2-40B4-BE49-F238E27FC236}">
                <a16:creationId xmlns:a16="http://schemas.microsoft.com/office/drawing/2014/main" id="{F27A8C82-812F-6CE8-6242-A7772F1AA56E}"/>
              </a:ext>
            </a:extLst>
          </p:cNvPr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>
            <a:extLst>
              <a:ext uri="{FF2B5EF4-FFF2-40B4-BE49-F238E27FC236}">
                <a16:creationId xmlns:a16="http://schemas.microsoft.com/office/drawing/2014/main" id="{D4E1AD6B-0AE7-0D1B-0619-6205B740FE7A}"/>
              </a:ext>
            </a:extLst>
          </p:cNvPr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>
            <a:extLst>
              <a:ext uri="{FF2B5EF4-FFF2-40B4-BE49-F238E27FC236}">
                <a16:creationId xmlns:a16="http://schemas.microsoft.com/office/drawing/2014/main" id="{6AFBAF2B-7957-6D94-797A-FFBC3EAB7CC2}"/>
              </a:ext>
            </a:extLst>
          </p:cNvPr>
          <p:cNvSpPr txBox="1"/>
          <p:nvPr/>
        </p:nvSpPr>
        <p:spPr>
          <a:xfrm>
            <a:off x="8730234" y="4871371"/>
            <a:ext cx="41376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5A5A5"/>
                </a:solidFill>
              </a:rPr>
              <a:t>45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205;p28">
            <a:extLst>
              <a:ext uri="{FF2B5EF4-FFF2-40B4-BE49-F238E27FC236}">
                <a16:creationId xmlns:a16="http://schemas.microsoft.com/office/drawing/2014/main" id="{CF65BC40-1C58-2F3C-81FC-FAD997B3EC31}"/>
              </a:ext>
            </a:extLst>
          </p:cNvPr>
          <p:cNvSpPr/>
          <p:nvPr/>
        </p:nvSpPr>
        <p:spPr>
          <a:xfrm>
            <a:off x="0" y="1244462"/>
            <a:ext cx="5523355" cy="347625"/>
          </a:xfrm>
          <a:prstGeom prst="rect">
            <a:avLst/>
          </a:prstGeom>
          <a:gradFill>
            <a:gsLst>
              <a:gs pos="0">
                <a:srgbClr val="F5F7FC">
                  <a:alpha val="0"/>
                </a:srgbClr>
              </a:gs>
              <a:gs pos="73000">
                <a:srgbClr val="F5AA2D"/>
              </a:gs>
              <a:gs pos="100000">
                <a:srgbClr val="F5AA2D"/>
              </a:gs>
            </a:gsLst>
            <a:lin ang="10800025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06;p28">
            <a:extLst>
              <a:ext uri="{FF2B5EF4-FFF2-40B4-BE49-F238E27FC236}">
                <a16:creationId xmlns:a16="http://schemas.microsoft.com/office/drawing/2014/main" id="{4E53C76A-59B4-EF7C-2CF9-1D677D282308}"/>
              </a:ext>
            </a:extLst>
          </p:cNvPr>
          <p:cNvSpPr txBox="1"/>
          <p:nvPr/>
        </p:nvSpPr>
        <p:spPr>
          <a:xfrm>
            <a:off x="655987" y="1195227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 err="1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Rekonstruksi</a:t>
            </a:r>
            <a:r>
              <a:rPr lang="en-US" sz="1800" dirty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Citra</a:t>
            </a: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" name="Google Shape;206;p28">
            <a:extLst>
              <a:ext uri="{FF2B5EF4-FFF2-40B4-BE49-F238E27FC236}">
                <a16:creationId xmlns:a16="http://schemas.microsoft.com/office/drawing/2014/main" id="{002ABADB-3A05-C2E2-F681-E13E32F113FF}"/>
              </a:ext>
            </a:extLst>
          </p:cNvPr>
          <p:cNvSpPr txBox="1"/>
          <p:nvPr/>
        </p:nvSpPr>
        <p:spPr>
          <a:xfrm>
            <a:off x="2245530" y="1197153"/>
            <a:ext cx="5664851" cy="39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2E0ECB3C-604C-5A33-73D7-92F8C810AA70}"/>
              </a:ext>
            </a:extLst>
          </p:cNvPr>
          <p:cNvSpPr txBox="1">
            <a:spLocks/>
          </p:cNvSpPr>
          <p:nvPr/>
        </p:nvSpPr>
        <p:spPr>
          <a:xfrm>
            <a:off x="313179" y="730194"/>
            <a:ext cx="7413913" cy="4447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4.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Aplikasi</a:t>
            </a:r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dalam</a:t>
            </a:r>
            <a:r>
              <a:rPr lang="en-US" dirty="0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Optimasi</a:t>
            </a:r>
            <a:endParaRPr lang="en-US" dirty="0">
              <a:solidFill>
                <a:srgbClr val="002060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2" name="Google Shape;177;p27">
            <a:extLst>
              <a:ext uri="{FF2B5EF4-FFF2-40B4-BE49-F238E27FC236}">
                <a16:creationId xmlns:a16="http://schemas.microsoft.com/office/drawing/2014/main" id="{E610179C-9433-09A2-2E31-6080D5CD89BC}"/>
              </a:ext>
            </a:extLst>
          </p:cNvPr>
          <p:cNvSpPr txBox="1"/>
          <p:nvPr/>
        </p:nvSpPr>
        <p:spPr>
          <a:xfrm>
            <a:off x="4077730" y="81794"/>
            <a:ext cx="47945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Hasil dan </a:t>
            </a:r>
            <a:r>
              <a:rPr lang="en-US" sz="3000" b="1" dirty="0" err="1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Pembahasan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68DF3C-F237-1F5E-ADA7-FCE04171C428}"/>
              </a:ext>
            </a:extLst>
          </p:cNvPr>
          <p:cNvSpPr txBox="1"/>
          <p:nvPr/>
        </p:nvSpPr>
        <p:spPr>
          <a:xfrm>
            <a:off x="655986" y="1666810"/>
            <a:ext cx="81585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SzPct val="100000"/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Hasil </a:t>
            </a:r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rekonstruksi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EA0B160-F4F2-6640-2EC9-C640BD732E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9255" y="1933476"/>
            <a:ext cx="6045489" cy="2906747"/>
          </a:xfrm>
          <a:prstGeom prst="rect">
            <a:avLst/>
          </a:prstGeom>
        </p:spPr>
      </p:pic>
      <p:sp>
        <p:nvSpPr>
          <p:cNvPr id="11" name="Google Shape;168;p26">
            <a:extLst>
              <a:ext uri="{FF2B5EF4-FFF2-40B4-BE49-F238E27FC236}">
                <a16:creationId xmlns:a16="http://schemas.microsoft.com/office/drawing/2014/main" id="{76FDC6CF-DB25-9E2A-BC84-7B3CA01D1266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44102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402B482F-C181-5890-CC9E-DA247249E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descr="Icon&#10;&#10;Description automatically generated">
            <a:extLst>
              <a:ext uri="{FF2B5EF4-FFF2-40B4-BE49-F238E27FC236}">
                <a16:creationId xmlns:a16="http://schemas.microsoft.com/office/drawing/2014/main" id="{AD449F34-8B79-387F-A7B1-4F784EBA24E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>
            <a:extLst>
              <a:ext uri="{FF2B5EF4-FFF2-40B4-BE49-F238E27FC236}">
                <a16:creationId xmlns:a16="http://schemas.microsoft.com/office/drawing/2014/main" id="{39480D72-C451-071A-8A2F-E25F11A300B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>
            <a:extLst>
              <a:ext uri="{FF2B5EF4-FFF2-40B4-BE49-F238E27FC236}">
                <a16:creationId xmlns:a16="http://schemas.microsoft.com/office/drawing/2014/main" id="{DFCB8C41-8045-6839-BDB0-A38C87FDFFA9}"/>
              </a:ext>
            </a:extLst>
          </p:cNvPr>
          <p:cNvSpPr/>
          <p:nvPr/>
        </p:nvSpPr>
        <p:spPr>
          <a:xfrm>
            <a:off x="0" y="825669"/>
            <a:ext cx="257700" cy="31680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7">
            <a:extLst>
              <a:ext uri="{FF2B5EF4-FFF2-40B4-BE49-F238E27FC236}">
                <a16:creationId xmlns:a16="http://schemas.microsoft.com/office/drawing/2014/main" id="{1C864D3F-1372-1D27-C2F5-4E38C05B9EA0}"/>
              </a:ext>
            </a:extLst>
          </p:cNvPr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>
            <a:extLst>
              <a:ext uri="{FF2B5EF4-FFF2-40B4-BE49-F238E27FC236}">
                <a16:creationId xmlns:a16="http://schemas.microsoft.com/office/drawing/2014/main" id="{F6261AC6-E3E5-586C-5041-00220FB27F67}"/>
              </a:ext>
            </a:extLst>
          </p:cNvPr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>
            <a:extLst>
              <a:ext uri="{FF2B5EF4-FFF2-40B4-BE49-F238E27FC236}">
                <a16:creationId xmlns:a16="http://schemas.microsoft.com/office/drawing/2014/main" id="{3963BBD2-CEDF-1BF0-C34D-100EE4F332B9}"/>
              </a:ext>
            </a:extLst>
          </p:cNvPr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>
            <a:extLst>
              <a:ext uri="{FF2B5EF4-FFF2-40B4-BE49-F238E27FC236}">
                <a16:creationId xmlns:a16="http://schemas.microsoft.com/office/drawing/2014/main" id="{96AEF8CC-F652-DC3C-08BD-A35D095F41CE}"/>
              </a:ext>
            </a:extLst>
          </p:cNvPr>
          <p:cNvSpPr txBox="1"/>
          <p:nvPr/>
        </p:nvSpPr>
        <p:spPr>
          <a:xfrm>
            <a:off x="8730234" y="4871371"/>
            <a:ext cx="41376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5A5A5"/>
                </a:solidFill>
              </a:rPr>
              <a:t>46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8BC1C8-07FB-3635-ACE5-EDA50DE89948}"/>
                  </a:ext>
                </a:extLst>
              </p:cNvPr>
              <p:cNvSpPr txBox="1"/>
              <p:nvPr/>
            </p:nvSpPr>
            <p:spPr>
              <a:xfrm>
                <a:off x="313178" y="1474643"/>
                <a:ext cx="8417055" cy="24281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71463" indent="-271463" algn="just">
                  <a:spcAft>
                    <a:spcPts val="300"/>
                  </a:spcAft>
                  <a:buSzPct val="100000"/>
                  <a:buAutoNum type="arabicPeriod"/>
                </a:pP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Syarat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cukup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konvergensi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Δ</m:t>
                    </m:r>
                  </m:oMath>
                </a14:m>
                <a:endParaRPr lang="en-US" sz="1800" b="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marL="534988" indent="-263525" algn="just"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Ruang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𝑋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adalah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𝐶𝐴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𝑇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yang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lengkap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.</a:t>
                </a:r>
              </a:p>
              <a:p>
                <a:pPr marL="534988" indent="-263525" algn="just"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Himpunan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bagian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𝑊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merupakan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himpunan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bagian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tak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kosong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yang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tertutup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dan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konveks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dari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𝐶𝐴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𝑇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0</m:t>
                        </m:r>
                      </m:e>
                    </m:d>
                  </m:oMath>
                </a14:m>
                <a:endParaRPr lang="en-US" sz="1800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marL="534988" indent="-263525" algn="just"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Pemetaan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𝑇</m:t>
                    </m:r>
                    <m: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:</m:t>
                    </m:r>
                    <m: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𝑊</m:t>
                    </m:r>
                    <m: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→</m:t>
                    </m:r>
                    <m: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𝑊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adalah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pemetaan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(</m:t>
                    </m:r>
                    <m:r>
                      <a:rPr lang="en-US" sz="1800" b="1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𝜶</m:t>
                    </m:r>
                    <m:r>
                      <a:rPr lang="en-US" sz="1800" b="1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  <m:r>
                      <a:rPr lang="en-US" sz="1800" b="1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𝜷</m:t>
                    </m:r>
                    <m:r>
                      <a:rPr lang="en-US" sz="1800" b="1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  <m:r>
                      <a:rPr lang="en-US" sz="1800" b="1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𝜸</m:t>
                    </m:r>
                    <m:r>
                      <a:rPr lang="en-US" sz="1800" b="1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)</m:t>
                    </m:r>
                  </m:oMath>
                </a14:m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-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nonekspansif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dengan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𝑭𝒊𝒙</m:t>
                    </m:r>
                    <m:d>
                      <m:dPr>
                        <m:ctrlPr>
                          <a:rPr lang="en-US" sz="1800" b="1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1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𝑻</m:t>
                        </m:r>
                      </m:e>
                    </m:d>
                    <m:r>
                      <a:rPr lang="en-US" sz="1800" b="1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≠∅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.</a:t>
                </a:r>
              </a:p>
              <a:p>
                <a:pPr marL="534988" indent="-263525" algn="just"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Parameter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barisan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{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𝑎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𝑛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} </m:t>
                    </m:r>
                    <m:r>
                      <m:rPr>
                        <m:sty m:val="p"/>
                      </m:rP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dan</m:t>
                    </m:r>
                    <m: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 {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𝑐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𝑛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}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pada 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interval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1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dPr>
                      <m:e>
                        <m:r>
                          <a:rPr lang="en-US" sz="1800" b="1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𝟎</m:t>
                        </m:r>
                        <m:r>
                          <a:rPr lang="en-US" sz="1800" b="1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,</m:t>
                        </m:r>
                        <m:r>
                          <a:rPr lang="en-US" sz="1800" b="1" i="1"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𝟏</m:t>
                        </m:r>
                      </m:e>
                    </m:d>
                  </m:oMath>
                </a14:m>
                <a:endParaRPr lang="en-US" sz="1800" b="1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marL="271463" algn="just">
                  <a:buSzPct val="100000"/>
                </a:pP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Untuk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konvergensi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kuat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,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syarat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cukup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tambahan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adalah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𝑊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kompak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8BC1C8-07FB-3635-ACE5-EDA50DE899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78" y="1474643"/>
                <a:ext cx="8417055" cy="2428101"/>
              </a:xfrm>
              <a:prstGeom prst="rect">
                <a:avLst/>
              </a:prstGeom>
              <a:blipFill>
                <a:blip r:embed="rId5"/>
                <a:stretch>
                  <a:fillRect l="-1014" t="-4020" r="-652" b="-301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Google Shape;143;p26">
            <a:extLst>
              <a:ext uri="{FF2B5EF4-FFF2-40B4-BE49-F238E27FC236}">
                <a16:creationId xmlns:a16="http://schemas.microsoft.com/office/drawing/2014/main" id="{C4367343-FA34-2ED2-6EBE-504F7B3DB01B}"/>
              </a:ext>
            </a:extLst>
          </p:cNvPr>
          <p:cNvSpPr txBox="1"/>
          <p:nvPr/>
        </p:nvSpPr>
        <p:spPr>
          <a:xfrm>
            <a:off x="297744" y="676199"/>
            <a:ext cx="3944741" cy="582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Kesimpulan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168;p26">
            <a:extLst>
              <a:ext uri="{FF2B5EF4-FFF2-40B4-BE49-F238E27FC236}">
                <a16:creationId xmlns:a16="http://schemas.microsoft.com/office/drawing/2014/main" id="{420DC181-820D-E341-5B5A-37969C16A2BE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8152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2523D011-2652-E5B8-A93E-1A8DE31C2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descr="Icon&#10;&#10;Description automatically generated">
            <a:extLst>
              <a:ext uri="{FF2B5EF4-FFF2-40B4-BE49-F238E27FC236}">
                <a16:creationId xmlns:a16="http://schemas.microsoft.com/office/drawing/2014/main" id="{067FF3DE-965C-7251-1674-46A1E08EBA6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>
            <a:extLst>
              <a:ext uri="{FF2B5EF4-FFF2-40B4-BE49-F238E27FC236}">
                <a16:creationId xmlns:a16="http://schemas.microsoft.com/office/drawing/2014/main" id="{8B8C6EB9-D930-79CD-DEC8-E6B79CFA975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>
            <a:extLst>
              <a:ext uri="{FF2B5EF4-FFF2-40B4-BE49-F238E27FC236}">
                <a16:creationId xmlns:a16="http://schemas.microsoft.com/office/drawing/2014/main" id="{71312366-0DEE-EF32-45E0-6B52F515E751}"/>
              </a:ext>
            </a:extLst>
          </p:cNvPr>
          <p:cNvSpPr/>
          <p:nvPr/>
        </p:nvSpPr>
        <p:spPr>
          <a:xfrm>
            <a:off x="0" y="825669"/>
            <a:ext cx="257700" cy="31680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7">
            <a:extLst>
              <a:ext uri="{FF2B5EF4-FFF2-40B4-BE49-F238E27FC236}">
                <a16:creationId xmlns:a16="http://schemas.microsoft.com/office/drawing/2014/main" id="{39E4A842-FC48-5DF4-274B-8193AFEC8C0B}"/>
              </a:ext>
            </a:extLst>
          </p:cNvPr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>
            <a:extLst>
              <a:ext uri="{FF2B5EF4-FFF2-40B4-BE49-F238E27FC236}">
                <a16:creationId xmlns:a16="http://schemas.microsoft.com/office/drawing/2014/main" id="{517D3311-39AF-AFA4-D6F7-6F6EB5986D8D}"/>
              </a:ext>
            </a:extLst>
          </p:cNvPr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>
            <a:extLst>
              <a:ext uri="{FF2B5EF4-FFF2-40B4-BE49-F238E27FC236}">
                <a16:creationId xmlns:a16="http://schemas.microsoft.com/office/drawing/2014/main" id="{4F14240C-1A7D-CECE-7CF0-F33B0B635AFB}"/>
              </a:ext>
            </a:extLst>
          </p:cNvPr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>
            <a:extLst>
              <a:ext uri="{FF2B5EF4-FFF2-40B4-BE49-F238E27FC236}">
                <a16:creationId xmlns:a16="http://schemas.microsoft.com/office/drawing/2014/main" id="{5AB75F37-8085-65CC-9BBA-D1E2F925FCF5}"/>
              </a:ext>
            </a:extLst>
          </p:cNvPr>
          <p:cNvSpPr txBox="1"/>
          <p:nvPr/>
        </p:nvSpPr>
        <p:spPr>
          <a:xfrm>
            <a:off x="8730234" y="4871371"/>
            <a:ext cx="41376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47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387AC00-9F4D-796C-1EEC-23DA0BCDC3F2}"/>
                  </a:ext>
                </a:extLst>
              </p:cNvPr>
              <p:cNvSpPr txBox="1"/>
              <p:nvPr/>
            </p:nvSpPr>
            <p:spPr>
              <a:xfrm>
                <a:off x="313178" y="1474643"/>
                <a:ext cx="8417055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SzPct val="100000"/>
                  <a:buFont typeface="+mj-lt"/>
                  <a:buAutoNum type="arabicPeriod"/>
                </a:pP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Berdasarkan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percobaan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numerik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,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skema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iterasi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Sabri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memiliki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laju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yang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lebih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cepat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dibanding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skema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iterasi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JK, Thakur, Abbas, dan Agarwal,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dalam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aproksimasi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titik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tetap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dari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pemetaan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𝛼</m:t>
                    </m:r>
                    <m: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  <m: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𝛽</m:t>
                    </m:r>
                    <m: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  <m: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𝛾</m:t>
                    </m:r>
                    <m:r>
                      <a:rPr lang="en-US" sz="1800" i="1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)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-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nonekspansif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. </a:t>
                </a:r>
              </a:p>
              <a:p>
                <a:pPr marL="342900" indent="-342900" algn="just">
                  <a:buSzPct val="100000"/>
                  <a:buFont typeface="+mj-lt"/>
                  <a:buAutoNum type="arabicPeriod"/>
                </a:pP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Didapatkan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aplikasi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dalam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minimalisasi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fungsi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dan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rekonstruksi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citra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387AC00-9F4D-796C-1EEC-23DA0BCDC3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78" y="1474643"/>
                <a:ext cx="8417055" cy="1754326"/>
              </a:xfrm>
              <a:prstGeom prst="rect">
                <a:avLst/>
              </a:prstGeom>
              <a:blipFill>
                <a:blip r:embed="rId5"/>
                <a:stretch>
                  <a:fillRect l="-1014" t="-5556" r="-652" b="-451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Google Shape;143;p26">
            <a:extLst>
              <a:ext uri="{FF2B5EF4-FFF2-40B4-BE49-F238E27FC236}">
                <a16:creationId xmlns:a16="http://schemas.microsoft.com/office/drawing/2014/main" id="{134013DB-8E15-9020-F1B4-35612503CF80}"/>
              </a:ext>
            </a:extLst>
          </p:cNvPr>
          <p:cNvSpPr txBox="1"/>
          <p:nvPr/>
        </p:nvSpPr>
        <p:spPr>
          <a:xfrm>
            <a:off x="297744" y="676199"/>
            <a:ext cx="3944741" cy="582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Kesimpulan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168;p26">
            <a:extLst>
              <a:ext uri="{FF2B5EF4-FFF2-40B4-BE49-F238E27FC236}">
                <a16:creationId xmlns:a16="http://schemas.microsoft.com/office/drawing/2014/main" id="{6276544F-C0A5-9B63-66B0-511CAF01C022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88905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7C8F8174-0E6E-24FA-9D5D-6CCF874DA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 descr="Icon&#10;&#10;Description automatically generated">
            <a:extLst>
              <a:ext uri="{FF2B5EF4-FFF2-40B4-BE49-F238E27FC236}">
                <a16:creationId xmlns:a16="http://schemas.microsoft.com/office/drawing/2014/main" id="{29C27152-5D7A-BA22-8FB8-47297BE9FCD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 descr="A picture containing logo&#10;&#10;Description automatically generated">
            <a:extLst>
              <a:ext uri="{FF2B5EF4-FFF2-40B4-BE49-F238E27FC236}">
                <a16:creationId xmlns:a16="http://schemas.microsoft.com/office/drawing/2014/main" id="{FDD9E6F6-77B3-9251-3B28-76506D61F23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>
            <a:extLst>
              <a:ext uri="{FF2B5EF4-FFF2-40B4-BE49-F238E27FC236}">
                <a16:creationId xmlns:a16="http://schemas.microsoft.com/office/drawing/2014/main" id="{AD942D7F-A971-D28F-9010-4FD7BE27A8E5}"/>
              </a:ext>
            </a:extLst>
          </p:cNvPr>
          <p:cNvSpPr/>
          <p:nvPr/>
        </p:nvSpPr>
        <p:spPr>
          <a:xfrm>
            <a:off x="0" y="825669"/>
            <a:ext cx="257700" cy="31680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7">
            <a:extLst>
              <a:ext uri="{FF2B5EF4-FFF2-40B4-BE49-F238E27FC236}">
                <a16:creationId xmlns:a16="http://schemas.microsoft.com/office/drawing/2014/main" id="{FFADCE78-1E31-52BC-CB91-0C3E7535536F}"/>
              </a:ext>
            </a:extLst>
          </p:cNvPr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>
            <a:extLst>
              <a:ext uri="{FF2B5EF4-FFF2-40B4-BE49-F238E27FC236}">
                <a16:creationId xmlns:a16="http://schemas.microsoft.com/office/drawing/2014/main" id="{5DA2ABE2-130D-200A-94F0-0F2E9034B39A}"/>
              </a:ext>
            </a:extLst>
          </p:cNvPr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>
            <a:extLst>
              <a:ext uri="{FF2B5EF4-FFF2-40B4-BE49-F238E27FC236}">
                <a16:creationId xmlns:a16="http://schemas.microsoft.com/office/drawing/2014/main" id="{FD33CAAE-3BEA-D3C1-BED4-84B394C03A9D}"/>
              </a:ext>
            </a:extLst>
          </p:cNvPr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>
            <a:extLst>
              <a:ext uri="{FF2B5EF4-FFF2-40B4-BE49-F238E27FC236}">
                <a16:creationId xmlns:a16="http://schemas.microsoft.com/office/drawing/2014/main" id="{DB7A41A0-7AE4-1429-A366-42405F4317D2}"/>
              </a:ext>
            </a:extLst>
          </p:cNvPr>
          <p:cNvSpPr txBox="1"/>
          <p:nvPr/>
        </p:nvSpPr>
        <p:spPr>
          <a:xfrm>
            <a:off x="8730234" y="4871371"/>
            <a:ext cx="41376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48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271AD2-288F-2096-1F72-06F9AAFA4B8E}"/>
                  </a:ext>
                </a:extLst>
              </p:cNvPr>
              <p:cNvSpPr txBox="1"/>
              <p:nvPr/>
            </p:nvSpPr>
            <p:spPr>
              <a:xfrm>
                <a:off x="313178" y="1474643"/>
                <a:ext cx="8417055" cy="15927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just">
                  <a:spcAft>
                    <a:spcPts val="300"/>
                  </a:spcAft>
                  <a:buSzPct val="100000"/>
                  <a:buFont typeface="+mj-lt"/>
                  <a:buAutoNum type="arabicPeriod"/>
                </a:pP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Pemetaan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(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𝛼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𝛽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,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𝛾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)</m:t>
                    </m:r>
                  </m:oMath>
                </a14:m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-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nonekspansif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dapat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diperluas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ke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ruang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metrik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tak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linier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lainnya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.</a:t>
                </a:r>
              </a:p>
              <a:p>
                <a:pPr marL="342900" indent="-342900" algn="just">
                  <a:spcAft>
                    <a:spcPts val="300"/>
                  </a:spcAft>
                  <a:buSzPct val="100000"/>
                  <a:buFont typeface="+mj-lt"/>
                  <a:buAutoNum type="arabicPeriod"/>
                </a:pP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Kajian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syarat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konvergensi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kuat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tanpa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kekompakan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himpunan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.</a:t>
                </a:r>
              </a:p>
              <a:p>
                <a:pPr marL="342900" indent="-342900" algn="just">
                  <a:spcAft>
                    <a:spcPts val="300"/>
                  </a:spcAft>
                  <a:buSzPct val="100000"/>
                  <a:buFont typeface="+mj-lt"/>
                  <a:buAutoNum type="arabicPeriod"/>
                </a:pP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Perbandingan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kelajuan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secara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analitik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.</a:t>
                </a:r>
              </a:p>
              <a:p>
                <a:pPr marL="342900" indent="-342900" algn="just">
                  <a:spcAft>
                    <a:spcPts val="300"/>
                  </a:spcAft>
                  <a:buSzPct val="100000"/>
                  <a:buFont typeface="+mj-lt"/>
                  <a:buAutoNum type="arabicPeriod"/>
                </a:pP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Rekonstruksi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citra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dengan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menggunakan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data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medis</a:t>
                </a:r>
                <a:r>
                  <a:rPr lang="en-US" sz="1800" b="1" dirty="0"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en-US" sz="1800" b="1" dirty="0" err="1">
                    <a:latin typeface="Poppins" panose="00000500000000000000" pitchFamily="2" charset="0"/>
                    <a:cs typeface="Poppins" panose="00000500000000000000" pitchFamily="2" charset="0"/>
                  </a:rPr>
                  <a:t>nyata</a:t>
                </a:r>
                <a:r>
                  <a:rPr lang="en-US" sz="1800" dirty="0">
                    <a:latin typeface="Poppins" panose="00000500000000000000" pitchFamily="2" charset="0"/>
                    <a:cs typeface="Poppins" panose="00000500000000000000" pitchFamily="2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271AD2-288F-2096-1F72-06F9AAFA4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78" y="1474643"/>
                <a:ext cx="8417055" cy="1592744"/>
              </a:xfrm>
              <a:prstGeom prst="rect">
                <a:avLst/>
              </a:prstGeom>
              <a:blipFill>
                <a:blip r:embed="rId5"/>
                <a:stretch>
                  <a:fillRect l="-1014" t="-6130" r="-652" b="-804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Google Shape;143;p26">
            <a:extLst>
              <a:ext uri="{FF2B5EF4-FFF2-40B4-BE49-F238E27FC236}">
                <a16:creationId xmlns:a16="http://schemas.microsoft.com/office/drawing/2014/main" id="{6E598882-6446-F24B-73FD-A12E87584DC8}"/>
              </a:ext>
            </a:extLst>
          </p:cNvPr>
          <p:cNvSpPr txBox="1"/>
          <p:nvPr/>
        </p:nvSpPr>
        <p:spPr>
          <a:xfrm>
            <a:off x="297744" y="676199"/>
            <a:ext cx="3944741" cy="582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30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Saran</a:t>
            </a:r>
            <a:endParaRPr sz="30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168;p26">
            <a:extLst>
              <a:ext uri="{FF2B5EF4-FFF2-40B4-BE49-F238E27FC236}">
                <a16:creationId xmlns:a16="http://schemas.microsoft.com/office/drawing/2014/main" id="{1184EFF3-39F6-C3F3-B4E5-6F09401B258A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1681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9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9" descr="A picture containing 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9"/>
          <p:cNvSpPr/>
          <p:nvPr/>
        </p:nvSpPr>
        <p:spPr>
          <a:xfrm>
            <a:off x="0" y="839261"/>
            <a:ext cx="257700" cy="31680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9"/>
          <p:cNvSpPr/>
          <p:nvPr/>
        </p:nvSpPr>
        <p:spPr>
          <a:xfrm>
            <a:off x="0" y="4871371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9"/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9"/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9"/>
          <p:cNvSpPr txBox="1"/>
          <p:nvPr/>
        </p:nvSpPr>
        <p:spPr>
          <a:xfrm>
            <a:off x="297750" y="750275"/>
            <a:ext cx="87750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r>
              <a:rPr lang="en-US" sz="2100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Daftar Pustaka Utama</a:t>
            </a:r>
            <a:endParaRPr sz="2600"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Google Shape;255;p29"/>
              <p:cNvSpPr txBox="1"/>
              <p:nvPr/>
            </p:nvSpPr>
            <p:spPr>
              <a:xfrm>
                <a:off x="394179" y="1152692"/>
                <a:ext cx="8519166" cy="3625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defTabSz="361950"/>
                <a:r>
                  <a:rPr lang="en-ID" sz="1600" dirty="0">
                    <a:solidFill>
                      <a:srgbClr val="79808D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	Khamsi, M .A. dan Shukri, S. A.(2017), ‘Generalized CAT(0) spaces’, Bulletin of the Belgian Mathematical Society - Simon Stevin 24(3).</a:t>
                </a:r>
              </a:p>
              <a:p>
                <a:pPr defTabSz="361950"/>
                <a:r>
                  <a:rPr lang="en-ID" sz="1600" dirty="0">
                    <a:solidFill>
                      <a:srgbClr val="79808D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	Sabri, R. I., </a:t>
                </a:r>
                <a:r>
                  <a:rPr lang="en-ID" sz="1600" dirty="0" err="1">
                    <a:solidFill>
                      <a:srgbClr val="79808D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Alhaidary</a:t>
                </a:r>
                <a:r>
                  <a:rPr lang="en-ID" sz="1600" dirty="0">
                    <a:solidFill>
                      <a:srgbClr val="79808D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, Z. S. dan Sadiq, F. A. (2025), ‘NEW ITERATION APPROACH FOR APPROXIMATING FIXED POINTS’, Nonlinear Functional Analysis and Applications 237–250.</a:t>
                </a:r>
                <a:endParaRPr lang="en-ID" sz="1600" dirty="0">
                  <a:solidFill>
                    <a:srgbClr val="79808D"/>
                  </a:solidFill>
                  <a:latin typeface="Poppins" panose="00000500000000000000" pitchFamily="2" charset="0"/>
                  <a:ea typeface="Poppins Medium"/>
                  <a:cs typeface="Poppins" panose="00000500000000000000" pitchFamily="2" charset="0"/>
                  <a:sym typeface="Poppins Medium"/>
                </a:endParaRPr>
              </a:p>
              <a:p>
                <a:pPr defTabSz="361950"/>
                <a:r>
                  <a:rPr lang="en-ID" sz="1600" dirty="0">
                    <a:solidFill>
                      <a:srgbClr val="79808D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	Salisu, S., </a:t>
                </a:r>
                <a:r>
                  <a:rPr lang="en-ID" sz="1600" dirty="0" err="1">
                    <a:solidFill>
                      <a:srgbClr val="79808D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Minjibir</a:t>
                </a:r>
                <a:r>
                  <a:rPr lang="en-ID" sz="1600" dirty="0">
                    <a:solidFill>
                      <a:srgbClr val="79808D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, M. S., </a:t>
                </a:r>
                <a:r>
                  <a:rPr lang="en-ID" sz="1600" dirty="0" err="1">
                    <a:solidFill>
                      <a:srgbClr val="79808D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Kumam</a:t>
                </a:r>
                <a:r>
                  <a:rPr lang="en-ID" sz="1600" dirty="0">
                    <a:solidFill>
                      <a:srgbClr val="79808D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, P. dan </a:t>
                </a:r>
                <a:r>
                  <a:rPr lang="en-ID" sz="1600" dirty="0" err="1">
                    <a:solidFill>
                      <a:srgbClr val="79808D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Sriwongsa</a:t>
                </a:r>
                <a:r>
                  <a:rPr lang="en-ID" sz="1600" dirty="0">
                    <a:solidFill>
                      <a:srgbClr val="79808D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, S. (2022), ‘Convergence theorems for fixed points in </a:t>
                </a:r>
                <a14:m>
                  <m:oMath xmlns:m="http://schemas.openxmlformats.org/officeDocument/2006/math">
                    <m:r>
                      <a:rPr lang="en-ID" sz="1600" i="1" dirty="0" smtClean="0">
                        <a:solidFill>
                          <a:srgbClr val="79808D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𝐶𝐴</m:t>
                    </m:r>
                    <m:sSub>
                      <m:sSubPr>
                        <m:ctrlPr>
                          <a:rPr lang="en-US" sz="1600" b="0" i="1" dirty="0" smtClean="0">
                            <a:solidFill>
                              <a:srgbClr val="79808D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bPr>
                      <m:e>
                        <m:r>
                          <a:rPr lang="en-ID" sz="1600" i="1" dirty="0" smtClean="0">
                            <a:solidFill>
                              <a:srgbClr val="79808D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𝑇</m:t>
                        </m:r>
                      </m:e>
                      <m:sub>
                        <m:r>
                          <a:rPr lang="en-ID" sz="1600" i="1" dirty="0" smtClean="0">
                            <a:solidFill>
                              <a:srgbClr val="79808D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𝑝</m:t>
                        </m:r>
                      </m:sub>
                    </m:sSub>
                    <m:r>
                      <a:rPr lang="en-ID" sz="1600" i="1" dirty="0">
                        <a:solidFill>
                          <a:srgbClr val="79808D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(0)</m:t>
                    </m:r>
                  </m:oMath>
                </a14:m>
                <a:r>
                  <a:rPr lang="en-ID" sz="1600" dirty="0">
                    <a:solidFill>
                      <a:srgbClr val="79808D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spaces’, Journal of Applied Mathematics and Computing 69(1), 631–650.</a:t>
                </a:r>
              </a:p>
              <a:p>
                <a:pPr defTabSz="361950"/>
                <a:r>
                  <a:rPr lang="en-ID" sz="1600" dirty="0">
                    <a:solidFill>
                      <a:srgbClr val="79808D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	Ullah, K., Ahmad, J., Hammad, H. A. dan George, R. (2023), ‘Iterative schemes for numerical reckoning of fixed points of new </a:t>
                </a:r>
                <a:r>
                  <a:rPr lang="en-ID" sz="1600" dirty="0" err="1">
                    <a:solidFill>
                      <a:srgbClr val="79808D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nonexpansive</a:t>
                </a:r>
                <a:r>
                  <a:rPr lang="en-ID" sz="1600" dirty="0">
                    <a:solidFill>
                      <a:srgbClr val="79808D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mappings with an application’, AIMS Mathematics 8(5), 10711–10727. </a:t>
                </a:r>
                <a:endParaRPr lang="en-ID" sz="1600" dirty="0">
                  <a:solidFill>
                    <a:srgbClr val="79808D"/>
                  </a:solidFill>
                  <a:latin typeface="Poppins" panose="00000500000000000000" pitchFamily="2" charset="0"/>
                  <a:ea typeface="Poppins Medium"/>
                  <a:cs typeface="Poppins" panose="00000500000000000000" pitchFamily="2" charset="0"/>
                  <a:sym typeface="Poppins Medium"/>
                </a:endParaRPr>
              </a:p>
              <a:p>
                <a:pPr defTabSz="361950"/>
                <a:endParaRPr lang="en-ID" sz="1600" dirty="0">
                  <a:solidFill>
                    <a:srgbClr val="79808D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algn="l" defTabSz="361950"/>
                <a:endParaRPr lang="en-ID" sz="1600" b="0" i="0" dirty="0">
                  <a:solidFill>
                    <a:srgbClr val="79808D"/>
                  </a:solidFill>
                  <a:effectLst/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algn="l" defTabSz="361950"/>
                <a:r>
                  <a:rPr lang="en-ID" sz="1600" b="0" i="0" dirty="0">
                    <a:solidFill>
                      <a:srgbClr val="79808D"/>
                    </a:solidFill>
                    <a:effectLst/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endParaRPr sz="1600" dirty="0">
                  <a:solidFill>
                    <a:srgbClr val="79808D"/>
                  </a:solidFill>
                  <a:latin typeface="Poppins" panose="00000500000000000000" pitchFamily="2" charset="0"/>
                  <a:ea typeface="Poppins Medium"/>
                  <a:cs typeface="Poppins" panose="00000500000000000000" pitchFamily="2" charset="0"/>
                  <a:sym typeface="Poppins Medium"/>
                </a:endParaRPr>
              </a:p>
            </p:txBody>
          </p:sp>
        </mc:Choice>
        <mc:Fallback xmlns="">
          <p:sp>
            <p:nvSpPr>
              <p:cNvPr id="255" name="Google Shape;255;p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179" y="1152692"/>
                <a:ext cx="8519166" cy="3625696"/>
              </a:xfrm>
              <a:prstGeom prst="rect">
                <a:avLst/>
              </a:prstGeom>
              <a:blipFill>
                <a:blip r:embed="rId5"/>
                <a:stretch>
                  <a:fillRect l="-429" r="-85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Google Shape;256;p29"/>
          <p:cNvSpPr txBox="1"/>
          <p:nvPr/>
        </p:nvSpPr>
        <p:spPr>
          <a:xfrm>
            <a:off x="2799975" y="2508400"/>
            <a:ext cx="59412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300"/>
              <a:buFont typeface="Arial"/>
              <a:buNone/>
            </a:pPr>
            <a:endParaRPr sz="2600" b="1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84;p27">
            <a:extLst>
              <a:ext uri="{FF2B5EF4-FFF2-40B4-BE49-F238E27FC236}">
                <a16:creationId xmlns:a16="http://schemas.microsoft.com/office/drawing/2014/main" id="{E6C45699-FA18-04E0-67C5-56B16D52EFB4}"/>
              </a:ext>
            </a:extLst>
          </p:cNvPr>
          <p:cNvSpPr txBox="1"/>
          <p:nvPr/>
        </p:nvSpPr>
        <p:spPr>
          <a:xfrm>
            <a:off x="8730234" y="4871371"/>
            <a:ext cx="41376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49</a:t>
            </a:r>
            <a:endParaRPr sz="1400" dirty="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6;p27">
            <a:extLst>
              <a:ext uri="{FF2B5EF4-FFF2-40B4-BE49-F238E27FC236}">
                <a16:creationId xmlns:a16="http://schemas.microsoft.com/office/drawing/2014/main" id="{9B7C031B-44C1-DB8B-D8F9-9270EB8A5088}"/>
              </a:ext>
            </a:extLst>
          </p:cNvPr>
          <p:cNvSpPr/>
          <p:nvPr/>
        </p:nvSpPr>
        <p:spPr>
          <a:xfrm>
            <a:off x="0" y="842229"/>
            <a:ext cx="257700" cy="316800"/>
          </a:xfrm>
          <a:prstGeom prst="rect">
            <a:avLst/>
          </a:prstGeom>
          <a:solidFill>
            <a:srgbClr val="F5AA2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68;p26">
            <a:extLst>
              <a:ext uri="{FF2B5EF4-FFF2-40B4-BE49-F238E27FC236}">
                <a16:creationId xmlns:a16="http://schemas.microsoft.com/office/drawing/2014/main" id="{3BF05A41-93F9-83E2-DACB-68F2E6850338}"/>
              </a:ext>
            </a:extLst>
          </p:cNvPr>
          <p:cNvSpPr txBox="1"/>
          <p:nvPr/>
        </p:nvSpPr>
        <p:spPr>
          <a:xfrm>
            <a:off x="530526" y="4908275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0"/>
          <p:cNvSpPr/>
          <p:nvPr/>
        </p:nvSpPr>
        <p:spPr>
          <a:xfrm>
            <a:off x="7137900" y="1708638"/>
            <a:ext cx="1005900" cy="1005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2" name="Google Shape;262;p30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6" y="166637"/>
            <a:ext cx="413100" cy="4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0" descr="A picture containing 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981" y="166637"/>
            <a:ext cx="413102" cy="413102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0"/>
          <p:cNvSpPr/>
          <p:nvPr/>
        </p:nvSpPr>
        <p:spPr>
          <a:xfrm>
            <a:off x="0" y="4904322"/>
            <a:ext cx="9144000" cy="27000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30"/>
          <p:cNvSpPr/>
          <p:nvPr/>
        </p:nvSpPr>
        <p:spPr>
          <a:xfrm>
            <a:off x="136340" y="4965871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0"/>
          <p:cNvSpPr/>
          <p:nvPr/>
        </p:nvSpPr>
        <p:spPr>
          <a:xfrm>
            <a:off x="313179" y="4967388"/>
            <a:ext cx="81000" cy="810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0"/>
          <p:cNvSpPr txBox="1"/>
          <p:nvPr/>
        </p:nvSpPr>
        <p:spPr>
          <a:xfrm>
            <a:off x="1000200" y="1888350"/>
            <a:ext cx="7143600" cy="13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25"/>
              <a:buFont typeface="Arial"/>
              <a:buNone/>
            </a:pPr>
            <a:r>
              <a:rPr lang="id" sz="6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TERIMA KASIH</a:t>
            </a:r>
            <a:endParaRPr sz="6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8" name="Google Shape;268;p30"/>
          <p:cNvSpPr/>
          <p:nvPr/>
        </p:nvSpPr>
        <p:spPr>
          <a:xfrm>
            <a:off x="7210275" y="2783692"/>
            <a:ext cx="337200" cy="337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68;p26">
            <a:extLst>
              <a:ext uri="{FF2B5EF4-FFF2-40B4-BE49-F238E27FC236}">
                <a16:creationId xmlns:a16="http://schemas.microsoft.com/office/drawing/2014/main" id="{3FD23881-624A-3361-C413-A519537B125B}"/>
              </a:ext>
            </a:extLst>
          </p:cNvPr>
          <p:cNvSpPr txBox="1"/>
          <p:nvPr/>
        </p:nvSpPr>
        <p:spPr>
          <a:xfrm>
            <a:off x="530526" y="4932989"/>
            <a:ext cx="6092696" cy="1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buClr>
                <a:schemeClr val="dk1"/>
              </a:buClr>
            </a:pPr>
            <a:r>
              <a:rPr lang="en-US" sz="800" i="1" dirty="0">
                <a:solidFill>
                  <a:schemeClr val="lt1"/>
                </a:solidFill>
              </a:rPr>
              <a:t>Konvergensi Skema </a:t>
            </a:r>
            <a:r>
              <a:rPr lang="en-US" sz="800" i="1" dirty="0" err="1">
                <a:solidFill>
                  <a:schemeClr val="lt1"/>
                </a:solidFill>
              </a:rPr>
              <a:t>Iterasi</a:t>
            </a:r>
            <a:r>
              <a:rPr lang="en-US" sz="800" i="1" dirty="0">
                <a:solidFill>
                  <a:schemeClr val="lt1"/>
                </a:solidFill>
              </a:rPr>
              <a:t> Sabri </a:t>
            </a:r>
            <a:r>
              <a:rPr lang="en-US" sz="800" i="1" dirty="0" err="1">
                <a:solidFill>
                  <a:schemeClr val="lt1"/>
                </a:solidFill>
              </a:rPr>
              <a:t>untuk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Kelas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Pemetaan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Nonekspansif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Diperumum</a:t>
            </a:r>
            <a:r>
              <a:rPr lang="en-US" sz="800" i="1" dirty="0">
                <a:solidFill>
                  <a:schemeClr val="lt1"/>
                </a:solidFill>
              </a:rPr>
              <a:t> di Ruang </a:t>
            </a:r>
            <a:r>
              <a:rPr lang="en-US" sz="800" i="1" dirty="0" err="1">
                <a:solidFill>
                  <a:schemeClr val="lt1"/>
                </a:solidFill>
              </a:rPr>
              <a:t>Geodesik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beserta</a:t>
            </a:r>
            <a:r>
              <a:rPr lang="en-US" sz="800" i="1" dirty="0">
                <a:solidFill>
                  <a:schemeClr val="lt1"/>
                </a:solidFill>
              </a:rPr>
              <a:t> </a:t>
            </a:r>
            <a:r>
              <a:rPr lang="en-US" sz="800" i="1" dirty="0" err="1">
                <a:solidFill>
                  <a:schemeClr val="lt1"/>
                </a:solidFill>
              </a:rPr>
              <a:t>Aplikasinya</a:t>
            </a:r>
            <a:endParaRPr sz="800" dirty="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9146</TotalTime>
  <Words>4000</Words>
  <Application>Microsoft Office PowerPoint</Application>
  <PresentationFormat>On-screen Show (16:9)</PresentationFormat>
  <Paragraphs>425</Paragraphs>
  <Slides>54</Slides>
  <Notes>54</Notes>
  <HiddenSlides>5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2" baseType="lpstr">
      <vt:lpstr>Poppins</vt:lpstr>
      <vt:lpstr>Cambria Math</vt:lpstr>
      <vt:lpstr>Calibri</vt:lpstr>
      <vt:lpstr>Arial</vt:lpstr>
      <vt:lpstr>Poppins Medium</vt:lpstr>
      <vt:lpstr>Poppins SemiBold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Ahmad Hisbu Zakiyudin</cp:lastModifiedBy>
  <cp:revision>39</cp:revision>
  <dcterms:modified xsi:type="dcterms:W3CDTF">2026-01-19T13:36:28Z</dcterms:modified>
</cp:coreProperties>
</file>